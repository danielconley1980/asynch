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30c2e69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30c2e69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b881815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b881815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837c5d77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837c5d77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defda123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defda123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39878413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398784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3987841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3987841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3d889b0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3d889b0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3987841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3987841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3987841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3987841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3987841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3987841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39878413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3987841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39878413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39878413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39878413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39878413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39878413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39878413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39878413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39878413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39878413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3987841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ducationendowmentfoundation.org.uk/education-evidence/using-the-toolkits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s://www.smartlearningschool.com/" TargetMode="External"/><Relationship Id="rId5" Type="http://schemas.openxmlformats.org/officeDocument/2006/relationships/hyperlink" Target="https://www.smartlearningschool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https://www.smartlearningschool.com/" TargetMode="External"/><Relationship Id="rId5" Type="http://schemas.openxmlformats.org/officeDocument/2006/relationships/hyperlink" Target="https://www.smartlearningschool.com/the-cours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daniel.conley@coopacademies.co.uk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smartlearningschool.com/" TargetMode="External"/><Relationship Id="rId7" Type="http://schemas.openxmlformats.org/officeDocument/2006/relationships/hyperlink" Target="https://www.smartlearningschool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9100" y="515900"/>
            <a:ext cx="7765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Smart Learning School</a:t>
            </a:r>
            <a:endParaRPr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36075" y="1520550"/>
            <a:ext cx="7765800" cy="105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3649" l="0" r="0" t="21339"/>
          <a:stretch/>
        </p:blipFill>
        <p:spPr>
          <a:xfrm>
            <a:off x="6023675" y="4014325"/>
            <a:ext cx="2887951" cy="68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75" y="3133250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497700" y="1301900"/>
            <a:ext cx="8148600" cy="26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Metacognition: What and why?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Origins of Smart Learning School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Platform &amp; Programme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○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Students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○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Tutors / Teachers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○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Adult Learners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Outline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Metacognition: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What &amp; Why?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What 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is Metacognition?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706925" y="1143800"/>
            <a:ext cx="6364800" cy="15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"Thinking about thinking"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crucial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element of effective learning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Awareness / monitoring of cognitive processes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Strategies to regulate our learning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8310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706925" y="2933825"/>
            <a:ext cx="6177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Essential steps: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Establish the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foundations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of learning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Learn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 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to select strategies from your toolkit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Improve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performance 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 recall or application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Why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 Metacognition?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740125" y="1336375"/>
            <a:ext cx="5932200" cy="30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What does the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evidence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tell us?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The EEF Toolkit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575" y="267775"/>
            <a:ext cx="2847075" cy="14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The Origins of Smart Learning School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728375" y="693025"/>
            <a:ext cx="7765800" cy="37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“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You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teach psychology - how should I revise?”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“Why can’t I get anything to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stick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?”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“I did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loads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of revision and still got a crap grade!”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Problem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06925" y="1038100"/>
            <a:ext cx="7297500" cy="3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Often students are just told to ‘revise’ for tests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Very rarely does anyone tell them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endParaRPr i="1"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 many of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us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were told how?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Was this part of your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teacher training?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Yet it’s 50% of teaching and </a:t>
            </a:r>
            <a:r>
              <a:rPr lang="en-GB" sz="2400" u="sng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learning</a:t>
            </a:r>
            <a:endParaRPr sz="2400" u="sng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Problem (continued)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706925" y="1038100"/>
            <a:ext cx="7297500" cy="3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Tutors and teachers are time poor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Metacognition is complex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Best strategies depend on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you’re learning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There’s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lots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 quackery &amp; BS out there!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It can’t be last minute in Y11!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Solution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706925" y="1038100"/>
            <a:ext cx="6364800" cy="3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Start in Y7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Recursive - revisiting themes each year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Fortnightly sessions - 15 mins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No teacher prep / workload</a:t>
            </a:r>
            <a:endParaRPr i="1"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Snappy, relevant, useful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Videos and discussion (not book work)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Pledges for change!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The Platform &amp; Programme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Before, During &amp; After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24"/>
          <p:cNvSpPr txBox="1"/>
          <p:nvPr>
            <p:ph idx="1" type="subTitle"/>
          </p:nvPr>
        </p:nvSpPr>
        <p:spPr>
          <a:xfrm>
            <a:off x="706925" y="1038100"/>
            <a:ext cx="6364800" cy="16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Essential steps: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Establish the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foundations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of learning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Learn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 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to select strategies from your toolkit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Improve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performance 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 recall or application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b="0" l="0" r="71806" t="0"/>
          <a:stretch/>
        </p:blipFill>
        <p:spPr>
          <a:xfrm>
            <a:off x="340300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35903" r="35903" t="0"/>
          <a:stretch/>
        </p:blipFill>
        <p:spPr>
          <a:xfrm>
            <a:off x="3264075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69282" r="2523" t="0"/>
          <a:stretch/>
        </p:blipFill>
        <p:spPr>
          <a:xfrm>
            <a:off x="6187850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75" y="560012"/>
            <a:ext cx="8813323" cy="40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>
            <a:hlinkClick r:id="rId4"/>
          </p:cNvPr>
          <p:cNvSpPr txBox="1"/>
          <p:nvPr/>
        </p:nvSpPr>
        <p:spPr>
          <a:xfrm>
            <a:off x="2844175" y="1325925"/>
            <a:ext cx="1197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5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625" y="158150"/>
            <a:ext cx="7036750" cy="482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>
            <a:hlinkClick r:id="rId4"/>
          </p:cNvPr>
          <p:cNvSpPr txBox="1"/>
          <p:nvPr/>
        </p:nvSpPr>
        <p:spPr>
          <a:xfrm>
            <a:off x="1495275" y="1966050"/>
            <a:ext cx="12315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5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71425"/>
            <a:ext cx="8991602" cy="400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ctrTitle"/>
          </p:nvPr>
        </p:nvSpPr>
        <p:spPr>
          <a:xfrm>
            <a:off x="689100" y="515900"/>
            <a:ext cx="7765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Smart Learning School</a:t>
            </a:r>
            <a:endParaRPr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736075" y="1520550"/>
            <a:ext cx="7765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daniel.conley@coopacademies.co.uk</a:t>
            </a:r>
            <a:endParaRPr sz="20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4">
            <a:alphaModFix/>
          </a:blip>
          <a:srcRect b="23649" l="0" r="0" t="21339"/>
          <a:stretch/>
        </p:blipFill>
        <p:spPr>
          <a:xfrm>
            <a:off x="6023675" y="4014325"/>
            <a:ext cx="2887951" cy="68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75" y="3133250"/>
            <a:ext cx="1638400" cy="16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>
            <a:hlinkClick r:id="rId6"/>
          </p:cNvPr>
          <p:cNvSpPr txBox="1"/>
          <p:nvPr/>
        </p:nvSpPr>
        <p:spPr>
          <a:xfrm>
            <a:off x="2421425" y="4384900"/>
            <a:ext cx="1197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7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