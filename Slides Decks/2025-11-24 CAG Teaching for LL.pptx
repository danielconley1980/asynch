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6858000" cx="12192000"/>
  <p:notesSz cx="6797675" cy="9926625"/>
  <p:embeddedFontLst>
    <p:embeddedFont>
      <p:font typeface="Pacifico"/>
      <p:regular r:id="rId41"/>
    </p:embeddedFon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guide id="3" orient="horz" pos="15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154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font" Target="fonts/CenturyGothic-regular.fntdata"/><Relationship Id="rId41" Type="http://schemas.openxmlformats.org/officeDocument/2006/relationships/font" Target="fonts/Pacifico-regular.fntdata"/><Relationship Id="rId22" Type="http://schemas.openxmlformats.org/officeDocument/2006/relationships/slide" Target="slides/slide15.xml"/><Relationship Id="rId44" Type="http://schemas.openxmlformats.org/officeDocument/2006/relationships/font" Target="fonts/CenturyGothic-italic.fntdata"/><Relationship Id="rId21" Type="http://schemas.openxmlformats.org/officeDocument/2006/relationships/slide" Target="slides/slide14.xml"/><Relationship Id="rId43" Type="http://schemas.openxmlformats.org/officeDocument/2006/relationships/font" Target="fonts/CenturyGothic-bold.fntdata"/><Relationship Id="rId24" Type="http://schemas.openxmlformats.org/officeDocument/2006/relationships/slide" Target="slides/slide17.xml"/><Relationship Id="rId23" Type="http://schemas.openxmlformats.org/officeDocument/2006/relationships/slide" Target="slides/slide16.xml"/><Relationship Id="rId45" Type="http://schemas.openxmlformats.org/officeDocument/2006/relationships/font" Target="fonts/CenturyGothic-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49687" y="0"/>
            <a:ext cx="2946400" cy="4968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0487" y="744537"/>
            <a:ext cx="6616700"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428162"/>
            <a:ext cx="2946400" cy="4968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49687" y="9428162"/>
            <a:ext cx="2946400" cy="4968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725f0e9b9_0_65:notes"/>
          <p:cNvSpPr txBox="1"/>
          <p:nvPr>
            <p:ph idx="1" type="body"/>
          </p:nvPr>
        </p:nvSpPr>
        <p:spPr>
          <a:xfrm>
            <a:off x="679450" y="4714875"/>
            <a:ext cx="5438700" cy="4467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8725f0e9b9_0_65: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65d4e2ae0_0_19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65d4e2ae0_0_19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7473393a8_0_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7473393a8_0_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9fc6960d6_0_8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79fc6960d6_0_8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788d259d9_0_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788d259d9_0_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65d4e2ae0_0_13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65d4e2ae0_0_13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725f0e9b9_0_232: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725f0e9b9_0_232: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0059436a4_0_1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0059436a4_0_1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7473393a8_0_560: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a7473393a8_0_560: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7ef01f90c_0_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7ef01f90c_0_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725f0e9b9_0_15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725f0e9b9_0_15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7473393a8_0_57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7473393a8_0_57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03b18ab1e_4_218:notes"/>
          <p:cNvSpPr txBox="1"/>
          <p:nvPr>
            <p:ph idx="1" type="body"/>
          </p:nvPr>
        </p:nvSpPr>
        <p:spPr>
          <a:xfrm>
            <a:off x="679450" y="4714875"/>
            <a:ext cx="5438700" cy="4467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3703b18ab1e_4_218: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79c39cef16_0_97:notes"/>
          <p:cNvSpPr txBox="1"/>
          <p:nvPr>
            <p:ph idx="1" type="body"/>
          </p:nvPr>
        </p:nvSpPr>
        <p:spPr>
          <a:xfrm>
            <a:off x="679450" y="4714875"/>
            <a:ext cx="5438700" cy="4467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379c39cef16_0_97: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7473393a8_0_57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7473393a8_0_57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7473393a8_0_592: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7473393a8_0_592: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7473393a8_0_62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a7473393a8_0_62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7473393a8_0_60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7473393a8_0_60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7473393a8_0_650: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7473393a8_0_650: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7473393a8_0_64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7473393a8_0_64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7473393a8_0_618:notes"/>
          <p:cNvSpPr txBox="1"/>
          <p:nvPr>
            <p:ph idx="1" type="body"/>
          </p:nvPr>
        </p:nvSpPr>
        <p:spPr>
          <a:xfrm>
            <a:off x="679450" y="4714875"/>
            <a:ext cx="5438700" cy="4467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g3a7473393a8_0_618: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65d4e2ae0_0_6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865d4e2ae0_0_6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65d4e2ae0_0_4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865d4e2ae0_0_4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865d4e2ae0_0_4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865d4e2ae0_0_4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65d4e2ae0_0_5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865d4e2ae0_0_5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865d4e2ae0_0_6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865d4e2ae0_0_6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7473393a8_0_676: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7473393a8_0_676: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65d4e2ae0_0_76: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865d4e2ae0_0_76: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65d4e2ae0_0_8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865d4e2ae0_0_8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65d4e2ae0_0_102: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65d4e2ae0_0_102: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865d4e2ae0_0_11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865d4e2ae0_0_11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865d4e2ae0_0_126: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865d4e2ae0_0_126: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865d4e2ae0_0_14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865d4e2ae0_0_14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4" name="Shape 14"/>
        <p:cNvGrpSpPr/>
        <p:nvPr/>
      </p:nvGrpSpPr>
      <p:grpSpPr>
        <a:xfrm>
          <a:off x="0" y="0"/>
          <a:ext cx="0" cy="0"/>
          <a:chOff x="0" y="0"/>
          <a:chExt cx="0" cy="0"/>
        </a:xfrm>
      </p:grpSpPr>
      <p:sp>
        <p:nvSpPr>
          <p:cNvPr id="15" name="Google Shape;15;p2"/>
          <p:cNvSpPr txBox="1"/>
          <p:nvPr>
            <p:ph type="title"/>
          </p:nvPr>
        </p:nvSpPr>
        <p:spPr>
          <a:xfrm>
            <a:off x="527054" y="146052"/>
            <a:ext cx="11228916" cy="68421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 name="Google Shape;16;p2"/>
          <p:cNvSpPr txBox="1"/>
          <p:nvPr>
            <p:ph idx="1" type="body"/>
          </p:nvPr>
        </p:nvSpPr>
        <p:spPr>
          <a:xfrm>
            <a:off x="522821" y="1370015"/>
            <a:ext cx="5516033" cy="472122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 name="Google Shape;17;p2"/>
          <p:cNvSpPr txBox="1"/>
          <p:nvPr>
            <p:ph idx="2" type="body"/>
          </p:nvPr>
        </p:nvSpPr>
        <p:spPr>
          <a:xfrm>
            <a:off x="6242051" y="1370015"/>
            <a:ext cx="5518149" cy="4721225"/>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 name="Google Shape;22;p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4"/>
          <p:cNvSpPr txBox="1"/>
          <p:nvPr>
            <p:ph idx="1" type="body"/>
          </p:nvPr>
        </p:nvSpPr>
        <p:spPr>
          <a:xfrm>
            <a:off x="609600" y="1600200"/>
            <a:ext cx="10972800" cy="4526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4"/>
          <p:cNvSpPr txBox="1"/>
          <p:nvPr>
            <p:ph idx="10" type="dt"/>
          </p:nvPr>
        </p:nvSpPr>
        <p:spPr>
          <a:xfrm>
            <a:off x="609600" y="6356350"/>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4"/>
          <p:cNvSpPr txBox="1"/>
          <p:nvPr>
            <p:ph idx="11" type="ftr"/>
          </p:nvPr>
        </p:nvSpPr>
        <p:spPr>
          <a:xfrm>
            <a:off x="4165600" y="6356350"/>
            <a:ext cx="38607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737600" y="6356350"/>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6"/>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38" name="Google Shape;38;p6"/>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9" name="Google Shape;39;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7"/>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42" name="Google Shape;42;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5" name="Google Shape;45;p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6" name="Google Shape;46;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9" name="Google Shape;49;p9"/>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50" name="Google Shape;50;p9"/>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51" name="Google Shape;51;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1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4" name="Google Shape;54;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11"/>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7" name="Google Shape;57;p11"/>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58" name="Google Shape;58;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9" name="Shape 59"/>
        <p:cNvGrpSpPr/>
        <p:nvPr/>
      </p:nvGrpSpPr>
      <p:grpSpPr>
        <a:xfrm>
          <a:off x="0" y="0"/>
          <a:ext cx="0" cy="0"/>
          <a:chOff x="0" y="0"/>
          <a:chExt cx="0" cy="0"/>
        </a:xfrm>
      </p:grpSpPr>
      <p:sp>
        <p:nvSpPr>
          <p:cNvPr id="60" name="Google Shape;60;p12"/>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61" name="Google Shape;61;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1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 name="Google Shape;64;p13"/>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65" name="Google Shape;65;p13"/>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6" name="Google Shape;66;p13"/>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67" name="Google Shape;67;p1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4"/>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70" name="Google Shape;70;p1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5"/>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73" name="Google Shape;73;p15"/>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74" name="Google Shape;74;p1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nner" type="obj">
  <p:cSld name="OBJECT">
    <p:spTree>
      <p:nvGrpSpPr>
        <p:cNvPr id="77" name="Shape 77"/>
        <p:cNvGrpSpPr/>
        <p:nvPr/>
      </p:nvGrpSpPr>
      <p:grpSpPr>
        <a:xfrm>
          <a:off x="0" y="0"/>
          <a:ext cx="0" cy="0"/>
          <a:chOff x="0" y="0"/>
          <a:chExt cx="0" cy="0"/>
        </a:xfrm>
      </p:grpSpPr>
      <p:sp>
        <p:nvSpPr>
          <p:cNvPr id="78" name="Google Shape;78;p17"/>
          <p:cNvSpPr txBox="1"/>
          <p:nvPr>
            <p:ph type="title"/>
          </p:nvPr>
        </p:nvSpPr>
        <p:spPr>
          <a:xfrm>
            <a:off x="0" y="0"/>
            <a:ext cx="12192000" cy="920400"/>
          </a:xfrm>
          <a:prstGeom prst="rect">
            <a:avLst/>
          </a:prstGeom>
          <a:solidFill>
            <a:srgbClr val="1F497D"/>
          </a:solidFill>
          <a:ln cap="flat" cmpd="sng" w="9525">
            <a:solidFill>
              <a:srgbClr val="1F497D"/>
            </a:solidFill>
            <a:prstDash val="solid"/>
            <a:round/>
            <a:headEnd len="sm" w="sm" type="none"/>
            <a:tailEnd len="sm" w="sm" type="none"/>
          </a:ln>
        </p:spPr>
        <p:txBody>
          <a:bodyPr anchorCtr="0" anchor="ctr" bIns="45700" lIns="91425" spcFirstLastPara="1" rIns="91425" wrap="square" tIns="45700">
            <a:noAutofit/>
          </a:bodyPr>
          <a:lstStyle>
            <a:lvl1pPr lvl="0" algn="ctr">
              <a:lnSpc>
                <a:spcPct val="100000"/>
              </a:lnSpc>
              <a:spcBef>
                <a:spcPts val="0"/>
              </a:spcBef>
              <a:spcAft>
                <a:spcPts val="0"/>
              </a:spcAft>
              <a:buClr>
                <a:schemeClr val="lt1"/>
              </a:buClr>
              <a:buSzPts val="3600"/>
              <a:buFont typeface="Avenir"/>
              <a:buNone/>
              <a:defRPr sz="3600">
                <a:solidFill>
                  <a:schemeClr val="lt1"/>
                </a:solidFill>
                <a:latin typeface="Avenir"/>
                <a:ea typeface="Avenir"/>
                <a:cs typeface="Avenir"/>
                <a:sym typeface="Avenir"/>
              </a:defRPr>
            </a:lvl1pPr>
            <a:lvl2pPr lvl="1" algn="ctr">
              <a:lnSpc>
                <a:spcPct val="100000"/>
              </a:lnSpc>
              <a:spcBef>
                <a:spcPts val="0"/>
              </a:spcBef>
              <a:spcAft>
                <a:spcPts val="0"/>
              </a:spcAft>
              <a:buSzPts val="1500"/>
              <a:buFont typeface="Avenir"/>
              <a:buNone/>
              <a:defRPr>
                <a:latin typeface="Avenir"/>
                <a:ea typeface="Avenir"/>
                <a:cs typeface="Avenir"/>
                <a:sym typeface="Avenir"/>
              </a:defRPr>
            </a:lvl2pPr>
            <a:lvl3pPr lvl="2" algn="ctr">
              <a:lnSpc>
                <a:spcPct val="100000"/>
              </a:lnSpc>
              <a:spcBef>
                <a:spcPts val="0"/>
              </a:spcBef>
              <a:spcAft>
                <a:spcPts val="0"/>
              </a:spcAft>
              <a:buSzPts val="1500"/>
              <a:buFont typeface="Avenir"/>
              <a:buNone/>
              <a:defRPr>
                <a:latin typeface="Avenir"/>
                <a:ea typeface="Avenir"/>
                <a:cs typeface="Avenir"/>
                <a:sym typeface="Avenir"/>
              </a:defRPr>
            </a:lvl3pPr>
            <a:lvl4pPr lvl="3" algn="ctr">
              <a:lnSpc>
                <a:spcPct val="100000"/>
              </a:lnSpc>
              <a:spcBef>
                <a:spcPts val="0"/>
              </a:spcBef>
              <a:spcAft>
                <a:spcPts val="0"/>
              </a:spcAft>
              <a:buSzPts val="1500"/>
              <a:buFont typeface="Avenir"/>
              <a:buNone/>
              <a:defRPr>
                <a:latin typeface="Avenir"/>
                <a:ea typeface="Avenir"/>
                <a:cs typeface="Avenir"/>
                <a:sym typeface="Avenir"/>
              </a:defRPr>
            </a:lvl4pPr>
            <a:lvl5pPr lvl="4" algn="ctr">
              <a:lnSpc>
                <a:spcPct val="100000"/>
              </a:lnSpc>
              <a:spcBef>
                <a:spcPts val="0"/>
              </a:spcBef>
              <a:spcAft>
                <a:spcPts val="0"/>
              </a:spcAft>
              <a:buSzPts val="1500"/>
              <a:buFont typeface="Avenir"/>
              <a:buNone/>
              <a:defRPr>
                <a:latin typeface="Avenir"/>
                <a:ea typeface="Avenir"/>
                <a:cs typeface="Avenir"/>
                <a:sym typeface="Avenir"/>
              </a:defRPr>
            </a:lvl5pPr>
            <a:lvl6pPr lvl="5" algn="ctr">
              <a:lnSpc>
                <a:spcPct val="100000"/>
              </a:lnSpc>
              <a:spcBef>
                <a:spcPts val="0"/>
              </a:spcBef>
              <a:spcAft>
                <a:spcPts val="0"/>
              </a:spcAft>
              <a:buSzPts val="1500"/>
              <a:buFont typeface="Avenir"/>
              <a:buNone/>
              <a:defRPr>
                <a:latin typeface="Avenir"/>
                <a:ea typeface="Avenir"/>
                <a:cs typeface="Avenir"/>
                <a:sym typeface="Avenir"/>
              </a:defRPr>
            </a:lvl6pPr>
            <a:lvl7pPr lvl="6" algn="ctr">
              <a:lnSpc>
                <a:spcPct val="100000"/>
              </a:lnSpc>
              <a:spcBef>
                <a:spcPts val="0"/>
              </a:spcBef>
              <a:spcAft>
                <a:spcPts val="0"/>
              </a:spcAft>
              <a:buSzPts val="1500"/>
              <a:buFont typeface="Avenir"/>
              <a:buNone/>
              <a:defRPr>
                <a:latin typeface="Avenir"/>
                <a:ea typeface="Avenir"/>
                <a:cs typeface="Avenir"/>
                <a:sym typeface="Avenir"/>
              </a:defRPr>
            </a:lvl7pPr>
            <a:lvl8pPr lvl="7" algn="ctr">
              <a:lnSpc>
                <a:spcPct val="100000"/>
              </a:lnSpc>
              <a:spcBef>
                <a:spcPts val="0"/>
              </a:spcBef>
              <a:spcAft>
                <a:spcPts val="0"/>
              </a:spcAft>
              <a:buSzPts val="1500"/>
              <a:buFont typeface="Avenir"/>
              <a:buNone/>
              <a:defRPr>
                <a:latin typeface="Avenir"/>
                <a:ea typeface="Avenir"/>
                <a:cs typeface="Avenir"/>
                <a:sym typeface="Avenir"/>
              </a:defRPr>
            </a:lvl8pPr>
            <a:lvl9pPr lvl="8" algn="ctr">
              <a:lnSpc>
                <a:spcPct val="100000"/>
              </a:lnSpc>
              <a:spcBef>
                <a:spcPts val="0"/>
              </a:spcBef>
              <a:spcAft>
                <a:spcPts val="0"/>
              </a:spcAft>
              <a:buSzPts val="1500"/>
              <a:buFont typeface="Avenir"/>
              <a:buNone/>
              <a:defRPr>
                <a:latin typeface="Avenir"/>
                <a:ea typeface="Avenir"/>
                <a:cs typeface="Avenir"/>
                <a:sym typeface="Avenir"/>
              </a:defRPr>
            </a:lvl9pPr>
          </a:lstStyle>
          <a:p/>
        </p:txBody>
      </p:sp>
      <p:sp>
        <p:nvSpPr>
          <p:cNvPr id="79" name="Google Shape;79;p17"/>
          <p:cNvSpPr txBox="1"/>
          <p:nvPr>
            <p:ph idx="1" type="body"/>
          </p:nvPr>
        </p:nvSpPr>
        <p:spPr>
          <a:xfrm>
            <a:off x="282900" y="1600200"/>
            <a:ext cx="11626500" cy="4526100"/>
          </a:xfrm>
          <a:prstGeom prst="rect">
            <a:avLst/>
          </a:prstGeom>
          <a:noFill/>
          <a:ln>
            <a:noFill/>
          </a:ln>
        </p:spPr>
        <p:txBody>
          <a:bodyPr anchorCtr="0" anchor="t" bIns="45700" lIns="91425" spcFirstLastPara="1" rIns="91425" wrap="square" tIns="45700">
            <a:noAutofit/>
          </a:bodyPr>
          <a:lstStyle>
            <a:lvl1pPr indent="-349250" lvl="0" marL="4572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1pPr>
            <a:lvl2pPr indent="-349250" lvl="1" marL="9144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2pPr>
            <a:lvl3pPr indent="-349250" lvl="2" marL="13716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3pPr>
            <a:lvl4pPr indent="-349250" lvl="3" marL="18288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4pPr>
            <a:lvl5pPr indent="-349250" lvl="4" marL="22860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5pPr>
            <a:lvl6pPr indent="-349250" lvl="5" marL="27432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6pPr>
            <a:lvl7pPr indent="-349250" lvl="6" marL="32004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7pPr>
            <a:lvl8pPr indent="-349250" lvl="7" marL="36576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8pPr>
            <a:lvl9pPr indent="-349250" lvl="8" marL="41148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19"/>
          <p:cNvSpPr txBox="1"/>
          <p:nvPr>
            <p:ph type="ctrTitle"/>
          </p:nvPr>
        </p:nvSpPr>
        <p:spPr>
          <a:xfrm>
            <a:off x="415611" y="992767"/>
            <a:ext cx="11360700" cy="2736900"/>
          </a:xfrm>
          <a:prstGeom prst="rect">
            <a:avLst/>
          </a:prstGeom>
        </p:spPr>
        <p:txBody>
          <a:bodyPr anchorCtr="0" anchor="b" bIns="121900" lIns="121900" spcFirstLastPara="1" rIns="121900" wrap="square" tIns="12190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86" name="Google Shape;86;p19"/>
          <p:cNvSpPr txBox="1"/>
          <p:nvPr>
            <p:ph idx="1" type="subTitle"/>
          </p:nvPr>
        </p:nvSpPr>
        <p:spPr>
          <a:xfrm>
            <a:off x="415600" y="3778833"/>
            <a:ext cx="11360700" cy="10569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87" name="Google Shape;87;p19"/>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sp>
        <p:nvSpPr>
          <p:cNvPr id="89" name="Google Shape;89;p20"/>
          <p:cNvSpPr txBox="1"/>
          <p:nvPr>
            <p:ph type="title"/>
          </p:nvPr>
        </p:nvSpPr>
        <p:spPr>
          <a:xfrm>
            <a:off x="415600" y="2867800"/>
            <a:ext cx="11360700" cy="11223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90" name="Google Shape;90;p20"/>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 name="Shape 91"/>
        <p:cNvGrpSpPr/>
        <p:nvPr/>
      </p:nvGrpSpPr>
      <p:grpSpPr>
        <a:xfrm>
          <a:off x="0" y="0"/>
          <a:ext cx="0" cy="0"/>
          <a:chOff x="0" y="0"/>
          <a:chExt cx="0" cy="0"/>
        </a:xfrm>
      </p:grpSpPr>
      <p:sp>
        <p:nvSpPr>
          <p:cNvPr id="92" name="Google Shape;92;p21"/>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3" name="Google Shape;93;p21"/>
          <p:cNvSpPr txBox="1"/>
          <p:nvPr>
            <p:ph idx="1" type="body"/>
          </p:nvPr>
        </p:nvSpPr>
        <p:spPr>
          <a:xfrm>
            <a:off x="415600" y="1536633"/>
            <a:ext cx="11360700" cy="4555200"/>
          </a:xfrm>
          <a:prstGeom prst="rect">
            <a:avLst/>
          </a:prstGeom>
        </p:spPr>
        <p:txBody>
          <a:bodyPr anchorCtr="0" anchor="t" bIns="121900" lIns="121900" spcFirstLastPara="1" rIns="121900" wrap="square" tIns="121900">
            <a:noAutofit/>
          </a:bodyPr>
          <a:lstStyle>
            <a:lvl1pPr indent="-381000" lvl="0" marL="457200">
              <a:spcBef>
                <a:spcPts val="0"/>
              </a:spcBef>
              <a:spcAft>
                <a:spcPts val="0"/>
              </a:spcAft>
              <a:buSzPts val="24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94" name="Google Shape;94;p21"/>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22"/>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7" name="Google Shape;97;p22"/>
          <p:cNvSpPr txBox="1"/>
          <p:nvPr>
            <p:ph idx="1" type="body"/>
          </p:nvPr>
        </p:nvSpPr>
        <p:spPr>
          <a:xfrm>
            <a:off x="415600" y="1536633"/>
            <a:ext cx="5333100" cy="45552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sz="1900"/>
            </a:lvl1pPr>
            <a:lvl2pPr indent="-330200" lvl="1" marL="914400">
              <a:spcBef>
                <a:spcPts val="210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98" name="Google Shape;98;p22"/>
          <p:cNvSpPr txBox="1"/>
          <p:nvPr>
            <p:ph idx="2" type="body"/>
          </p:nvPr>
        </p:nvSpPr>
        <p:spPr>
          <a:xfrm>
            <a:off x="6443200" y="1536633"/>
            <a:ext cx="5333100" cy="45552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sz="1900"/>
            </a:lvl1pPr>
            <a:lvl2pPr indent="-330200" lvl="1" marL="914400">
              <a:spcBef>
                <a:spcPts val="210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99" name="Google Shape;99;p22"/>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23"/>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2" name="Google Shape;102;p23"/>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24"/>
          <p:cNvSpPr txBox="1"/>
          <p:nvPr>
            <p:ph type="title"/>
          </p:nvPr>
        </p:nvSpPr>
        <p:spPr>
          <a:xfrm>
            <a:off x="415600" y="740800"/>
            <a:ext cx="3744000" cy="1007700"/>
          </a:xfrm>
          <a:prstGeom prst="rect">
            <a:avLst/>
          </a:prstGeom>
        </p:spPr>
        <p:txBody>
          <a:bodyPr anchorCtr="0" anchor="b" bIns="121900" lIns="121900" spcFirstLastPara="1" rIns="121900" wrap="square" tIns="121900">
            <a:no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05" name="Google Shape;105;p24"/>
          <p:cNvSpPr txBox="1"/>
          <p:nvPr>
            <p:ph idx="1" type="body"/>
          </p:nvPr>
        </p:nvSpPr>
        <p:spPr>
          <a:xfrm>
            <a:off x="415600" y="1852800"/>
            <a:ext cx="3744000" cy="4239300"/>
          </a:xfrm>
          <a:prstGeom prst="rect">
            <a:avLst/>
          </a:prstGeom>
        </p:spPr>
        <p:txBody>
          <a:bodyPr anchorCtr="0" anchor="t" bIns="121900" lIns="121900" spcFirstLastPara="1" rIns="121900" wrap="square" tIns="121900">
            <a:noAutofit/>
          </a:bodyPr>
          <a:lstStyle>
            <a:lvl1pPr indent="-330200" lvl="0" marL="457200">
              <a:spcBef>
                <a:spcPts val="0"/>
              </a:spcBef>
              <a:spcAft>
                <a:spcPts val="0"/>
              </a:spcAft>
              <a:buSzPts val="1600"/>
              <a:buChar char="●"/>
              <a:defRPr sz="1600"/>
            </a:lvl1pPr>
            <a:lvl2pPr indent="-330200" lvl="1" marL="914400">
              <a:spcBef>
                <a:spcPts val="210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106" name="Google Shape;106;p24"/>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7" name="Shape 107"/>
        <p:cNvGrpSpPr/>
        <p:nvPr/>
      </p:nvGrpSpPr>
      <p:grpSpPr>
        <a:xfrm>
          <a:off x="0" y="0"/>
          <a:ext cx="0" cy="0"/>
          <a:chOff x="0" y="0"/>
          <a:chExt cx="0" cy="0"/>
        </a:xfrm>
      </p:grpSpPr>
      <p:sp>
        <p:nvSpPr>
          <p:cNvPr id="108" name="Google Shape;108;p25"/>
          <p:cNvSpPr txBox="1"/>
          <p:nvPr>
            <p:ph type="title"/>
          </p:nvPr>
        </p:nvSpPr>
        <p:spPr>
          <a:xfrm>
            <a:off x="653667" y="600200"/>
            <a:ext cx="8490300" cy="5454300"/>
          </a:xfrm>
          <a:prstGeom prst="rect">
            <a:avLst/>
          </a:prstGeom>
        </p:spPr>
        <p:txBody>
          <a:bodyPr anchorCtr="0" anchor="ctr" bIns="121900" lIns="121900" spcFirstLastPara="1" rIns="121900" wrap="square" tIns="12190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09" name="Google Shape;109;p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0" name="Shape 110"/>
        <p:cNvGrpSpPr/>
        <p:nvPr/>
      </p:nvGrpSpPr>
      <p:grpSpPr>
        <a:xfrm>
          <a:off x="0" y="0"/>
          <a:ext cx="0" cy="0"/>
          <a:chOff x="0" y="0"/>
          <a:chExt cx="0" cy="0"/>
        </a:xfrm>
      </p:grpSpPr>
      <p:sp>
        <p:nvSpPr>
          <p:cNvPr id="111" name="Google Shape;111;p26"/>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p26"/>
          <p:cNvSpPr txBox="1"/>
          <p:nvPr>
            <p:ph type="title"/>
          </p:nvPr>
        </p:nvSpPr>
        <p:spPr>
          <a:xfrm>
            <a:off x="354000" y="1644233"/>
            <a:ext cx="5393700" cy="1976400"/>
          </a:xfrm>
          <a:prstGeom prst="rect">
            <a:avLst/>
          </a:prstGeom>
        </p:spPr>
        <p:txBody>
          <a:bodyPr anchorCtr="0" anchor="b" bIns="121900" lIns="121900" spcFirstLastPara="1" rIns="121900" wrap="square" tIns="12190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113" name="Google Shape;113;p26"/>
          <p:cNvSpPr txBox="1"/>
          <p:nvPr>
            <p:ph idx="1" type="subTitle"/>
          </p:nvPr>
        </p:nvSpPr>
        <p:spPr>
          <a:xfrm>
            <a:off x="354000" y="3737433"/>
            <a:ext cx="5393700" cy="16467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4" name="Google Shape;114;p26"/>
          <p:cNvSpPr txBox="1"/>
          <p:nvPr>
            <p:ph idx="2" type="body"/>
          </p:nvPr>
        </p:nvSpPr>
        <p:spPr>
          <a:xfrm>
            <a:off x="6586000" y="965433"/>
            <a:ext cx="5115900" cy="4926900"/>
          </a:xfrm>
          <a:prstGeom prst="rect">
            <a:avLst/>
          </a:prstGeom>
        </p:spPr>
        <p:txBody>
          <a:bodyPr anchorCtr="0" anchor="ctr" bIns="121900" lIns="121900" spcFirstLastPara="1" rIns="121900" wrap="square" tIns="121900">
            <a:noAutofit/>
          </a:bodyPr>
          <a:lstStyle>
            <a:lvl1pPr indent="-381000" lvl="0" marL="457200">
              <a:spcBef>
                <a:spcPts val="0"/>
              </a:spcBef>
              <a:spcAft>
                <a:spcPts val="0"/>
              </a:spcAft>
              <a:buSzPts val="24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115" name="Google Shape;115;p26"/>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6" name="Shape 116"/>
        <p:cNvGrpSpPr/>
        <p:nvPr/>
      </p:nvGrpSpPr>
      <p:grpSpPr>
        <a:xfrm>
          <a:off x="0" y="0"/>
          <a:ext cx="0" cy="0"/>
          <a:chOff x="0" y="0"/>
          <a:chExt cx="0" cy="0"/>
        </a:xfrm>
      </p:grpSpPr>
      <p:sp>
        <p:nvSpPr>
          <p:cNvPr id="117" name="Google Shape;117;p27"/>
          <p:cNvSpPr txBox="1"/>
          <p:nvPr>
            <p:ph idx="1" type="body"/>
          </p:nvPr>
        </p:nvSpPr>
        <p:spPr>
          <a:xfrm>
            <a:off x="415600" y="5640767"/>
            <a:ext cx="7998300" cy="806700"/>
          </a:xfrm>
          <a:prstGeom prst="rect">
            <a:avLst/>
          </a:prstGeom>
        </p:spPr>
        <p:txBody>
          <a:bodyPr anchorCtr="0" anchor="ctr" bIns="121900" lIns="121900" spcFirstLastPara="1" rIns="121900" wrap="square" tIns="121900">
            <a:noAutofit/>
          </a:bodyPr>
          <a:lstStyle>
            <a:lvl1pPr indent="-228600" lvl="0" marL="457200">
              <a:lnSpc>
                <a:spcPct val="100000"/>
              </a:lnSpc>
              <a:spcBef>
                <a:spcPts val="0"/>
              </a:spcBef>
              <a:spcAft>
                <a:spcPts val="0"/>
              </a:spcAft>
              <a:buSzPts val="2400"/>
              <a:buNone/>
              <a:defRPr/>
            </a:lvl1pPr>
          </a:lstStyle>
          <a:p/>
        </p:txBody>
      </p:sp>
      <p:sp>
        <p:nvSpPr>
          <p:cNvPr id="118" name="Google Shape;118;p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9" name="Shape 119"/>
        <p:cNvGrpSpPr/>
        <p:nvPr/>
      </p:nvGrpSpPr>
      <p:grpSpPr>
        <a:xfrm>
          <a:off x="0" y="0"/>
          <a:ext cx="0" cy="0"/>
          <a:chOff x="0" y="0"/>
          <a:chExt cx="0" cy="0"/>
        </a:xfrm>
      </p:grpSpPr>
      <p:sp>
        <p:nvSpPr>
          <p:cNvPr id="120" name="Google Shape;120;p28"/>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121" name="Google Shape;121;p28"/>
          <p:cNvSpPr txBox="1"/>
          <p:nvPr>
            <p:ph idx="1" type="body"/>
          </p:nvPr>
        </p:nvSpPr>
        <p:spPr>
          <a:xfrm>
            <a:off x="415600" y="4202967"/>
            <a:ext cx="11360700" cy="1734300"/>
          </a:xfrm>
          <a:prstGeom prst="rect">
            <a:avLst/>
          </a:prstGeom>
        </p:spPr>
        <p:txBody>
          <a:bodyPr anchorCtr="0" anchor="t" bIns="121900" lIns="121900" spcFirstLastPara="1" rIns="121900" wrap="square" tIns="121900">
            <a:noAutofit/>
          </a:bodyPr>
          <a:lstStyle>
            <a:lvl1pPr indent="-381000" lvl="0" marL="457200" algn="ctr">
              <a:spcBef>
                <a:spcPts val="0"/>
              </a:spcBef>
              <a:spcAft>
                <a:spcPts val="0"/>
              </a:spcAft>
              <a:buSzPts val="2400"/>
              <a:buChar char="●"/>
              <a:defRPr/>
            </a:lvl1pPr>
            <a:lvl2pPr indent="-349250" lvl="1" marL="914400" algn="ctr">
              <a:spcBef>
                <a:spcPts val="2100"/>
              </a:spcBef>
              <a:spcAft>
                <a:spcPts val="0"/>
              </a:spcAft>
              <a:buSzPts val="1900"/>
              <a:buChar char="○"/>
              <a:defRPr/>
            </a:lvl2pPr>
            <a:lvl3pPr indent="-349250" lvl="2" marL="1371600" algn="ctr">
              <a:spcBef>
                <a:spcPts val="2100"/>
              </a:spcBef>
              <a:spcAft>
                <a:spcPts val="0"/>
              </a:spcAft>
              <a:buSzPts val="1900"/>
              <a:buChar char="■"/>
              <a:defRPr/>
            </a:lvl3pPr>
            <a:lvl4pPr indent="-349250" lvl="3" marL="1828800" algn="ctr">
              <a:spcBef>
                <a:spcPts val="2100"/>
              </a:spcBef>
              <a:spcAft>
                <a:spcPts val="0"/>
              </a:spcAft>
              <a:buSzPts val="1900"/>
              <a:buChar char="●"/>
              <a:defRPr/>
            </a:lvl4pPr>
            <a:lvl5pPr indent="-349250" lvl="4" marL="2286000" algn="ctr">
              <a:spcBef>
                <a:spcPts val="2100"/>
              </a:spcBef>
              <a:spcAft>
                <a:spcPts val="0"/>
              </a:spcAft>
              <a:buSzPts val="1900"/>
              <a:buChar char="○"/>
              <a:defRPr/>
            </a:lvl5pPr>
            <a:lvl6pPr indent="-349250" lvl="5" marL="2743200" algn="ctr">
              <a:spcBef>
                <a:spcPts val="2100"/>
              </a:spcBef>
              <a:spcAft>
                <a:spcPts val="0"/>
              </a:spcAft>
              <a:buSzPts val="1900"/>
              <a:buChar char="■"/>
              <a:defRPr/>
            </a:lvl6pPr>
            <a:lvl7pPr indent="-349250" lvl="6" marL="3200400" algn="ctr">
              <a:spcBef>
                <a:spcPts val="2100"/>
              </a:spcBef>
              <a:spcAft>
                <a:spcPts val="0"/>
              </a:spcAft>
              <a:buSzPts val="1900"/>
              <a:buChar char="●"/>
              <a:defRPr/>
            </a:lvl7pPr>
            <a:lvl8pPr indent="-349250" lvl="7" marL="3657600" algn="ctr">
              <a:spcBef>
                <a:spcPts val="2100"/>
              </a:spcBef>
              <a:spcAft>
                <a:spcPts val="0"/>
              </a:spcAft>
              <a:buSzPts val="1900"/>
              <a:buChar char="○"/>
              <a:defRPr/>
            </a:lvl8pPr>
            <a:lvl9pPr indent="-349250" lvl="8" marL="4114800" algn="ctr">
              <a:spcBef>
                <a:spcPts val="2100"/>
              </a:spcBef>
              <a:spcAft>
                <a:spcPts val="2100"/>
              </a:spcAft>
              <a:buSzPts val="1900"/>
              <a:buChar char="■"/>
              <a:defRPr/>
            </a:lvl9pPr>
          </a:lstStyle>
          <a:p/>
        </p:txBody>
      </p:sp>
      <p:sp>
        <p:nvSpPr>
          <p:cNvPr id="122" name="Google Shape;122;p28"/>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3" name="Shape 123"/>
        <p:cNvGrpSpPr/>
        <p:nvPr/>
      </p:nvGrpSpPr>
      <p:grpSpPr>
        <a:xfrm>
          <a:off x="0" y="0"/>
          <a:ext cx="0" cy="0"/>
          <a:chOff x="0" y="0"/>
          <a:chExt cx="0" cy="0"/>
        </a:xfrm>
      </p:grpSpPr>
      <p:sp>
        <p:nvSpPr>
          <p:cNvPr id="124" name="Google Shape;124;p29"/>
          <p:cNvSpPr txBox="1"/>
          <p:nvPr>
            <p:ph idx="12" type="sldNum"/>
          </p:nvPr>
        </p:nvSpPr>
        <p:spPr>
          <a:xfrm>
            <a:off x="11296610" y="6217622"/>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p:cSld name="Text">
    <p:spTree>
      <p:nvGrpSpPr>
        <p:cNvPr id="125" name="Shape 125"/>
        <p:cNvGrpSpPr/>
        <p:nvPr/>
      </p:nvGrpSpPr>
      <p:grpSpPr>
        <a:xfrm>
          <a:off x="0" y="0"/>
          <a:ext cx="0" cy="0"/>
          <a:chOff x="0" y="0"/>
          <a:chExt cx="0" cy="0"/>
        </a:xfrm>
      </p:grpSpPr>
      <p:pic>
        <p:nvPicPr>
          <p:cNvPr id="126" name="Google Shape;126;p30"/>
          <p:cNvPicPr preferRelativeResize="0"/>
          <p:nvPr/>
        </p:nvPicPr>
        <p:blipFill rotWithShape="1">
          <a:blip r:embed="rId2">
            <a:alphaModFix/>
          </a:blip>
          <a:srcRect b="0" l="0" r="0" t="0"/>
          <a:stretch/>
        </p:blipFill>
        <p:spPr>
          <a:xfrm>
            <a:off x="10964849" y="173150"/>
            <a:ext cx="876145" cy="905211"/>
          </a:xfrm>
          <a:prstGeom prst="rect">
            <a:avLst/>
          </a:prstGeom>
          <a:noFill/>
          <a:ln>
            <a:noFill/>
          </a:ln>
        </p:spPr>
      </p:pic>
      <p:cxnSp>
        <p:nvCxnSpPr>
          <p:cNvPr id="127" name="Google Shape;127;p30"/>
          <p:cNvCxnSpPr/>
          <p:nvPr/>
        </p:nvCxnSpPr>
        <p:spPr>
          <a:xfrm>
            <a:off x="508883" y="260631"/>
            <a:ext cx="10344900" cy="17700"/>
          </a:xfrm>
          <a:prstGeom prst="straightConnector1">
            <a:avLst/>
          </a:prstGeom>
          <a:noFill/>
          <a:ln cap="flat" cmpd="sng" w="16925">
            <a:solidFill>
              <a:srgbClr val="FF5C1A"/>
            </a:solidFill>
            <a:prstDash val="solid"/>
            <a:miter lim="800000"/>
            <a:headEnd len="sm" w="sm" type="none"/>
            <a:tailEnd len="sm" w="sm" type="none"/>
          </a:ln>
        </p:spPr>
      </p:cxnSp>
      <p:sp>
        <p:nvSpPr>
          <p:cNvPr id="128" name="Google Shape;128;p30"/>
          <p:cNvSpPr txBox="1"/>
          <p:nvPr>
            <p:ph idx="1" type="body"/>
          </p:nvPr>
        </p:nvSpPr>
        <p:spPr>
          <a:xfrm>
            <a:off x="508881" y="393674"/>
            <a:ext cx="10344900" cy="6708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100"/>
              </a:spcBef>
              <a:spcAft>
                <a:spcPts val="0"/>
              </a:spcAft>
              <a:buClr>
                <a:srgbClr val="282727"/>
              </a:buClr>
              <a:buSzPts val="3200"/>
              <a:buFont typeface="Arial"/>
              <a:buNone/>
              <a:defRPr b="0" i="0" sz="3200" u="none" cap="none" strike="noStrike">
                <a:solidFill>
                  <a:srgbClr val="282727"/>
                </a:solidFill>
                <a:latin typeface="Century Gothic"/>
                <a:ea typeface="Century Gothic"/>
                <a:cs typeface="Century Gothic"/>
                <a:sym typeface="Century Gothic"/>
              </a:defRPr>
            </a:lvl1pPr>
            <a:lvl2pPr indent="-381000" lvl="1" marL="914400" marR="0" algn="l">
              <a:lnSpc>
                <a:spcPct val="90000"/>
              </a:lnSpc>
              <a:spcBef>
                <a:spcPts val="21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21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9250" lvl="3" marL="18288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2100"/>
              </a:spcBef>
              <a:spcAft>
                <a:spcPts val="210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29" name="Google Shape;129;p30"/>
          <p:cNvSpPr txBox="1"/>
          <p:nvPr>
            <p:ph idx="2" type="body"/>
          </p:nvPr>
        </p:nvSpPr>
        <p:spPr>
          <a:xfrm>
            <a:off x="508882" y="1517650"/>
            <a:ext cx="11178300" cy="46113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100"/>
              </a:spcBef>
              <a:spcAft>
                <a:spcPts val="0"/>
              </a:spcAft>
              <a:buClr>
                <a:schemeClr val="accent1"/>
              </a:buClr>
              <a:buSzPts val="2800"/>
              <a:buFont typeface="Arial"/>
              <a:buChar char="•"/>
              <a:defRPr b="0" i="0" sz="2800" u="none" cap="none" strike="noStrike">
                <a:solidFill>
                  <a:srgbClr val="282727"/>
                </a:solidFill>
                <a:latin typeface="Arial"/>
                <a:ea typeface="Arial"/>
                <a:cs typeface="Arial"/>
                <a:sym typeface="Arial"/>
              </a:defRPr>
            </a:lvl1pPr>
            <a:lvl2pPr indent="-381000" lvl="1" marL="914400" marR="0" algn="l">
              <a:lnSpc>
                <a:spcPct val="90000"/>
              </a:lnSpc>
              <a:spcBef>
                <a:spcPts val="2100"/>
              </a:spcBef>
              <a:spcAft>
                <a:spcPts val="0"/>
              </a:spcAft>
              <a:buClr>
                <a:schemeClr val="accent1"/>
              </a:buClr>
              <a:buSzPts val="2400"/>
              <a:buFont typeface="Arial"/>
              <a:buChar char="•"/>
              <a:defRPr b="0" i="0" sz="2400" u="none" cap="none" strike="noStrike">
                <a:solidFill>
                  <a:srgbClr val="282727"/>
                </a:solidFill>
                <a:latin typeface="Arial"/>
                <a:ea typeface="Arial"/>
                <a:cs typeface="Arial"/>
                <a:sym typeface="Arial"/>
              </a:defRPr>
            </a:lvl2pPr>
            <a:lvl3pPr indent="-355600" lvl="2" marL="1371600" marR="0" algn="l">
              <a:lnSpc>
                <a:spcPct val="90000"/>
              </a:lnSpc>
              <a:spcBef>
                <a:spcPts val="2100"/>
              </a:spcBef>
              <a:spcAft>
                <a:spcPts val="0"/>
              </a:spcAft>
              <a:buClr>
                <a:schemeClr val="accent1"/>
              </a:buClr>
              <a:buSzPts val="2000"/>
              <a:buFont typeface="Arial"/>
              <a:buChar char="•"/>
              <a:defRPr b="0" i="0" sz="2000" u="none" cap="none" strike="noStrike">
                <a:solidFill>
                  <a:srgbClr val="282727"/>
                </a:solidFill>
                <a:latin typeface="Arial"/>
                <a:ea typeface="Arial"/>
                <a:cs typeface="Arial"/>
                <a:sym typeface="Arial"/>
              </a:defRPr>
            </a:lvl3pPr>
            <a:lvl4pPr indent="-349250" lvl="3" marL="1828800" marR="0" algn="l">
              <a:lnSpc>
                <a:spcPct val="90000"/>
              </a:lnSpc>
              <a:spcBef>
                <a:spcPts val="2100"/>
              </a:spcBef>
              <a:spcAft>
                <a:spcPts val="0"/>
              </a:spcAft>
              <a:buClr>
                <a:schemeClr val="accent1"/>
              </a:buClr>
              <a:buSzPts val="1900"/>
              <a:buFont typeface="Arial"/>
              <a:buChar char="•"/>
              <a:defRPr b="0" i="0" sz="1900" u="none" cap="none" strike="noStrike">
                <a:solidFill>
                  <a:srgbClr val="282727"/>
                </a:solidFill>
                <a:latin typeface="Arial"/>
                <a:ea typeface="Arial"/>
                <a:cs typeface="Arial"/>
                <a:sym typeface="Arial"/>
              </a:defRPr>
            </a:lvl4pPr>
            <a:lvl5pPr indent="-349250" lvl="4" marL="2286000" marR="0" algn="l">
              <a:lnSpc>
                <a:spcPct val="90000"/>
              </a:lnSpc>
              <a:spcBef>
                <a:spcPts val="2100"/>
              </a:spcBef>
              <a:spcAft>
                <a:spcPts val="0"/>
              </a:spcAft>
              <a:buClr>
                <a:schemeClr val="accent1"/>
              </a:buClr>
              <a:buSzPts val="1900"/>
              <a:buFont typeface="Arial"/>
              <a:buChar char="•"/>
              <a:defRPr b="0" i="0" sz="1900" u="none" cap="none" strike="noStrike">
                <a:solidFill>
                  <a:srgbClr val="282727"/>
                </a:solidFill>
                <a:latin typeface="Arial"/>
                <a:ea typeface="Arial"/>
                <a:cs typeface="Arial"/>
                <a:sym typeface="Arial"/>
              </a:defRPr>
            </a:lvl5pPr>
            <a:lvl6pPr indent="-349250" lvl="5" marL="27432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2100"/>
              </a:spcBef>
              <a:spcAft>
                <a:spcPts val="210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30" name="Google Shape;130;p30"/>
          <p:cNvSpPr txBox="1"/>
          <p:nvPr>
            <p:ph idx="3" type="body"/>
          </p:nvPr>
        </p:nvSpPr>
        <p:spPr>
          <a:xfrm>
            <a:off x="113956" y="6428329"/>
            <a:ext cx="789900" cy="3381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100"/>
              </a:spcBef>
              <a:spcAft>
                <a:spcPts val="0"/>
              </a:spcAft>
              <a:buClr>
                <a:schemeClr val="accent1"/>
              </a:buClr>
              <a:buSzPts val="1500"/>
              <a:buFont typeface="Arial"/>
              <a:buNone/>
              <a:defRPr b="0" i="0" sz="1500" u="none" cap="none" strike="noStrike">
                <a:solidFill>
                  <a:schemeClr val="accent1"/>
                </a:solidFill>
                <a:latin typeface="Arial"/>
                <a:ea typeface="Arial"/>
                <a:cs typeface="Arial"/>
                <a:sym typeface="Arial"/>
              </a:defRPr>
            </a:lvl1pPr>
            <a:lvl2pPr indent="-381000" lvl="1" marL="914400" marR="0" algn="l">
              <a:lnSpc>
                <a:spcPct val="90000"/>
              </a:lnSpc>
              <a:spcBef>
                <a:spcPts val="21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21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9250" lvl="3" marL="18288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21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2100"/>
              </a:spcBef>
              <a:spcAft>
                <a:spcPts val="210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nner" type="obj">
  <p:cSld name="OBJECT">
    <p:spTree>
      <p:nvGrpSpPr>
        <p:cNvPr id="131" name="Shape 131"/>
        <p:cNvGrpSpPr/>
        <p:nvPr/>
      </p:nvGrpSpPr>
      <p:grpSpPr>
        <a:xfrm>
          <a:off x="0" y="0"/>
          <a:ext cx="0" cy="0"/>
          <a:chOff x="0" y="0"/>
          <a:chExt cx="0" cy="0"/>
        </a:xfrm>
      </p:grpSpPr>
      <p:sp>
        <p:nvSpPr>
          <p:cNvPr id="132" name="Google Shape;132;p31"/>
          <p:cNvSpPr txBox="1"/>
          <p:nvPr>
            <p:ph type="title"/>
          </p:nvPr>
        </p:nvSpPr>
        <p:spPr>
          <a:xfrm>
            <a:off x="0" y="0"/>
            <a:ext cx="12192000" cy="920400"/>
          </a:xfrm>
          <a:prstGeom prst="rect">
            <a:avLst/>
          </a:prstGeom>
          <a:solidFill>
            <a:srgbClr val="1F497D"/>
          </a:solidFill>
          <a:ln cap="flat" cmpd="sng" w="9525">
            <a:solidFill>
              <a:srgbClr val="1F497D"/>
            </a:solidFill>
            <a:prstDash val="solid"/>
            <a:round/>
            <a:headEnd len="sm" w="sm" type="none"/>
            <a:tailEnd len="sm" w="sm" type="none"/>
          </a:ln>
        </p:spPr>
        <p:txBody>
          <a:bodyPr anchorCtr="0" anchor="ctr" bIns="45700" lIns="91425" spcFirstLastPara="1" rIns="91425" wrap="square" tIns="45700">
            <a:noAutofit/>
          </a:bodyPr>
          <a:lstStyle>
            <a:lvl1pPr lvl="0" algn="ctr">
              <a:lnSpc>
                <a:spcPct val="100000"/>
              </a:lnSpc>
              <a:spcBef>
                <a:spcPts val="0"/>
              </a:spcBef>
              <a:spcAft>
                <a:spcPts val="0"/>
              </a:spcAft>
              <a:buClr>
                <a:schemeClr val="lt1"/>
              </a:buClr>
              <a:buSzPts val="3600"/>
              <a:buFont typeface="Avenir"/>
              <a:buNone/>
              <a:defRPr sz="3600">
                <a:solidFill>
                  <a:schemeClr val="lt1"/>
                </a:solidFill>
                <a:latin typeface="Avenir"/>
                <a:ea typeface="Avenir"/>
                <a:cs typeface="Avenir"/>
                <a:sym typeface="Avenir"/>
              </a:defRPr>
            </a:lvl1pPr>
            <a:lvl2pPr lvl="1" algn="ctr">
              <a:lnSpc>
                <a:spcPct val="100000"/>
              </a:lnSpc>
              <a:spcBef>
                <a:spcPts val="0"/>
              </a:spcBef>
              <a:spcAft>
                <a:spcPts val="0"/>
              </a:spcAft>
              <a:buSzPts val="1500"/>
              <a:buFont typeface="Avenir"/>
              <a:buNone/>
              <a:defRPr>
                <a:latin typeface="Avenir"/>
                <a:ea typeface="Avenir"/>
                <a:cs typeface="Avenir"/>
                <a:sym typeface="Avenir"/>
              </a:defRPr>
            </a:lvl2pPr>
            <a:lvl3pPr lvl="2" algn="ctr">
              <a:lnSpc>
                <a:spcPct val="100000"/>
              </a:lnSpc>
              <a:spcBef>
                <a:spcPts val="0"/>
              </a:spcBef>
              <a:spcAft>
                <a:spcPts val="0"/>
              </a:spcAft>
              <a:buSzPts val="1500"/>
              <a:buFont typeface="Avenir"/>
              <a:buNone/>
              <a:defRPr>
                <a:latin typeface="Avenir"/>
                <a:ea typeface="Avenir"/>
                <a:cs typeface="Avenir"/>
                <a:sym typeface="Avenir"/>
              </a:defRPr>
            </a:lvl3pPr>
            <a:lvl4pPr lvl="3" algn="ctr">
              <a:lnSpc>
                <a:spcPct val="100000"/>
              </a:lnSpc>
              <a:spcBef>
                <a:spcPts val="0"/>
              </a:spcBef>
              <a:spcAft>
                <a:spcPts val="0"/>
              </a:spcAft>
              <a:buSzPts val="1500"/>
              <a:buFont typeface="Avenir"/>
              <a:buNone/>
              <a:defRPr>
                <a:latin typeface="Avenir"/>
                <a:ea typeface="Avenir"/>
                <a:cs typeface="Avenir"/>
                <a:sym typeface="Avenir"/>
              </a:defRPr>
            </a:lvl4pPr>
            <a:lvl5pPr lvl="4" algn="ctr">
              <a:lnSpc>
                <a:spcPct val="100000"/>
              </a:lnSpc>
              <a:spcBef>
                <a:spcPts val="0"/>
              </a:spcBef>
              <a:spcAft>
                <a:spcPts val="0"/>
              </a:spcAft>
              <a:buSzPts val="1500"/>
              <a:buFont typeface="Avenir"/>
              <a:buNone/>
              <a:defRPr>
                <a:latin typeface="Avenir"/>
                <a:ea typeface="Avenir"/>
                <a:cs typeface="Avenir"/>
                <a:sym typeface="Avenir"/>
              </a:defRPr>
            </a:lvl5pPr>
            <a:lvl6pPr lvl="5" algn="ctr">
              <a:lnSpc>
                <a:spcPct val="100000"/>
              </a:lnSpc>
              <a:spcBef>
                <a:spcPts val="0"/>
              </a:spcBef>
              <a:spcAft>
                <a:spcPts val="0"/>
              </a:spcAft>
              <a:buSzPts val="1500"/>
              <a:buFont typeface="Avenir"/>
              <a:buNone/>
              <a:defRPr>
                <a:latin typeface="Avenir"/>
                <a:ea typeface="Avenir"/>
                <a:cs typeface="Avenir"/>
                <a:sym typeface="Avenir"/>
              </a:defRPr>
            </a:lvl6pPr>
            <a:lvl7pPr lvl="6" algn="ctr">
              <a:lnSpc>
                <a:spcPct val="100000"/>
              </a:lnSpc>
              <a:spcBef>
                <a:spcPts val="0"/>
              </a:spcBef>
              <a:spcAft>
                <a:spcPts val="0"/>
              </a:spcAft>
              <a:buSzPts val="1500"/>
              <a:buFont typeface="Avenir"/>
              <a:buNone/>
              <a:defRPr>
                <a:latin typeface="Avenir"/>
                <a:ea typeface="Avenir"/>
                <a:cs typeface="Avenir"/>
                <a:sym typeface="Avenir"/>
              </a:defRPr>
            </a:lvl7pPr>
            <a:lvl8pPr lvl="7" algn="ctr">
              <a:lnSpc>
                <a:spcPct val="100000"/>
              </a:lnSpc>
              <a:spcBef>
                <a:spcPts val="0"/>
              </a:spcBef>
              <a:spcAft>
                <a:spcPts val="0"/>
              </a:spcAft>
              <a:buSzPts val="1500"/>
              <a:buFont typeface="Avenir"/>
              <a:buNone/>
              <a:defRPr>
                <a:latin typeface="Avenir"/>
                <a:ea typeface="Avenir"/>
                <a:cs typeface="Avenir"/>
                <a:sym typeface="Avenir"/>
              </a:defRPr>
            </a:lvl8pPr>
            <a:lvl9pPr lvl="8" algn="ctr">
              <a:lnSpc>
                <a:spcPct val="100000"/>
              </a:lnSpc>
              <a:spcBef>
                <a:spcPts val="0"/>
              </a:spcBef>
              <a:spcAft>
                <a:spcPts val="0"/>
              </a:spcAft>
              <a:buSzPts val="1500"/>
              <a:buFont typeface="Avenir"/>
              <a:buNone/>
              <a:defRPr>
                <a:latin typeface="Avenir"/>
                <a:ea typeface="Avenir"/>
                <a:cs typeface="Avenir"/>
                <a:sym typeface="Avenir"/>
              </a:defRPr>
            </a:lvl9pPr>
          </a:lstStyle>
          <a:p/>
        </p:txBody>
      </p:sp>
      <p:sp>
        <p:nvSpPr>
          <p:cNvPr id="133" name="Google Shape;133;p31"/>
          <p:cNvSpPr txBox="1"/>
          <p:nvPr>
            <p:ph idx="1" type="body"/>
          </p:nvPr>
        </p:nvSpPr>
        <p:spPr>
          <a:xfrm>
            <a:off x="282900" y="1600200"/>
            <a:ext cx="11626500" cy="4526100"/>
          </a:xfrm>
          <a:prstGeom prst="rect">
            <a:avLst/>
          </a:prstGeom>
          <a:noFill/>
          <a:ln>
            <a:noFill/>
          </a:ln>
        </p:spPr>
        <p:txBody>
          <a:bodyPr anchorCtr="0" anchor="t" bIns="45700" lIns="91425" spcFirstLastPara="1" rIns="91425" wrap="square" tIns="45700">
            <a:noAutofit/>
          </a:bodyPr>
          <a:lstStyle>
            <a:lvl1pPr indent="-349250" lvl="0" marL="4572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1pPr>
            <a:lvl2pPr indent="-349250" lvl="1" marL="9144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2pPr>
            <a:lvl3pPr indent="-349250" lvl="2" marL="13716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3pPr>
            <a:lvl4pPr indent="-349250" lvl="3" marL="18288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4pPr>
            <a:lvl5pPr indent="-349250" lvl="4" marL="22860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5pPr>
            <a:lvl6pPr indent="-349250" lvl="5" marL="27432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6pPr>
            <a:lvl7pPr indent="-349250" lvl="6" marL="32004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7pPr>
            <a:lvl8pPr indent="-349250" lvl="7" marL="36576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8pPr>
            <a:lvl9pPr indent="-349250" lvl="8" marL="4114800" algn="l">
              <a:lnSpc>
                <a:spcPct val="100000"/>
              </a:lnSpc>
              <a:spcBef>
                <a:spcPts val="400"/>
              </a:spcBef>
              <a:spcAft>
                <a:spcPts val="0"/>
              </a:spcAft>
              <a:buClr>
                <a:schemeClr val="dk1"/>
              </a:buClr>
              <a:buSzPts val="1900"/>
              <a:buFont typeface="Avenir"/>
              <a:buChar char="•"/>
              <a:defRPr>
                <a:latin typeface="Avenir"/>
                <a:ea typeface="Avenir"/>
                <a:cs typeface="Avenir"/>
                <a:sym typeface="Aveni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0" Type="http://schemas.openxmlformats.org/officeDocument/2006/relationships/slideLayout" Target="../slideLayouts/slideLayout13.xml"/><Relationship Id="rId13" Type="http://schemas.openxmlformats.org/officeDocument/2006/relationships/theme" Target="../theme/theme3.xml"/><Relationship Id="rId12" Type="http://schemas.openxmlformats.org/officeDocument/2006/relationships/slideLayout" Target="../slideLayouts/slideLayout15.xml"/><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274637"/>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609600" y="1600200"/>
            <a:ext cx="109728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 name="Shape 32"/>
        <p:cNvGrpSpPr/>
        <p:nvPr/>
      </p:nvGrpSpPr>
      <p:grpSpPr>
        <a:xfrm>
          <a:off x="0" y="0"/>
          <a:ext cx="0" cy="0"/>
          <a:chOff x="0" y="0"/>
          <a:chExt cx="0" cy="0"/>
        </a:xfrm>
      </p:grpSpPr>
      <p:sp>
        <p:nvSpPr>
          <p:cNvPr id="33" name="Google Shape;33;p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34" name="Google Shape;34;p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35" name="Google Shape;35;p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p1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82" name="Google Shape;82;p1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2100"/>
              </a:spcBef>
              <a:spcAft>
                <a:spcPts val="0"/>
              </a:spcAft>
              <a:buClr>
                <a:schemeClr val="dk2"/>
              </a:buClr>
              <a:buSzPts val="1900"/>
              <a:buChar char="○"/>
              <a:defRPr sz="1900">
                <a:solidFill>
                  <a:schemeClr val="dk2"/>
                </a:solidFill>
              </a:defRPr>
            </a:lvl2pPr>
            <a:lvl3pPr indent="-349250" lvl="2" marL="1371600">
              <a:lnSpc>
                <a:spcPct val="115000"/>
              </a:lnSpc>
              <a:spcBef>
                <a:spcPts val="2100"/>
              </a:spcBef>
              <a:spcAft>
                <a:spcPts val="0"/>
              </a:spcAft>
              <a:buClr>
                <a:schemeClr val="dk2"/>
              </a:buClr>
              <a:buSzPts val="1900"/>
              <a:buChar char="■"/>
              <a:defRPr sz="1900">
                <a:solidFill>
                  <a:schemeClr val="dk2"/>
                </a:solidFill>
              </a:defRPr>
            </a:lvl3pPr>
            <a:lvl4pPr indent="-349250" lvl="3" marL="1828800">
              <a:lnSpc>
                <a:spcPct val="115000"/>
              </a:lnSpc>
              <a:spcBef>
                <a:spcPts val="2100"/>
              </a:spcBef>
              <a:spcAft>
                <a:spcPts val="0"/>
              </a:spcAft>
              <a:buClr>
                <a:schemeClr val="dk2"/>
              </a:buClr>
              <a:buSzPts val="1900"/>
              <a:buChar char="●"/>
              <a:defRPr sz="1900">
                <a:solidFill>
                  <a:schemeClr val="dk2"/>
                </a:solidFill>
              </a:defRPr>
            </a:lvl4pPr>
            <a:lvl5pPr indent="-349250" lvl="4" marL="2286000">
              <a:lnSpc>
                <a:spcPct val="115000"/>
              </a:lnSpc>
              <a:spcBef>
                <a:spcPts val="2100"/>
              </a:spcBef>
              <a:spcAft>
                <a:spcPts val="0"/>
              </a:spcAft>
              <a:buClr>
                <a:schemeClr val="dk2"/>
              </a:buClr>
              <a:buSzPts val="1900"/>
              <a:buChar char="○"/>
              <a:defRPr sz="1900">
                <a:solidFill>
                  <a:schemeClr val="dk2"/>
                </a:solidFill>
              </a:defRPr>
            </a:lvl5pPr>
            <a:lvl6pPr indent="-349250" lvl="5" marL="2743200">
              <a:lnSpc>
                <a:spcPct val="115000"/>
              </a:lnSpc>
              <a:spcBef>
                <a:spcPts val="2100"/>
              </a:spcBef>
              <a:spcAft>
                <a:spcPts val="0"/>
              </a:spcAft>
              <a:buClr>
                <a:schemeClr val="dk2"/>
              </a:buClr>
              <a:buSzPts val="1900"/>
              <a:buChar char="■"/>
              <a:defRPr sz="1900">
                <a:solidFill>
                  <a:schemeClr val="dk2"/>
                </a:solidFill>
              </a:defRPr>
            </a:lvl6pPr>
            <a:lvl7pPr indent="-349250" lvl="6" marL="3200400">
              <a:lnSpc>
                <a:spcPct val="115000"/>
              </a:lnSpc>
              <a:spcBef>
                <a:spcPts val="2100"/>
              </a:spcBef>
              <a:spcAft>
                <a:spcPts val="0"/>
              </a:spcAft>
              <a:buClr>
                <a:schemeClr val="dk2"/>
              </a:buClr>
              <a:buSzPts val="1900"/>
              <a:buChar char="●"/>
              <a:defRPr sz="1900">
                <a:solidFill>
                  <a:schemeClr val="dk2"/>
                </a:solidFill>
              </a:defRPr>
            </a:lvl7pPr>
            <a:lvl8pPr indent="-349250" lvl="7" marL="3657600">
              <a:lnSpc>
                <a:spcPct val="115000"/>
              </a:lnSpc>
              <a:spcBef>
                <a:spcPts val="2100"/>
              </a:spcBef>
              <a:spcAft>
                <a:spcPts val="0"/>
              </a:spcAft>
              <a:buClr>
                <a:schemeClr val="dk2"/>
              </a:buClr>
              <a:buSzPts val="1900"/>
              <a:buChar char="○"/>
              <a:defRPr sz="1900">
                <a:solidFill>
                  <a:schemeClr val="dk2"/>
                </a:solidFill>
              </a:defRPr>
            </a:lvl8pPr>
            <a:lvl9pPr indent="-349250" lvl="8" marL="4114800">
              <a:lnSpc>
                <a:spcPct val="115000"/>
              </a:lnSpc>
              <a:spcBef>
                <a:spcPts val="2100"/>
              </a:spcBef>
              <a:spcAft>
                <a:spcPts val="2100"/>
              </a:spcAft>
              <a:buClr>
                <a:schemeClr val="dk2"/>
              </a:buClr>
              <a:buSzPts val="1900"/>
              <a:buChar char="■"/>
              <a:defRPr sz="1900">
                <a:solidFill>
                  <a:schemeClr val="dk2"/>
                </a:solidFill>
              </a:defRPr>
            </a:lvl9pPr>
          </a:lstStyle>
          <a:p/>
        </p:txBody>
      </p:sp>
      <p:sp>
        <p:nvSpPr>
          <p:cNvPr id="83" name="Google Shape;83;p1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hyperlink" Target="mailto:daniel.conley@coopacademies.co.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hyperlink" Target="mailto:daniel.conley@coopacademies.co.u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5.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5.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5.gif"/><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5.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www.youtube.com/watch?v=lw0yUOdzSp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5.gif"/><Relationship Id="rId5" Type="http://schemas.openxmlformats.org/officeDocument/2006/relationships/hyperlink" Target="https://www.youtube.com/watch?v=kX3xO2J4Ic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32"/>
          <p:cNvGrpSpPr/>
          <p:nvPr/>
        </p:nvGrpSpPr>
        <p:grpSpPr>
          <a:xfrm>
            <a:off x="0" y="6451200"/>
            <a:ext cx="12192000" cy="406800"/>
            <a:chOff x="0" y="6451200"/>
            <a:chExt cx="12192000" cy="406800"/>
          </a:xfrm>
        </p:grpSpPr>
        <p:sp>
          <p:nvSpPr>
            <p:cNvPr id="139" name="Google Shape;139;p32"/>
            <p:cNvSpPr/>
            <p:nvPr/>
          </p:nvSpPr>
          <p:spPr>
            <a:xfrm>
              <a:off x="0" y="6451200"/>
              <a:ext cx="12192000" cy="406800"/>
            </a:xfrm>
            <a:prstGeom prst="rtTriangle">
              <a:avLst/>
            </a:prstGeom>
            <a:solidFill>
              <a:srgbClr val="00BC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40" name="Google Shape;140;p32"/>
            <p:cNvSpPr/>
            <p:nvPr/>
          </p:nvSpPr>
          <p:spPr>
            <a:xfrm flipH="1">
              <a:off x="6096000" y="6451200"/>
              <a:ext cx="6096000" cy="406800"/>
            </a:xfrm>
            <a:prstGeom prst="rtTriangle">
              <a:avLst/>
            </a:prstGeom>
            <a:solidFill>
              <a:srgbClr val="00BC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grpSp>
      <p:pic>
        <p:nvPicPr>
          <p:cNvPr id="141" name="Google Shape;141;p32" title="Professional Development Institute.png"/>
          <p:cNvPicPr preferRelativeResize="0"/>
          <p:nvPr/>
        </p:nvPicPr>
        <p:blipFill>
          <a:blip r:embed="rId3">
            <a:alphaModFix/>
          </a:blip>
          <a:stretch>
            <a:fillRect/>
          </a:stretch>
        </p:blipFill>
        <p:spPr>
          <a:xfrm>
            <a:off x="10497850" y="206075"/>
            <a:ext cx="1443430" cy="786900"/>
          </a:xfrm>
          <a:prstGeom prst="rect">
            <a:avLst/>
          </a:prstGeom>
          <a:noFill/>
          <a:ln>
            <a:noFill/>
          </a:ln>
        </p:spPr>
      </p:pic>
      <p:pic>
        <p:nvPicPr>
          <p:cNvPr id="142" name="Google Shape;142;p32"/>
          <p:cNvPicPr preferRelativeResize="0"/>
          <p:nvPr/>
        </p:nvPicPr>
        <p:blipFill>
          <a:blip r:embed="rId4">
            <a:alphaModFix/>
          </a:blip>
          <a:stretch>
            <a:fillRect/>
          </a:stretch>
        </p:blipFill>
        <p:spPr>
          <a:xfrm>
            <a:off x="236724" y="206074"/>
            <a:ext cx="2893288" cy="786900"/>
          </a:xfrm>
          <a:prstGeom prst="rect">
            <a:avLst/>
          </a:prstGeom>
          <a:noFill/>
          <a:ln>
            <a:noFill/>
          </a:ln>
        </p:spPr>
      </p:pic>
      <p:sp>
        <p:nvSpPr>
          <p:cNvPr id="143" name="Google Shape;143;p32"/>
          <p:cNvSpPr txBox="1"/>
          <p:nvPr>
            <p:ph idx="4294967295" type="ctrTitle"/>
          </p:nvPr>
        </p:nvSpPr>
        <p:spPr>
          <a:xfrm>
            <a:off x="997667" y="1404550"/>
            <a:ext cx="10388400" cy="18843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sz="6000">
                <a:solidFill>
                  <a:srgbClr val="00A1CC"/>
                </a:solidFill>
                <a:latin typeface="Avenir"/>
                <a:ea typeface="Avenir"/>
                <a:cs typeface="Avenir"/>
                <a:sym typeface="Avenir"/>
              </a:rPr>
              <a:t>The Road Back:</a:t>
            </a:r>
            <a:endParaRPr sz="6000">
              <a:solidFill>
                <a:srgbClr val="00A1CC"/>
              </a:solidFill>
              <a:latin typeface="Avenir"/>
              <a:ea typeface="Avenir"/>
              <a:cs typeface="Avenir"/>
              <a:sym typeface="Avenir"/>
            </a:endParaRPr>
          </a:p>
          <a:p>
            <a:pPr indent="0" lvl="0" marL="0" rtl="0" algn="l">
              <a:spcBef>
                <a:spcPts val="0"/>
              </a:spcBef>
              <a:spcAft>
                <a:spcPts val="0"/>
              </a:spcAft>
              <a:buNone/>
            </a:pPr>
            <a:r>
              <a:rPr lang="en-US" sz="6000">
                <a:solidFill>
                  <a:srgbClr val="00A1CC"/>
                </a:solidFill>
                <a:latin typeface="Avenir"/>
                <a:ea typeface="Avenir"/>
                <a:cs typeface="Avenir"/>
                <a:sym typeface="Avenir"/>
              </a:rPr>
              <a:t>Teaching for Lost Learning</a:t>
            </a:r>
            <a:endParaRPr sz="6000">
              <a:solidFill>
                <a:srgbClr val="00A1CC"/>
              </a:solidFill>
              <a:latin typeface="Avenir"/>
              <a:ea typeface="Avenir"/>
              <a:cs typeface="Avenir"/>
              <a:sym typeface="Avenir"/>
            </a:endParaRPr>
          </a:p>
        </p:txBody>
      </p:sp>
      <p:pic>
        <p:nvPicPr>
          <p:cNvPr id="144" name="Google Shape;144;p32"/>
          <p:cNvPicPr preferRelativeResize="0"/>
          <p:nvPr/>
        </p:nvPicPr>
        <p:blipFill rotWithShape="1">
          <a:blip r:embed="rId5">
            <a:alphaModFix/>
          </a:blip>
          <a:srcRect b="16852" l="17279" r="17272" t="17501"/>
          <a:stretch/>
        </p:blipFill>
        <p:spPr>
          <a:xfrm>
            <a:off x="800403" y="4557200"/>
            <a:ext cx="1587100" cy="1591924"/>
          </a:xfrm>
          <a:prstGeom prst="rect">
            <a:avLst/>
          </a:prstGeom>
          <a:noFill/>
          <a:ln>
            <a:noFill/>
          </a:ln>
        </p:spPr>
      </p:pic>
      <p:sp>
        <p:nvSpPr>
          <p:cNvPr id="145" name="Google Shape;145;p32"/>
          <p:cNvSpPr txBox="1"/>
          <p:nvPr/>
        </p:nvSpPr>
        <p:spPr>
          <a:xfrm>
            <a:off x="5600400" y="4477800"/>
            <a:ext cx="6130500" cy="18843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None/>
            </a:pPr>
            <a:r>
              <a:rPr lang="en-US" sz="3200">
                <a:solidFill>
                  <a:srgbClr val="595959"/>
                </a:solidFill>
                <a:latin typeface="Avenir"/>
                <a:ea typeface="Avenir"/>
                <a:cs typeface="Avenir"/>
                <a:sym typeface="Avenir"/>
              </a:rPr>
              <a:t>Dan Conley</a:t>
            </a:r>
            <a:endParaRPr sz="3200">
              <a:solidFill>
                <a:srgbClr val="595959"/>
              </a:solidFill>
              <a:latin typeface="Avenir"/>
              <a:ea typeface="Avenir"/>
              <a:cs typeface="Avenir"/>
              <a:sym typeface="Avenir"/>
            </a:endParaRPr>
          </a:p>
          <a:p>
            <a:pPr indent="0" lvl="0" marL="0" rtl="0" algn="r">
              <a:spcBef>
                <a:spcPts val="0"/>
              </a:spcBef>
              <a:spcAft>
                <a:spcPts val="0"/>
              </a:spcAft>
              <a:buNone/>
            </a:pPr>
            <a:r>
              <a:rPr lang="en-US" sz="3200">
                <a:solidFill>
                  <a:srgbClr val="595959"/>
                </a:solidFill>
                <a:latin typeface="Avenir"/>
                <a:ea typeface="Avenir"/>
                <a:cs typeface="Avenir"/>
                <a:sym typeface="Avenir"/>
              </a:rPr>
              <a:t>Director of In-School AP</a:t>
            </a:r>
            <a:endParaRPr sz="3200">
              <a:solidFill>
                <a:srgbClr val="595959"/>
              </a:solidFill>
              <a:latin typeface="Avenir"/>
              <a:ea typeface="Avenir"/>
              <a:cs typeface="Avenir"/>
              <a:sym typeface="Avenir"/>
            </a:endParaRPr>
          </a:p>
          <a:p>
            <a:pPr indent="0" lvl="0" marL="0" rtl="0" algn="r">
              <a:spcBef>
                <a:spcPts val="0"/>
              </a:spcBef>
              <a:spcAft>
                <a:spcPts val="0"/>
              </a:spcAft>
              <a:buNone/>
            </a:pPr>
            <a:r>
              <a:rPr lang="en-US" sz="2700" u="sng">
                <a:solidFill>
                  <a:schemeClr val="hlink"/>
                </a:solidFill>
                <a:latin typeface="Avenir"/>
                <a:ea typeface="Avenir"/>
                <a:cs typeface="Avenir"/>
                <a:sym typeface="Avenir"/>
                <a:hlinkClick r:id="rId6"/>
              </a:rPr>
              <a:t>daniel.conley@coopacademies.co.uk</a:t>
            </a:r>
            <a:r>
              <a:rPr lang="en-US" sz="2700">
                <a:solidFill>
                  <a:srgbClr val="595959"/>
                </a:solidFill>
                <a:latin typeface="Avenir"/>
                <a:ea typeface="Avenir"/>
                <a:cs typeface="Avenir"/>
                <a:sym typeface="Avenir"/>
              </a:rPr>
              <a:t>  </a:t>
            </a:r>
            <a:endParaRPr sz="2700">
              <a:solidFill>
                <a:srgbClr val="595959"/>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33"/>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Session Outline</a:t>
            </a:r>
            <a:endParaRPr i="1" sz="4000">
              <a:solidFill>
                <a:srgbClr val="00A1CC"/>
              </a:solidFill>
              <a:latin typeface="Avenir"/>
              <a:ea typeface="Avenir"/>
              <a:cs typeface="Avenir"/>
              <a:sym typeface="Avenir"/>
            </a:endParaRPr>
          </a:p>
        </p:txBody>
      </p:sp>
      <p:sp>
        <p:nvSpPr>
          <p:cNvPr id="151" name="Google Shape;151;p33"/>
          <p:cNvSpPr txBox="1"/>
          <p:nvPr>
            <p:ph idx="1" type="subTitle"/>
          </p:nvPr>
        </p:nvSpPr>
        <p:spPr>
          <a:xfrm>
            <a:off x="918800" y="1470000"/>
            <a:ext cx="8590800" cy="18717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Why ISAPs? Why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The ‘How-To’ of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Barriers, Challenges and Solutions</a:t>
            </a:r>
            <a:endParaRPr sz="3200">
              <a:solidFill>
                <a:srgbClr val="666666"/>
              </a:solidFill>
              <a:highlight>
                <a:srgbClr val="FFFFFF"/>
              </a:highlight>
              <a:latin typeface="Avenir"/>
              <a:ea typeface="Avenir"/>
              <a:cs typeface="Avenir"/>
              <a:sym typeface="Avenir"/>
            </a:endParaRPr>
          </a:p>
        </p:txBody>
      </p:sp>
      <p:pic>
        <p:nvPicPr>
          <p:cNvPr id="152" name="Google Shape;152;p33"/>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34"/>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Session Outline</a:t>
            </a:r>
            <a:endParaRPr i="1" sz="4000">
              <a:solidFill>
                <a:srgbClr val="00A1CC"/>
              </a:solidFill>
              <a:latin typeface="Avenir"/>
              <a:ea typeface="Avenir"/>
              <a:cs typeface="Avenir"/>
              <a:sym typeface="Avenir"/>
            </a:endParaRPr>
          </a:p>
        </p:txBody>
      </p:sp>
      <p:sp>
        <p:nvSpPr>
          <p:cNvPr id="158" name="Google Shape;158;p34"/>
          <p:cNvSpPr txBox="1"/>
          <p:nvPr>
            <p:ph idx="1" type="subTitle"/>
          </p:nvPr>
        </p:nvSpPr>
        <p:spPr>
          <a:xfrm>
            <a:off x="918800" y="1470000"/>
            <a:ext cx="8590800" cy="18717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Why ISAPs? Why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The ‘How-To’ of Reintegration</a:t>
            </a:r>
            <a:endParaRPr sz="3200">
              <a:solidFill>
                <a:srgbClr val="F3F3F3"/>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Barriers, Challenges and Solutions</a:t>
            </a:r>
            <a:endParaRPr sz="3200">
              <a:solidFill>
                <a:srgbClr val="F3F3F3"/>
              </a:solidFill>
              <a:highlight>
                <a:srgbClr val="FFFFFF"/>
              </a:highlight>
              <a:latin typeface="Avenir"/>
              <a:ea typeface="Avenir"/>
              <a:cs typeface="Avenir"/>
              <a:sym typeface="Avenir"/>
            </a:endParaRPr>
          </a:p>
        </p:txBody>
      </p:sp>
      <p:pic>
        <p:nvPicPr>
          <p:cNvPr id="159" name="Google Shape;159;p34"/>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id="164" name="Google Shape;164;p35"/>
          <p:cNvPicPr preferRelativeResize="0"/>
          <p:nvPr/>
        </p:nvPicPr>
        <p:blipFill>
          <a:blip r:embed="rId3">
            <a:alphaModFix/>
          </a:blip>
          <a:stretch>
            <a:fillRect/>
          </a:stretch>
        </p:blipFill>
        <p:spPr>
          <a:xfrm>
            <a:off x="5311167" y="203208"/>
            <a:ext cx="6719951" cy="6451600"/>
          </a:xfrm>
          <a:prstGeom prst="rect">
            <a:avLst/>
          </a:prstGeom>
          <a:noFill/>
          <a:ln>
            <a:noFill/>
          </a:ln>
        </p:spPr>
      </p:pic>
      <p:sp>
        <p:nvSpPr>
          <p:cNvPr id="165" name="Google Shape;165;p35"/>
          <p:cNvSpPr txBox="1"/>
          <p:nvPr>
            <p:ph idx="1" type="subTitle"/>
          </p:nvPr>
        </p:nvSpPr>
        <p:spPr>
          <a:xfrm>
            <a:off x="317971" y="179550"/>
            <a:ext cx="4993200" cy="24780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In-School AP</a:t>
            </a:r>
            <a:endParaRPr sz="40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rPr lang="en-US" sz="3000">
                <a:solidFill>
                  <a:srgbClr val="00A1CC"/>
                </a:solidFill>
                <a:latin typeface="Avenir"/>
                <a:ea typeface="Avenir"/>
                <a:cs typeface="Avenir"/>
                <a:sym typeface="Avenir"/>
              </a:rPr>
              <a:t>2024-2025</a:t>
            </a:r>
            <a:endParaRPr sz="30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t/>
            </a:r>
            <a:endParaRPr sz="3000">
              <a:solidFill>
                <a:srgbClr val="00A1CC"/>
              </a:solidFill>
              <a:latin typeface="Avenir"/>
              <a:ea typeface="Avenir"/>
              <a:cs typeface="Avenir"/>
              <a:sym typeface="Avenir"/>
            </a:endParaRPr>
          </a:p>
          <a:p>
            <a:pPr indent="-419100" lvl="0" marL="457200" rtl="0" algn="l">
              <a:lnSpc>
                <a:spcPct val="115000"/>
              </a:lnSpc>
              <a:spcBef>
                <a:spcPts val="0"/>
              </a:spcBef>
              <a:spcAft>
                <a:spcPts val="0"/>
              </a:spcAft>
              <a:buClr>
                <a:srgbClr val="595959"/>
              </a:buClr>
              <a:buSzPts val="3000"/>
              <a:buFont typeface="Avenir"/>
              <a:buChar char="●"/>
            </a:pPr>
            <a:r>
              <a:rPr lang="en-US" sz="3000">
                <a:solidFill>
                  <a:srgbClr val="595959"/>
                </a:solidFill>
                <a:latin typeface="Avenir"/>
                <a:ea typeface="Avenir"/>
                <a:cs typeface="Avenir"/>
                <a:sym typeface="Avenir"/>
              </a:rPr>
              <a:t>272 Students</a:t>
            </a:r>
            <a:endParaRPr sz="3000">
              <a:solidFill>
                <a:srgbClr val="595959"/>
              </a:solidFill>
              <a:latin typeface="Avenir"/>
              <a:ea typeface="Avenir"/>
              <a:cs typeface="Avenir"/>
              <a:sym typeface="Avenir"/>
            </a:endParaRPr>
          </a:p>
        </p:txBody>
      </p:sp>
      <p:pic>
        <p:nvPicPr>
          <p:cNvPr id="166" name="Google Shape;166;p35"/>
          <p:cNvPicPr preferRelativeResize="0"/>
          <p:nvPr/>
        </p:nvPicPr>
        <p:blipFill>
          <a:blip r:embed="rId4">
            <a:alphaModFix/>
          </a:blip>
          <a:stretch>
            <a:fillRect/>
          </a:stretch>
        </p:blipFill>
        <p:spPr>
          <a:xfrm>
            <a:off x="203200" y="3132275"/>
            <a:ext cx="4681968" cy="29355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36"/>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Students: </a:t>
            </a:r>
            <a:r>
              <a:rPr i="1" lang="en-US" sz="4000">
                <a:solidFill>
                  <a:srgbClr val="00A1CC"/>
                </a:solidFill>
                <a:latin typeface="Avenir"/>
                <a:ea typeface="Avenir"/>
                <a:cs typeface="Avenir"/>
                <a:sym typeface="Avenir"/>
              </a:rPr>
              <a:t>Who</a:t>
            </a:r>
            <a:r>
              <a:rPr lang="en-US" sz="4000">
                <a:solidFill>
                  <a:srgbClr val="00A1CC"/>
                </a:solidFill>
                <a:latin typeface="Avenir"/>
                <a:ea typeface="Avenir"/>
                <a:cs typeface="Avenir"/>
                <a:sym typeface="Avenir"/>
              </a:rPr>
              <a:t> are ISAPs for?</a:t>
            </a:r>
            <a:endParaRPr sz="4000">
              <a:solidFill>
                <a:srgbClr val="00A1CC"/>
              </a:solidFill>
              <a:latin typeface="Avenir"/>
              <a:ea typeface="Avenir"/>
              <a:cs typeface="Avenir"/>
              <a:sym typeface="Avenir"/>
            </a:endParaRPr>
          </a:p>
        </p:txBody>
      </p:sp>
      <p:pic>
        <p:nvPicPr>
          <p:cNvPr id="172" name="Google Shape;172;p36"/>
          <p:cNvPicPr preferRelativeResize="0"/>
          <p:nvPr/>
        </p:nvPicPr>
        <p:blipFill rotWithShape="1">
          <a:blip r:embed="rId3">
            <a:alphaModFix/>
          </a:blip>
          <a:srcRect b="16852" l="17279" r="17272" t="17501"/>
          <a:stretch/>
        </p:blipFill>
        <p:spPr>
          <a:xfrm>
            <a:off x="10403933" y="5040800"/>
            <a:ext cx="1373633" cy="1377833"/>
          </a:xfrm>
          <a:prstGeom prst="rect">
            <a:avLst/>
          </a:prstGeom>
          <a:noFill/>
          <a:ln>
            <a:noFill/>
          </a:ln>
        </p:spPr>
      </p:pic>
      <p:sp>
        <p:nvSpPr>
          <p:cNvPr id="173" name="Google Shape;173;p36"/>
          <p:cNvSpPr txBox="1"/>
          <p:nvPr/>
        </p:nvSpPr>
        <p:spPr>
          <a:xfrm>
            <a:off x="918750" y="1531208"/>
            <a:ext cx="10354500" cy="3776100"/>
          </a:xfrm>
          <a:prstGeom prst="rect">
            <a:avLst/>
          </a:prstGeom>
          <a:noFill/>
          <a:ln>
            <a:noFill/>
          </a:ln>
        </p:spPr>
        <p:txBody>
          <a:bodyPr anchorCtr="0" anchor="ctr" bIns="121900" lIns="121900" spcFirstLastPara="1" rIns="121900" wrap="square" tIns="121900">
            <a:spAutoFit/>
          </a:bodyPr>
          <a:lstStyle/>
          <a:p>
            <a:pPr indent="-508000" lvl="0" marL="609600" rtl="0" algn="l">
              <a:lnSpc>
                <a:spcPct val="115000"/>
              </a:lnSpc>
              <a:spcBef>
                <a:spcPts val="0"/>
              </a:spcBef>
              <a:spcAft>
                <a:spcPts val="0"/>
              </a:spcAft>
              <a:buClr>
                <a:srgbClr val="6AA84F"/>
              </a:buClr>
              <a:buSzPts val="3200"/>
              <a:buFont typeface="Avenir"/>
              <a:buChar char="✓"/>
            </a:pPr>
            <a:r>
              <a:rPr lang="en-US" sz="3200">
                <a:solidFill>
                  <a:srgbClr val="666666"/>
                </a:solidFill>
                <a:highlight>
                  <a:srgbClr val="FFFFFF"/>
                </a:highlight>
                <a:latin typeface="Avenir"/>
                <a:ea typeface="Avenir"/>
                <a:cs typeface="Avenir"/>
                <a:sym typeface="Avenir"/>
              </a:rPr>
              <a:t>Significant SEMH need and/or losing learning</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AA84F"/>
              </a:buClr>
              <a:buSzPts val="3200"/>
              <a:buFont typeface="Avenir"/>
              <a:buChar char="✓"/>
            </a:pPr>
            <a:r>
              <a:rPr lang="en-US" sz="3200">
                <a:solidFill>
                  <a:srgbClr val="666666"/>
                </a:solidFill>
                <a:highlight>
                  <a:srgbClr val="FFFFFF"/>
                </a:highlight>
                <a:latin typeface="Avenir"/>
                <a:ea typeface="Avenir"/>
                <a:cs typeface="Avenir"/>
                <a:sym typeface="Avenir"/>
              </a:rPr>
              <a:t>Appropriate stage on graduated response</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AA84F"/>
              </a:buClr>
              <a:buSzPts val="3200"/>
              <a:buFont typeface="Avenir"/>
              <a:buChar char="✓"/>
            </a:pPr>
            <a:r>
              <a:rPr lang="en-US" sz="3200">
                <a:solidFill>
                  <a:srgbClr val="666666"/>
                </a:solidFill>
                <a:highlight>
                  <a:srgbClr val="FFFFFF"/>
                </a:highlight>
                <a:latin typeface="Avenir"/>
                <a:ea typeface="Avenir"/>
                <a:cs typeface="Avenir"/>
                <a:sym typeface="Avenir"/>
              </a:rPr>
              <a:t>Rigorous assessment → bespoke provision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AA84F"/>
              </a:buClr>
              <a:buSzPts val="3200"/>
              <a:buFont typeface="Avenir"/>
              <a:buChar char="✓"/>
            </a:pPr>
            <a:r>
              <a:rPr lang="en-US" sz="3200">
                <a:solidFill>
                  <a:srgbClr val="666666"/>
                </a:solidFill>
                <a:highlight>
                  <a:srgbClr val="FFFFFF"/>
                </a:highlight>
                <a:latin typeface="Avenir"/>
                <a:ea typeface="Avenir"/>
                <a:cs typeface="Avenir"/>
                <a:sym typeface="Avenir"/>
              </a:rPr>
              <a:t>Secure relationships with pupils and families</a:t>
            </a:r>
            <a:endParaRPr sz="3200">
              <a:solidFill>
                <a:srgbClr val="666666"/>
              </a:solidFill>
              <a:highlight>
                <a:srgbClr val="FFFFFF"/>
              </a:highlight>
              <a:latin typeface="Avenir"/>
              <a:ea typeface="Avenir"/>
              <a:cs typeface="Avenir"/>
              <a:sym typeface="Avenir"/>
            </a:endParaRPr>
          </a:p>
          <a:p>
            <a:pPr indent="0" lvl="0" marL="0" rtl="0" algn="ctr">
              <a:lnSpc>
                <a:spcPct val="115000"/>
              </a:lnSpc>
              <a:spcBef>
                <a:spcPts val="1600"/>
              </a:spcBef>
              <a:spcAft>
                <a:spcPts val="0"/>
              </a:spcAft>
              <a:buNone/>
            </a:pPr>
            <a:r>
              <a:rPr lang="en-US" sz="3200">
                <a:solidFill>
                  <a:srgbClr val="666666"/>
                </a:solidFill>
                <a:highlight>
                  <a:srgbClr val="FFFFFF"/>
                </a:highlight>
                <a:latin typeface="Avenir"/>
                <a:ea typeface="Avenir"/>
                <a:cs typeface="Avenir"/>
                <a:sym typeface="Avenir"/>
              </a:rPr>
              <a:t>↓</a:t>
            </a:r>
            <a:endParaRPr sz="3200">
              <a:solidFill>
                <a:srgbClr val="666666"/>
              </a:solidFill>
              <a:highlight>
                <a:srgbClr val="FFFFFF"/>
              </a:highlight>
              <a:latin typeface="Avenir"/>
              <a:ea typeface="Avenir"/>
              <a:cs typeface="Avenir"/>
              <a:sym typeface="Avenir"/>
            </a:endParaRPr>
          </a:p>
          <a:p>
            <a:pPr indent="0" lvl="0" marL="0" rtl="0" algn="ctr">
              <a:lnSpc>
                <a:spcPct val="115000"/>
              </a:lnSpc>
              <a:spcBef>
                <a:spcPts val="0"/>
              </a:spcBef>
              <a:spcAft>
                <a:spcPts val="0"/>
              </a:spcAft>
              <a:buNone/>
            </a:pPr>
            <a:r>
              <a:rPr lang="en-US" sz="3200">
                <a:solidFill>
                  <a:srgbClr val="666666"/>
                </a:solidFill>
                <a:highlight>
                  <a:srgbClr val="FFFFFF"/>
                </a:highlight>
                <a:latin typeface="Pacifico"/>
                <a:ea typeface="Pacifico"/>
                <a:cs typeface="Pacifico"/>
                <a:sym typeface="Pacifico"/>
              </a:rPr>
              <a:t>Reintegration back to Main School Lessons</a:t>
            </a:r>
            <a:endParaRPr sz="3200">
              <a:solidFill>
                <a:srgbClr val="666666"/>
              </a:solidFill>
              <a:highlight>
                <a:srgbClr val="FFFFFF"/>
              </a:highlight>
              <a:latin typeface="Pacifico"/>
              <a:ea typeface="Pacifico"/>
              <a:cs typeface="Pacifico"/>
              <a:sym typeface="Pacific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10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Effect filter="fade" transition="in">
                                      <p:cBhvr>
                                        <p:cTn dur="1000"/>
                                        <p:tgtEl>
                                          <p:spTgt spid="1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animEffect filter="fade" transition="in">
                                      <p:cBhvr>
                                        <p:cTn dur="1000"/>
                                        <p:tgtEl>
                                          <p:spTgt spid="1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animEffect filter="fade" transition="in">
                                      <p:cBhvr>
                                        <p:cTn dur="1000"/>
                                        <p:tgtEl>
                                          <p:spTgt spid="1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animEffect filter="fade" transition="in">
                                      <p:cBhvr>
                                        <p:cTn dur="1000"/>
                                        <p:tgtEl>
                                          <p:spTgt spid="1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animEffect filter="fade" transition="in">
                                      <p:cBhvr>
                                        <p:cTn dur="1000"/>
                                        <p:tgtEl>
                                          <p:spTgt spid="17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37"/>
          <p:cNvSpPr txBox="1"/>
          <p:nvPr>
            <p:ph idx="1" type="subTitle"/>
          </p:nvPr>
        </p:nvSpPr>
        <p:spPr>
          <a:xfrm>
            <a:off x="317967" y="180200"/>
            <a:ext cx="4916700" cy="1569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Neurosequential </a:t>
            </a:r>
            <a:endParaRPr sz="40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Approach</a:t>
            </a:r>
            <a:endParaRPr sz="4000">
              <a:solidFill>
                <a:srgbClr val="00A1CC"/>
              </a:solidFill>
              <a:latin typeface="Avenir"/>
              <a:ea typeface="Avenir"/>
              <a:cs typeface="Avenir"/>
              <a:sym typeface="Avenir"/>
            </a:endParaRPr>
          </a:p>
        </p:txBody>
      </p:sp>
      <p:sp>
        <p:nvSpPr>
          <p:cNvPr id="179" name="Google Shape;179;p37"/>
          <p:cNvSpPr/>
          <p:nvPr/>
        </p:nvSpPr>
        <p:spPr>
          <a:xfrm>
            <a:off x="5873333" y="1337167"/>
            <a:ext cx="4243200" cy="4938000"/>
          </a:xfrm>
          <a:prstGeom prst="upArrow">
            <a:avLst>
              <a:gd fmla="val 50000" name="adj1"/>
              <a:gd fmla="val 50000" name="adj2"/>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180" name="Google Shape;180;p37"/>
          <p:cNvPicPr preferRelativeResize="0"/>
          <p:nvPr/>
        </p:nvPicPr>
        <p:blipFill rotWithShape="1">
          <a:blip r:embed="rId3">
            <a:alphaModFix/>
          </a:blip>
          <a:srcRect b="46587" l="0" r="69103" t="0"/>
          <a:stretch/>
        </p:blipFill>
        <p:spPr>
          <a:xfrm>
            <a:off x="9740733" y="4568167"/>
            <a:ext cx="2184400" cy="2286000"/>
          </a:xfrm>
          <a:prstGeom prst="rect">
            <a:avLst/>
          </a:prstGeom>
          <a:noFill/>
          <a:ln>
            <a:noFill/>
          </a:ln>
        </p:spPr>
      </p:pic>
      <p:pic>
        <p:nvPicPr>
          <p:cNvPr id="181" name="Google Shape;181;p37"/>
          <p:cNvPicPr preferRelativeResize="0"/>
          <p:nvPr/>
        </p:nvPicPr>
        <p:blipFill rotWithShape="1">
          <a:blip r:embed="rId3">
            <a:alphaModFix/>
          </a:blip>
          <a:srcRect b="46587" l="34136" r="34136" t="0"/>
          <a:stretch/>
        </p:blipFill>
        <p:spPr>
          <a:xfrm>
            <a:off x="9708967" y="2289833"/>
            <a:ext cx="2247900" cy="2286000"/>
          </a:xfrm>
          <a:prstGeom prst="rect">
            <a:avLst/>
          </a:prstGeom>
          <a:noFill/>
          <a:ln>
            <a:noFill/>
          </a:ln>
        </p:spPr>
      </p:pic>
      <p:pic>
        <p:nvPicPr>
          <p:cNvPr id="182" name="Google Shape;182;p37"/>
          <p:cNvPicPr preferRelativeResize="0"/>
          <p:nvPr/>
        </p:nvPicPr>
        <p:blipFill rotWithShape="1">
          <a:blip r:embed="rId3">
            <a:alphaModFix/>
          </a:blip>
          <a:srcRect b="46587" l="68272" r="0" t="0"/>
          <a:stretch/>
        </p:blipFill>
        <p:spPr>
          <a:xfrm>
            <a:off x="9708983" y="3833"/>
            <a:ext cx="2247900" cy="2286000"/>
          </a:xfrm>
          <a:prstGeom prst="rect">
            <a:avLst/>
          </a:prstGeom>
          <a:noFill/>
          <a:ln>
            <a:noFill/>
          </a:ln>
        </p:spPr>
      </p:pic>
      <p:sp>
        <p:nvSpPr>
          <p:cNvPr id="183" name="Google Shape;183;p37"/>
          <p:cNvSpPr txBox="1"/>
          <p:nvPr/>
        </p:nvSpPr>
        <p:spPr>
          <a:xfrm>
            <a:off x="6902733" y="4427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38761D"/>
                </a:solidFill>
                <a:latin typeface="Avenir"/>
                <a:ea typeface="Avenir"/>
                <a:cs typeface="Avenir"/>
                <a:sym typeface="Avenir"/>
              </a:rPr>
              <a:t>Reason</a:t>
            </a:r>
            <a:endParaRPr b="1" sz="3700">
              <a:solidFill>
                <a:srgbClr val="38761D"/>
              </a:solidFill>
              <a:latin typeface="Avenir"/>
              <a:ea typeface="Avenir"/>
              <a:cs typeface="Avenir"/>
              <a:sym typeface="Avenir"/>
            </a:endParaRPr>
          </a:p>
        </p:txBody>
      </p:sp>
      <p:sp>
        <p:nvSpPr>
          <p:cNvPr id="184" name="Google Shape;184;p37"/>
          <p:cNvSpPr txBox="1"/>
          <p:nvPr/>
        </p:nvSpPr>
        <p:spPr>
          <a:xfrm>
            <a:off x="6902733" y="2865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073763"/>
                </a:solidFill>
                <a:latin typeface="Avenir"/>
                <a:ea typeface="Avenir"/>
                <a:cs typeface="Avenir"/>
                <a:sym typeface="Avenir"/>
              </a:rPr>
              <a:t>Relate</a:t>
            </a:r>
            <a:endParaRPr b="1" sz="3700">
              <a:solidFill>
                <a:srgbClr val="073763"/>
              </a:solidFill>
              <a:latin typeface="Avenir"/>
              <a:ea typeface="Avenir"/>
              <a:cs typeface="Avenir"/>
              <a:sym typeface="Avenir"/>
            </a:endParaRPr>
          </a:p>
        </p:txBody>
      </p:sp>
      <p:sp>
        <p:nvSpPr>
          <p:cNvPr id="185" name="Google Shape;185;p37"/>
          <p:cNvSpPr txBox="1"/>
          <p:nvPr/>
        </p:nvSpPr>
        <p:spPr>
          <a:xfrm>
            <a:off x="6902733" y="5147967"/>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CC0000"/>
                </a:solidFill>
                <a:latin typeface="Avenir"/>
                <a:ea typeface="Avenir"/>
                <a:cs typeface="Avenir"/>
                <a:sym typeface="Avenir"/>
              </a:rPr>
              <a:t>Regulate</a:t>
            </a:r>
            <a:endParaRPr b="1" sz="3700">
              <a:solidFill>
                <a:srgbClr val="CC0000"/>
              </a:solidFill>
              <a:latin typeface="Avenir"/>
              <a:ea typeface="Avenir"/>
              <a:cs typeface="Avenir"/>
              <a:sym typeface="Avenir"/>
            </a:endParaRPr>
          </a:p>
        </p:txBody>
      </p:sp>
      <p:pic>
        <p:nvPicPr>
          <p:cNvPr id="186" name="Google Shape;186;p37"/>
          <p:cNvPicPr preferRelativeResize="0"/>
          <p:nvPr/>
        </p:nvPicPr>
        <p:blipFill rotWithShape="1">
          <a:blip r:embed="rId4">
            <a:alphaModFix/>
          </a:blip>
          <a:srcRect b="16852" l="17279" r="17272" t="17501"/>
          <a:stretch/>
        </p:blipFill>
        <p:spPr>
          <a:xfrm>
            <a:off x="800403" y="4557200"/>
            <a:ext cx="1587100" cy="15919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38"/>
          <p:cNvSpPr txBox="1"/>
          <p:nvPr>
            <p:ph idx="1" type="subTitle"/>
          </p:nvPr>
        </p:nvSpPr>
        <p:spPr>
          <a:xfrm>
            <a:off x="1472575" y="1897625"/>
            <a:ext cx="8529600" cy="41373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Attendance</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Suspensions / Exclusions</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SEMH Progress</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Academic Progress</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Reintegrations</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GCSEs / Qualifications / CV</a:t>
            </a:r>
            <a:endParaRPr sz="3200">
              <a:solidFill>
                <a:srgbClr val="565A5C"/>
              </a:solidFill>
              <a:highlight>
                <a:schemeClr val="lt1"/>
              </a:highlight>
              <a:latin typeface="Avenir"/>
              <a:ea typeface="Avenir"/>
              <a:cs typeface="Avenir"/>
              <a:sym typeface="Avenir"/>
            </a:endParaRPr>
          </a:p>
          <a:p>
            <a:pPr indent="-508000" lvl="0" marL="609600" rtl="0" algn="l">
              <a:lnSpc>
                <a:spcPct val="115000"/>
              </a:lnSpc>
              <a:spcBef>
                <a:spcPts val="0"/>
              </a:spcBef>
              <a:spcAft>
                <a:spcPts val="0"/>
              </a:spcAft>
              <a:buClr>
                <a:srgbClr val="565A5C"/>
              </a:buClr>
              <a:buSzPts val="3200"/>
              <a:buFont typeface="Avenir"/>
              <a:buChar char="●"/>
            </a:pPr>
            <a:r>
              <a:rPr lang="en-US" sz="3200">
                <a:solidFill>
                  <a:srgbClr val="565A5C"/>
                </a:solidFill>
                <a:highlight>
                  <a:schemeClr val="lt1"/>
                </a:highlight>
                <a:latin typeface="Avenir"/>
                <a:ea typeface="Avenir"/>
                <a:cs typeface="Avenir"/>
                <a:sym typeface="Avenir"/>
              </a:rPr>
              <a:t>Post-16 Destinations</a:t>
            </a:r>
            <a:endParaRPr sz="3200">
              <a:solidFill>
                <a:srgbClr val="565A5C"/>
              </a:solidFill>
              <a:highlight>
                <a:schemeClr val="lt1"/>
              </a:highlight>
              <a:latin typeface="Avenir"/>
              <a:ea typeface="Avenir"/>
              <a:cs typeface="Avenir"/>
              <a:sym typeface="Avenir"/>
            </a:endParaRPr>
          </a:p>
        </p:txBody>
      </p:sp>
      <p:sp>
        <p:nvSpPr>
          <p:cNvPr id="192" name="Google Shape;192;p38"/>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Impact: </a:t>
            </a:r>
            <a:r>
              <a:rPr i="1" lang="en-US" sz="4000">
                <a:solidFill>
                  <a:srgbClr val="00A1CC"/>
                </a:solidFill>
                <a:latin typeface="Avenir"/>
                <a:ea typeface="Avenir"/>
                <a:cs typeface="Avenir"/>
                <a:sym typeface="Avenir"/>
              </a:rPr>
              <a:t>Reintegrated </a:t>
            </a:r>
            <a:r>
              <a:rPr lang="en-US" sz="4000">
                <a:solidFill>
                  <a:srgbClr val="00A1CC"/>
                </a:solidFill>
                <a:latin typeface="Avenir"/>
                <a:ea typeface="Avenir"/>
                <a:cs typeface="Avenir"/>
                <a:sym typeface="Avenir"/>
              </a:rPr>
              <a:t>or </a:t>
            </a:r>
            <a:r>
              <a:rPr i="1" lang="en-US" sz="4000">
                <a:solidFill>
                  <a:srgbClr val="00A1CC"/>
                </a:solidFill>
                <a:latin typeface="Avenir"/>
                <a:ea typeface="Avenir"/>
                <a:cs typeface="Avenir"/>
                <a:sym typeface="Avenir"/>
              </a:rPr>
              <a:t>ISAP </a:t>
            </a:r>
            <a:r>
              <a:rPr lang="en-US" sz="4000">
                <a:solidFill>
                  <a:srgbClr val="00A1CC"/>
                </a:solidFill>
                <a:latin typeface="Avenir"/>
                <a:ea typeface="Avenir"/>
                <a:cs typeface="Avenir"/>
                <a:sym typeface="Avenir"/>
              </a:rPr>
              <a:t>Students</a:t>
            </a:r>
            <a:endParaRPr i="1" sz="4000">
              <a:solidFill>
                <a:srgbClr val="00A1CC"/>
              </a:solidFill>
              <a:latin typeface="Avenir"/>
              <a:ea typeface="Avenir"/>
              <a:cs typeface="Avenir"/>
              <a:sym typeface="Avenir"/>
            </a:endParaRPr>
          </a:p>
        </p:txBody>
      </p:sp>
      <p:pic>
        <p:nvPicPr>
          <p:cNvPr id="193" name="Google Shape;193;p38"/>
          <p:cNvPicPr preferRelativeResize="0"/>
          <p:nvPr/>
        </p:nvPicPr>
        <p:blipFill rotWithShape="1">
          <a:blip r:embed="rId3">
            <a:alphaModFix/>
          </a:blip>
          <a:srcRect b="16852" l="17279" r="17272" t="17501"/>
          <a:stretch/>
        </p:blipFill>
        <p:spPr>
          <a:xfrm>
            <a:off x="10403933" y="5040800"/>
            <a:ext cx="1373633" cy="13778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pic>
        <p:nvPicPr>
          <p:cNvPr id="198" name="Google Shape;198;p39"/>
          <p:cNvPicPr preferRelativeResize="0"/>
          <p:nvPr/>
        </p:nvPicPr>
        <p:blipFill>
          <a:blip r:embed="rId3">
            <a:alphaModFix/>
          </a:blip>
          <a:stretch>
            <a:fillRect/>
          </a:stretch>
        </p:blipFill>
        <p:spPr>
          <a:xfrm>
            <a:off x="7442825" y="1470000"/>
            <a:ext cx="4334741" cy="2584099"/>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pic>
      <p:sp>
        <p:nvSpPr>
          <p:cNvPr id="199" name="Google Shape;199;p39"/>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Bridge</a:t>
            </a:r>
            <a:r>
              <a:rPr lang="en-US" sz="4000">
                <a:solidFill>
                  <a:srgbClr val="00A1CC"/>
                </a:solidFill>
                <a:latin typeface="Avenir"/>
                <a:ea typeface="Avenir"/>
                <a:cs typeface="Avenir"/>
                <a:sym typeface="Avenir"/>
              </a:rPr>
              <a:t> Headlines: 2025-2026</a:t>
            </a:r>
            <a:endParaRPr i="1" sz="4000">
              <a:solidFill>
                <a:srgbClr val="00A1CC"/>
              </a:solidFill>
              <a:latin typeface="Avenir"/>
              <a:ea typeface="Avenir"/>
              <a:cs typeface="Avenir"/>
              <a:sym typeface="Avenir"/>
            </a:endParaRPr>
          </a:p>
        </p:txBody>
      </p:sp>
      <p:sp>
        <p:nvSpPr>
          <p:cNvPr id="200" name="Google Shape;200;p39"/>
          <p:cNvSpPr txBox="1"/>
          <p:nvPr>
            <p:ph idx="1" type="subTitle"/>
          </p:nvPr>
        </p:nvSpPr>
        <p:spPr>
          <a:xfrm>
            <a:off x="918800" y="2974765"/>
            <a:ext cx="8590800" cy="30045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Students: 27</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Attendance Impact: </a:t>
            </a:r>
            <a:r>
              <a:rPr b="1" lang="en-US" sz="3200">
                <a:solidFill>
                  <a:srgbClr val="93C47D"/>
                </a:solidFill>
                <a:highlight>
                  <a:srgbClr val="FFFFFF"/>
                </a:highlight>
                <a:latin typeface="Avenir"/>
                <a:ea typeface="Avenir"/>
                <a:cs typeface="Avenir"/>
                <a:sym typeface="Avenir"/>
              </a:rPr>
              <a:t>28.69</a:t>
            </a:r>
            <a:r>
              <a:rPr b="1" lang="en-US" sz="3200">
                <a:solidFill>
                  <a:srgbClr val="93C47D"/>
                </a:solidFill>
                <a:highlight>
                  <a:srgbClr val="FFFFFF"/>
                </a:highlight>
                <a:latin typeface="Avenir"/>
                <a:ea typeface="Avenir"/>
                <a:cs typeface="Avenir"/>
                <a:sym typeface="Avenir"/>
              </a:rPr>
              <a:t>%</a:t>
            </a:r>
            <a:endParaRPr b="1" sz="3200">
              <a:solidFill>
                <a:srgbClr val="93C47D"/>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Reintegrations: </a:t>
            </a:r>
            <a:r>
              <a:rPr b="1" lang="en-US" sz="3200">
                <a:solidFill>
                  <a:srgbClr val="93C47D"/>
                </a:solidFill>
                <a:highlight>
                  <a:srgbClr val="FFFFFF"/>
                </a:highlight>
                <a:latin typeface="Avenir"/>
                <a:ea typeface="Avenir"/>
                <a:cs typeface="Avenir"/>
                <a:sym typeface="Avenir"/>
              </a:rPr>
              <a:t>25</a:t>
            </a:r>
            <a:r>
              <a:rPr b="1" lang="en-US" sz="3200">
                <a:solidFill>
                  <a:srgbClr val="93C47D"/>
                </a:solidFill>
                <a:highlight>
                  <a:srgbClr val="FFFFFF"/>
                </a:highlight>
                <a:latin typeface="Avenir"/>
                <a:ea typeface="Avenir"/>
                <a:cs typeface="Avenir"/>
                <a:sym typeface="Avenir"/>
              </a:rPr>
              <a:t>.0%</a:t>
            </a:r>
            <a:endParaRPr b="1" sz="3200">
              <a:solidFill>
                <a:srgbClr val="93C47D"/>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Suspensions: </a:t>
            </a:r>
            <a:r>
              <a:rPr b="1" lang="en-US" sz="3200">
                <a:solidFill>
                  <a:srgbClr val="93C47D"/>
                </a:solidFill>
                <a:highlight>
                  <a:srgbClr val="FFFFFF"/>
                </a:highlight>
                <a:latin typeface="Avenir"/>
                <a:ea typeface="Avenir"/>
                <a:cs typeface="Avenir"/>
                <a:sym typeface="Avenir"/>
              </a:rPr>
              <a:t>-84.14%</a:t>
            </a:r>
            <a:endParaRPr b="1" sz="3200">
              <a:solidFill>
                <a:srgbClr val="93C47D"/>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Lost Learning: </a:t>
            </a:r>
            <a:r>
              <a:rPr b="1" lang="en-US" sz="3200">
                <a:solidFill>
                  <a:srgbClr val="93C47D"/>
                </a:solidFill>
                <a:highlight>
                  <a:srgbClr val="FFFFFF"/>
                </a:highlight>
                <a:latin typeface="Avenir"/>
                <a:ea typeface="Avenir"/>
                <a:cs typeface="Avenir"/>
                <a:sym typeface="Avenir"/>
              </a:rPr>
              <a:t>2 Years!</a:t>
            </a:r>
            <a:endParaRPr b="1" sz="3200">
              <a:solidFill>
                <a:srgbClr val="93C47D"/>
              </a:solidFill>
              <a:highlight>
                <a:srgbClr val="FFFFFF"/>
              </a:highlight>
              <a:latin typeface="Avenir"/>
              <a:ea typeface="Avenir"/>
              <a:cs typeface="Avenir"/>
              <a:sym typeface="Avenir"/>
            </a:endParaRPr>
          </a:p>
        </p:txBody>
      </p:sp>
      <p:pic>
        <p:nvPicPr>
          <p:cNvPr id="201" name="Google Shape;201;p39"/>
          <p:cNvPicPr preferRelativeResize="0"/>
          <p:nvPr/>
        </p:nvPicPr>
        <p:blipFill rotWithShape="1">
          <a:blip r:embed="rId4">
            <a:alphaModFix/>
          </a:blip>
          <a:srcRect b="16852" l="17279" r="17272" t="17501"/>
          <a:stretch/>
        </p:blipFill>
        <p:spPr>
          <a:xfrm>
            <a:off x="10403933" y="5040800"/>
            <a:ext cx="1373633" cy="13778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1000"/>
                                        <p:tgtEl>
                                          <p:spTgt spid="2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1000"/>
                                        <p:tgtEl>
                                          <p:spTgt spid="2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Effect filter="fade" transition="in">
                                      <p:cBhvr>
                                        <p:cTn dur="1000"/>
                                        <p:tgtEl>
                                          <p:spTgt spid="2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Effect filter="fade" transition="in">
                                      <p:cBhvr>
                                        <p:cTn dur="1000"/>
                                        <p:tgtEl>
                                          <p:spTgt spid="2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Effect filter="fade" transition="in">
                                      <p:cBhvr>
                                        <p:cTn dur="1000"/>
                                        <p:tgtEl>
                                          <p:spTgt spid="20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40"/>
          <p:cNvSpPr txBox="1"/>
          <p:nvPr>
            <p:ph idx="1" type="subTitle"/>
          </p:nvPr>
        </p:nvSpPr>
        <p:spPr>
          <a:xfrm>
            <a:off x="317975" y="305475"/>
            <a:ext cx="3678600" cy="2277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Reintegration takes many forms!</a:t>
            </a:r>
            <a:endParaRPr i="1" sz="4000">
              <a:solidFill>
                <a:srgbClr val="00A1CC"/>
              </a:solidFill>
              <a:latin typeface="Avenir"/>
              <a:ea typeface="Avenir"/>
              <a:cs typeface="Avenir"/>
              <a:sym typeface="Avenir"/>
            </a:endParaRPr>
          </a:p>
        </p:txBody>
      </p:sp>
      <p:pic>
        <p:nvPicPr>
          <p:cNvPr id="207" name="Google Shape;207;p40"/>
          <p:cNvPicPr preferRelativeResize="0"/>
          <p:nvPr/>
        </p:nvPicPr>
        <p:blipFill rotWithShape="1">
          <a:blip r:embed="rId3">
            <a:alphaModFix/>
          </a:blip>
          <a:srcRect b="4031" l="0" r="0" t="0"/>
          <a:stretch/>
        </p:blipFill>
        <p:spPr>
          <a:xfrm>
            <a:off x="5534410" y="0"/>
            <a:ext cx="6657589" cy="6858000"/>
          </a:xfrm>
          <a:prstGeom prst="rect">
            <a:avLst/>
          </a:prstGeom>
          <a:noFill/>
          <a:ln>
            <a:noFill/>
          </a:ln>
        </p:spPr>
      </p:pic>
      <p:sp>
        <p:nvSpPr>
          <p:cNvPr id="208" name="Google Shape;208;p40"/>
          <p:cNvSpPr txBox="1"/>
          <p:nvPr>
            <p:ph idx="1" type="subTitle"/>
          </p:nvPr>
        </p:nvSpPr>
        <p:spPr>
          <a:xfrm>
            <a:off x="206400" y="5851125"/>
            <a:ext cx="4482600" cy="841800"/>
          </a:xfrm>
          <a:prstGeom prst="rect">
            <a:avLst/>
          </a:prstGeom>
        </p:spPr>
        <p:txBody>
          <a:bodyPr anchorCtr="0" anchor="ctr" bIns="121900" lIns="121900" spcFirstLastPara="1" rIns="121900" wrap="square" tIns="121900">
            <a:spAutoFit/>
          </a:bodyPr>
          <a:lstStyle/>
          <a:p>
            <a:pPr indent="0" lvl="0" marL="0" rtl="0" algn="l">
              <a:lnSpc>
                <a:spcPct val="115000"/>
              </a:lnSpc>
              <a:spcBef>
                <a:spcPts val="2400"/>
              </a:spcBef>
              <a:spcAft>
                <a:spcPts val="0"/>
              </a:spcAft>
              <a:buNone/>
            </a:pPr>
            <a:r>
              <a:rPr lang="en-US" sz="1800">
                <a:solidFill>
                  <a:srgbClr val="666666"/>
                </a:solidFill>
                <a:highlight>
                  <a:srgbClr val="FFFFFF"/>
                </a:highlight>
                <a:latin typeface="Avenir"/>
                <a:ea typeface="Avenir"/>
                <a:cs typeface="Avenir"/>
                <a:sym typeface="Avenir"/>
              </a:rPr>
              <a:t>Source: Who’s Losing Learning Report, The Difference (2024)</a:t>
            </a:r>
            <a:endParaRPr sz="1800">
              <a:solidFill>
                <a:srgbClr val="666666"/>
              </a:solidFill>
              <a:highlight>
                <a:srgbClr val="FFFFFF"/>
              </a:highlight>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41"/>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Session Outline</a:t>
            </a:r>
            <a:endParaRPr i="1" sz="4000">
              <a:solidFill>
                <a:srgbClr val="00A1CC"/>
              </a:solidFill>
              <a:latin typeface="Avenir"/>
              <a:ea typeface="Avenir"/>
              <a:cs typeface="Avenir"/>
              <a:sym typeface="Avenir"/>
            </a:endParaRPr>
          </a:p>
        </p:txBody>
      </p:sp>
      <p:sp>
        <p:nvSpPr>
          <p:cNvPr id="214" name="Google Shape;214;p41"/>
          <p:cNvSpPr txBox="1"/>
          <p:nvPr>
            <p:ph idx="1" type="subTitle"/>
          </p:nvPr>
        </p:nvSpPr>
        <p:spPr>
          <a:xfrm>
            <a:off x="918800" y="1470000"/>
            <a:ext cx="8590800" cy="18717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Why ISAPs? Why Reintegration?</a:t>
            </a:r>
            <a:endParaRPr sz="3200">
              <a:solidFill>
                <a:srgbClr val="F3F3F3"/>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The ‘How-To’ of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Barriers, Challenges and Solutions</a:t>
            </a:r>
            <a:endParaRPr sz="3200">
              <a:solidFill>
                <a:srgbClr val="F3F3F3"/>
              </a:solidFill>
              <a:highlight>
                <a:srgbClr val="FFFFFF"/>
              </a:highlight>
              <a:latin typeface="Avenir"/>
              <a:ea typeface="Avenir"/>
              <a:cs typeface="Avenir"/>
              <a:sym typeface="Avenir"/>
            </a:endParaRPr>
          </a:p>
        </p:txBody>
      </p:sp>
      <p:pic>
        <p:nvPicPr>
          <p:cNvPr id="215" name="Google Shape;215;p41"/>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42"/>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Example: </a:t>
            </a:r>
            <a:r>
              <a:rPr lang="en-US" sz="4000">
                <a:solidFill>
                  <a:srgbClr val="00A1CC"/>
                </a:solidFill>
                <a:latin typeface="Avenir"/>
                <a:ea typeface="Avenir"/>
                <a:cs typeface="Avenir"/>
                <a:sym typeface="Avenir"/>
              </a:rPr>
              <a:t>ISAP Reintegration</a:t>
            </a:r>
            <a:endParaRPr i="1" sz="4000">
              <a:solidFill>
                <a:srgbClr val="00A1CC"/>
              </a:solidFill>
              <a:latin typeface="Avenir"/>
              <a:ea typeface="Avenir"/>
              <a:cs typeface="Avenir"/>
              <a:sym typeface="Avenir"/>
            </a:endParaRPr>
          </a:p>
        </p:txBody>
      </p:sp>
      <p:sp>
        <p:nvSpPr>
          <p:cNvPr id="221" name="Google Shape;221;p42"/>
          <p:cNvSpPr txBox="1"/>
          <p:nvPr>
            <p:ph idx="1" type="subTitle"/>
          </p:nvPr>
        </p:nvSpPr>
        <p:spPr>
          <a:xfrm>
            <a:off x="918750" y="2095858"/>
            <a:ext cx="10354500" cy="3694200"/>
          </a:xfrm>
          <a:prstGeom prst="rect">
            <a:avLst/>
          </a:prstGeom>
        </p:spPr>
        <p:txBody>
          <a:bodyPr anchorCtr="0" anchor="ctr" bIns="121900" lIns="121900" spcFirstLastPara="1" rIns="121900" wrap="square" tIns="121900">
            <a:spAutoFit/>
          </a:bodyPr>
          <a:lstStyle/>
          <a:p>
            <a:pPr indent="0" lvl="0" marL="609600" rtl="0" algn="ctr">
              <a:lnSpc>
                <a:spcPct val="100000"/>
              </a:lnSpc>
              <a:spcBef>
                <a:spcPts val="0"/>
              </a:spcBef>
              <a:spcAft>
                <a:spcPts val="0"/>
              </a:spcAft>
              <a:buNone/>
            </a:pPr>
            <a:r>
              <a:rPr lang="en-US" sz="3200">
                <a:solidFill>
                  <a:srgbClr val="666666"/>
                </a:solidFill>
                <a:highlight>
                  <a:schemeClr val="lt1"/>
                </a:highlight>
                <a:latin typeface="Avenir"/>
                <a:ea typeface="Avenir"/>
                <a:cs typeface="Avenir"/>
                <a:sym typeface="Avenir"/>
              </a:rPr>
              <a:t>Inclusion Panel (SLT / SENCO / ISAP)</a:t>
            </a:r>
            <a:endParaRPr sz="3200">
              <a:solidFill>
                <a:srgbClr val="666666"/>
              </a:solidFill>
              <a:highlight>
                <a:schemeClr val="lt1"/>
              </a:highlight>
              <a:latin typeface="Avenir"/>
              <a:ea typeface="Avenir"/>
              <a:cs typeface="Avenir"/>
              <a:sym typeface="Avenir"/>
            </a:endParaRPr>
          </a:p>
          <a:p>
            <a:pPr indent="-508000" lvl="0" marL="609600" rtl="0" algn="ctr">
              <a:lnSpc>
                <a:spcPct val="100000"/>
              </a:lnSpc>
              <a:spcBef>
                <a:spcPts val="0"/>
              </a:spcBef>
              <a:spcAft>
                <a:spcPts val="0"/>
              </a:spcAft>
              <a:buClr>
                <a:srgbClr val="6AA84F"/>
              </a:buClr>
              <a:buSzPts val="3200"/>
              <a:buFont typeface="Avenir"/>
              <a:buChar char="↓"/>
            </a:pPr>
            <a:r>
              <a:t/>
            </a:r>
            <a:endParaRPr sz="3200">
              <a:solidFill>
                <a:srgbClr val="666666"/>
              </a:solidFill>
              <a:highlight>
                <a:schemeClr val="lt1"/>
              </a:highlight>
              <a:latin typeface="Avenir"/>
              <a:ea typeface="Avenir"/>
              <a:cs typeface="Avenir"/>
              <a:sym typeface="Avenir"/>
            </a:endParaRPr>
          </a:p>
          <a:p>
            <a:pPr indent="0" lvl="0" marL="609600" rtl="0" algn="ctr">
              <a:lnSpc>
                <a:spcPct val="100000"/>
              </a:lnSpc>
              <a:spcBef>
                <a:spcPts val="0"/>
              </a:spcBef>
              <a:spcAft>
                <a:spcPts val="0"/>
              </a:spcAft>
              <a:buNone/>
            </a:pPr>
            <a:r>
              <a:rPr lang="en-US" sz="3200">
                <a:solidFill>
                  <a:srgbClr val="666666"/>
                </a:solidFill>
                <a:highlight>
                  <a:srgbClr val="FFFFFF"/>
                </a:highlight>
                <a:latin typeface="Avenir"/>
                <a:ea typeface="Avenir"/>
                <a:cs typeface="Avenir"/>
                <a:sym typeface="Avenir"/>
              </a:rPr>
              <a:t>Parent / Student Meeting</a:t>
            </a:r>
            <a:endParaRPr sz="3200">
              <a:solidFill>
                <a:srgbClr val="666666"/>
              </a:solidFill>
              <a:highlight>
                <a:srgbClr val="FFFFFF"/>
              </a:highlight>
              <a:latin typeface="Avenir"/>
              <a:ea typeface="Avenir"/>
              <a:cs typeface="Avenir"/>
              <a:sym typeface="Avenir"/>
            </a:endParaRPr>
          </a:p>
          <a:p>
            <a:pPr indent="-508000" lvl="0" marL="609600" rtl="0" algn="ctr">
              <a:lnSpc>
                <a:spcPct val="100000"/>
              </a:lnSpc>
              <a:spcBef>
                <a:spcPts val="0"/>
              </a:spcBef>
              <a:spcAft>
                <a:spcPts val="0"/>
              </a:spcAft>
              <a:buClr>
                <a:srgbClr val="6AA84F"/>
              </a:buClr>
              <a:buSzPts val="3200"/>
              <a:buFont typeface="Avenir"/>
              <a:buChar char="↓"/>
            </a:pPr>
            <a:r>
              <a:t/>
            </a:r>
            <a:endParaRPr sz="3200">
              <a:solidFill>
                <a:srgbClr val="666666"/>
              </a:solidFill>
              <a:highlight>
                <a:srgbClr val="FFFFFF"/>
              </a:highlight>
              <a:latin typeface="Avenir"/>
              <a:ea typeface="Avenir"/>
              <a:cs typeface="Avenir"/>
              <a:sym typeface="Avenir"/>
            </a:endParaRPr>
          </a:p>
          <a:p>
            <a:pPr indent="0" lvl="0" marL="609600" rtl="0" algn="ctr">
              <a:lnSpc>
                <a:spcPct val="100000"/>
              </a:lnSpc>
              <a:spcBef>
                <a:spcPts val="0"/>
              </a:spcBef>
              <a:spcAft>
                <a:spcPts val="0"/>
              </a:spcAft>
              <a:buNone/>
            </a:pPr>
            <a:r>
              <a:rPr lang="en-US" sz="3200">
                <a:solidFill>
                  <a:srgbClr val="666666"/>
                </a:solidFill>
                <a:highlight>
                  <a:srgbClr val="FFFFFF"/>
                </a:highlight>
                <a:latin typeface="Avenir"/>
                <a:ea typeface="Avenir"/>
                <a:cs typeface="Avenir"/>
                <a:sym typeface="Avenir"/>
              </a:rPr>
              <a:t>Teachers Informed / Consulted</a:t>
            </a:r>
            <a:endParaRPr sz="3200">
              <a:solidFill>
                <a:srgbClr val="666666"/>
              </a:solidFill>
              <a:highlight>
                <a:srgbClr val="FFFFFF"/>
              </a:highlight>
              <a:latin typeface="Avenir"/>
              <a:ea typeface="Avenir"/>
              <a:cs typeface="Avenir"/>
              <a:sym typeface="Avenir"/>
            </a:endParaRPr>
          </a:p>
          <a:p>
            <a:pPr indent="-508000" lvl="0" marL="609600" rtl="0" algn="ctr">
              <a:lnSpc>
                <a:spcPct val="100000"/>
              </a:lnSpc>
              <a:spcBef>
                <a:spcPts val="0"/>
              </a:spcBef>
              <a:spcAft>
                <a:spcPts val="0"/>
              </a:spcAft>
              <a:buClr>
                <a:srgbClr val="6AA84F"/>
              </a:buClr>
              <a:buSzPts val="3200"/>
              <a:buFont typeface="Avenir"/>
              <a:buChar char="↓"/>
            </a:pPr>
            <a:r>
              <a:t/>
            </a:r>
            <a:endParaRPr sz="3200">
              <a:solidFill>
                <a:srgbClr val="666666"/>
              </a:solidFill>
              <a:highlight>
                <a:srgbClr val="FFFFFF"/>
              </a:highlight>
              <a:latin typeface="Avenir"/>
              <a:ea typeface="Avenir"/>
              <a:cs typeface="Avenir"/>
              <a:sym typeface="Avenir"/>
            </a:endParaRPr>
          </a:p>
          <a:p>
            <a:pPr indent="0" lvl="0" marL="609600" rtl="0" algn="ctr">
              <a:lnSpc>
                <a:spcPct val="100000"/>
              </a:lnSpc>
              <a:spcBef>
                <a:spcPts val="0"/>
              </a:spcBef>
              <a:spcAft>
                <a:spcPts val="0"/>
              </a:spcAft>
              <a:buNone/>
            </a:pPr>
            <a:r>
              <a:rPr lang="en-US" sz="3200">
                <a:solidFill>
                  <a:srgbClr val="666666"/>
                </a:solidFill>
                <a:highlight>
                  <a:srgbClr val="FFFFFF"/>
                </a:highlight>
                <a:latin typeface="Avenir"/>
                <a:ea typeface="Avenir"/>
                <a:cs typeface="Avenir"/>
                <a:sym typeface="Avenir"/>
              </a:rPr>
              <a:t>Phased / Supported return</a:t>
            </a:r>
            <a:endParaRPr sz="3200">
              <a:solidFill>
                <a:srgbClr val="666666"/>
              </a:solidFill>
              <a:highlight>
                <a:srgbClr val="FFFFFF"/>
              </a:highlight>
              <a:latin typeface="Avenir"/>
              <a:ea typeface="Avenir"/>
              <a:cs typeface="Avenir"/>
              <a:sym typeface="Avenir"/>
            </a:endParaRPr>
          </a:p>
        </p:txBody>
      </p:sp>
      <p:pic>
        <p:nvPicPr>
          <p:cNvPr id="222" name="Google Shape;222;p42"/>
          <p:cNvPicPr preferRelativeResize="0"/>
          <p:nvPr/>
        </p:nvPicPr>
        <p:blipFill>
          <a:blip r:embed="rId3">
            <a:alphaModFix/>
          </a:blip>
          <a:stretch>
            <a:fillRect/>
          </a:stretch>
        </p:blipFill>
        <p:spPr>
          <a:xfrm>
            <a:off x="9711925" y="2948725"/>
            <a:ext cx="960550" cy="960550"/>
          </a:xfrm>
          <a:prstGeom prst="rect">
            <a:avLst/>
          </a:prstGeom>
          <a:noFill/>
          <a:ln>
            <a:noFill/>
          </a:ln>
        </p:spPr>
      </p:pic>
      <p:pic>
        <p:nvPicPr>
          <p:cNvPr id="223" name="Google Shape;223;p42"/>
          <p:cNvPicPr preferRelativeResize="0"/>
          <p:nvPr/>
        </p:nvPicPr>
        <p:blipFill>
          <a:blip r:embed="rId4">
            <a:alphaModFix/>
          </a:blip>
          <a:stretch>
            <a:fillRect/>
          </a:stretch>
        </p:blipFill>
        <p:spPr>
          <a:xfrm>
            <a:off x="1740625" y="3909275"/>
            <a:ext cx="960550" cy="960550"/>
          </a:xfrm>
          <a:prstGeom prst="rect">
            <a:avLst/>
          </a:prstGeom>
          <a:noFill/>
          <a:ln>
            <a:noFill/>
          </a:ln>
        </p:spPr>
      </p:pic>
      <p:pic>
        <p:nvPicPr>
          <p:cNvPr id="224" name="Google Shape;224;p42"/>
          <p:cNvPicPr preferRelativeResize="0"/>
          <p:nvPr/>
        </p:nvPicPr>
        <p:blipFill>
          <a:blip r:embed="rId5">
            <a:alphaModFix/>
          </a:blip>
          <a:stretch>
            <a:fillRect/>
          </a:stretch>
        </p:blipFill>
        <p:spPr>
          <a:xfrm flipH="1">
            <a:off x="1740625" y="1977175"/>
            <a:ext cx="960550" cy="960550"/>
          </a:xfrm>
          <a:prstGeom prst="rect">
            <a:avLst/>
          </a:prstGeom>
          <a:noFill/>
          <a:ln>
            <a:noFill/>
          </a:ln>
        </p:spPr>
      </p:pic>
      <p:pic>
        <p:nvPicPr>
          <p:cNvPr id="225" name="Google Shape;225;p42"/>
          <p:cNvPicPr preferRelativeResize="0"/>
          <p:nvPr/>
        </p:nvPicPr>
        <p:blipFill>
          <a:blip r:embed="rId6">
            <a:alphaModFix/>
          </a:blip>
          <a:stretch>
            <a:fillRect/>
          </a:stretch>
        </p:blipFill>
        <p:spPr>
          <a:xfrm>
            <a:off x="9711925" y="5082750"/>
            <a:ext cx="960550" cy="960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43"/>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Session Outline</a:t>
            </a:r>
            <a:endParaRPr i="1" sz="4000">
              <a:solidFill>
                <a:srgbClr val="00A1CC"/>
              </a:solidFill>
              <a:latin typeface="Avenir"/>
              <a:ea typeface="Avenir"/>
              <a:cs typeface="Avenir"/>
              <a:sym typeface="Avenir"/>
            </a:endParaRPr>
          </a:p>
        </p:txBody>
      </p:sp>
      <p:sp>
        <p:nvSpPr>
          <p:cNvPr id="231" name="Google Shape;231;p43"/>
          <p:cNvSpPr txBox="1"/>
          <p:nvPr>
            <p:ph idx="1" type="subTitle"/>
          </p:nvPr>
        </p:nvSpPr>
        <p:spPr>
          <a:xfrm>
            <a:off x="918800" y="1470000"/>
            <a:ext cx="8590800" cy="18717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Why ISAPs? Why Reintegration?</a:t>
            </a:r>
            <a:endParaRPr sz="3200">
              <a:solidFill>
                <a:srgbClr val="F3F3F3"/>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F3F3F3"/>
              </a:buClr>
              <a:buSzPts val="3200"/>
              <a:buFont typeface="Avenir"/>
              <a:buChar char="●"/>
            </a:pPr>
            <a:r>
              <a:rPr lang="en-US" sz="3200">
                <a:solidFill>
                  <a:srgbClr val="F3F3F3"/>
                </a:solidFill>
                <a:highlight>
                  <a:srgbClr val="FFFFFF"/>
                </a:highlight>
                <a:latin typeface="Avenir"/>
                <a:ea typeface="Avenir"/>
                <a:cs typeface="Avenir"/>
                <a:sym typeface="Avenir"/>
              </a:rPr>
              <a:t>The ‘How-To’ of Reintegration</a:t>
            </a:r>
            <a:endParaRPr sz="3200">
              <a:solidFill>
                <a:srgbClr val="F3F3F3"/>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Barriers, Challenges and Solutions</a:t>
            </a:r>
            <a:endParaRPr sz="3200">
              <a:solidFill>
                <a:srgbClr val="666666"/>
              </a:solidFill>
              <a:highlight>
                <a:srgbClr val="FFFFFF"/>
              </a:highlight>
              <a:latin typeface="Avenir"/>
              <a:ea typeface="Avenir"/>
              <a:cs typeface="Avenir"/>
              <a:sym typeface="Avenir"/>
            </a:endParaRPr>
          </a:p>
        </p:txBody>
      </p:sp>
      <p:pic>
        <p:nvPicPr>
          <p:cNvPr id="232" name="Google Shape;232;p43"/>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nvSpPr>
        <p:spPr>
          <a:xfrm>
            <a:off x="425850" y="1440200"/>
            <a:ext cx="11340300" cy="2093400"/>
          </a:xfrm>
          <a:prstGeom prst="rect">
            <a:avLst/>
          </a:prstGeom>
          <a:noFill/>
          <a:ln>
            <a:noFill/>
          </a:ln>
        </p:spPr>
        <p:txBody>
          <a:bodyPr anchorCtr="0" anchor="t" bIns="121900" lIns="121900" spcFirstLastPara="1" rIns="121900" wrap="square" tIns="121900">
            <a:spAutoFit/>
          </a:bodyPr>
          <a:lstStyle/>
          <a:p>
            <a:pPr indent="-419100" lvl="0" marL="457200" rtl="0" algn="just">
              <a:lnSpc>
                <a:spcPct val="150000"/>
              </a:lnSpc>
              <a:spcBef>
                <a:spcPts val="800"/>
              </a:spcBef>
              <a:spcAft>
                <a:spcPts val="0"/>
              </a:spcAft>
              <a:buClr>
                <a:srgbClr val="595959"/>
              </a:buClr>
              <a:buSzPts val="3000"/>
              <a:buFont typeface="Avenir"/>
              <a:buAutoNum type="arabicPeriod"/>
            </a:pPr>
            <a:r>
              <a:rPr lang="en-US" sz="3000">
                <a:solidFill>
                  <a:srgbClr val="595959"/>
                </a:solidFill>
                <a:latin typeface="Avenir"/>
                <a:ea typeface="Avenir"/>
                <a:cs typeface="Avenir"/>
                <a:sym typeface="Avenir"/>
              </a:rPr>
              <a:t>Think of 3 major barriers / challenges for the </a:t>
            </a:r>
            <a:r>
              <a:rPr i="1" lang="en-US" sz="3000">
                <a:solidFill>
                  <a:srgbClr val="595959"/>
                </a:solidFill>
                <a:latin typeface="Avenir"/>
                <a:ea typeface="Avenir"/>
                <a:cs typeface="Avenir"/>
                <a:sym typeface="Avenir"/>
              </a:rPr>
              <a:t>student</a:t>
            </a:r>
            <a:endParaRPr i="1" sz="3000">
              <a:solidFill>
                <a:srgbClr val="595959"/>
              </a:solidFill>
              <a:latin typeface="Avenir"/>
              <a:ea typeface="Avenir"/>
              <a:cs typeface="Avenir"/>
              <a:sym typeface="Avenir"/>
            </a:endParaRPr>
          </a:p>
          <a:p>
            <a:pPr indent="-419100" lvl="0" marL="457200" rtl="0" algn="just">
              <a:lnSpc>
                <a:spcPct val="150000"/>
              </a:lnSpc>
              <a:spcBef>
                <a:spcPts val="0"/>
              </a:spcBef>
              <a:spcAft>
                <a:spcPts val="0"/>
              </a:spcAft>
              <a:buClr>
                <a:srgbClr val="595959"/>
              </a:buClr>
              <a:buSzPts val="3000"/>
              <a:buFont typeface="Avenir"/>
              <a:buAutoNum type="arabicPeriod"/>
            </a:pPr>
            <a:r>
              <a:rPr lang="en-US" sz="3000">
                <a:solidFill>
                  <a:srgbClr val="595959"/>
                </a:solidFill>
                <a:latin typeface="Avenir"/>
                <a:ea typeface="Avenir"/>
                <a:cs typeface="Avenir"/>
                <a:sym typeface="Avenir"/>
              </a:rPr>
              <a:t>Then 3 barriers and challenges for the </a:t>
            </a:r>
            <a:r>
              <a:rPr i="1" lang="en-US" sz="3000">
                <a:solidFill>
                  <a:srgbClr val="595959"/>
                </a:solidFill>
                <a:latin typeface="Avenir"/>
                <a:ea typeface="Avenir"/>
                <a:cs typeface="Avenir"/>
                <a:sym typeface="Avenir"/>
              </a:rPr>
              <a:t>teacher</a:t>
            </a:r>
            <a:endParaRPr sz="3000">
              <a:solidFill>
                <a:srgbClr val="595959"/>
              </a:solidFill>
              <a:latin typeface="Avenir"/>
              <a:ea typeface="Avenir"/>
              <a:cs typeface="Avenir"/>
              <a:sym typeface="Avenir"/>
            </a:endParaRPr>
          </a:p>
          <a:p>
            <a:pPr indent="-419100" lvl="0" marL="457200" rtl="0" algn="just">
              <a:lnSpc>
                <a:spcPct val="150000"/>
              </a:lnSpc>
              <a:spcBef>
                <a:spcPts val="0"/>
              </a:spcBef>
              <a:spcAft>
                <a:spcPts val="0"/>
              </a:spcAft>
              <a:buClr>
                <a:srgbClr val="595959"/>
              </a:buClr>
              <a:buSzPts val="3000"/>
              <a:buFont typeface="Avenir"/>
              <a:buAutoNum type="arabicPeriod"/>
            </a:pPr>
            <a:r>
              <a:rPr lang="en-US" sz="3000">
                <a:solidFill>
                  <a:srgbClr val="595959"/>
                </a:solidFill>
                <a:latin typeface="Avenir"/>
                <a:ea typeface="Avenir"/>
                <a:cs typeface="Avenir"/>
                <a:sym typeface="Avenir"/>
              </a:rPr>
              <a:t>For each barrier, what </a:t>
            </a:r>
            <a:r>
              <a:rPr i="1" lang="en-US" sz="3000">
                <a:solidFill>
                  <a:srgbClr val="595959"/>
                </a:solidFill>
                <a:latin typeface="Avenir"/>
                <a:ea typeface="Avenir"/>
                <a:cs typeface="Avenir"/>
                <a:sym typeface="Avenir"/>
              </a:rPr>
              <a:t>solutions</a:t>
            </a:r>
            <a:r>
              <a:rPr lang="en-US" sz="3000">
                <a:solidFill>
                  <a:srgbClr val="595959"/>
                </a:solidFill>
                <a:latin typeface="Avenir"/>
                <a:ea typeface="Avenir"/>
                <a:cs typeface="Avenir"/>
                <a:sym typeface="Avenir"/>
              </a:rPr>
              <a:t> are there?</a:t>
            </a:r>
            <a:endParaRPr sz="3000">
              <a:solidFill>
                <a:srgbClr val="595959"/>
              </a:solidFill>
              <a:latin typeface="Avenir"/>
              <a:ea typeface="Avenir"/>
              <a:cs typeface="Avenir"/>
              <a:sym typeface="Avenir"/>
            </a:endParaRPr>
          </a:p>
        </p:txBody>
      </p:sp>
      <p:sp>
        <p:nvSpPr>
          <p:cNvPr id="238" name="Google Shape;238;p44"/>
          <p:cNvSpPr txBox="1"/>
          <p:nvPr>
            <p:ph idx="4294967295" type="subTitle"/>
          </p:nvPr>
        </p:nvSpPr>
        <p:spPr>
          <a:xfrm>
            <a:off x="317976" y="305475"/>
            <a:ext cx="115353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1600"/>
              </a:spcAft>
              <a:buNone/>
            </a:pPr>
            <a:r>
              <a:rPr lang="en-US" sz="4000">
                <a:solidFill>
                  <a:srgbClr val="00A1CC"/>
                </a:solidFill>
                <a:latin typeface="Avenir"/>
                <a:ea typeface="Avenir"/>
                <a:cs typeface="Avenir"/>
                <a:sym typeface="Avenir"/>
              </a:rPr>
              <a:t>Barriers, Challenges and Solutions</a:t>
            </a:r>
            <a:endParaRPr i="1" sz="4000">
              <a:solidFill>
                <a:srgbClr val="00A1CC"/>
              </a:solidFill>
              <a:latin typeface="Avenir"/>
              <a:ea typeface="Avenir"/>
              <a:cs typeface="Avenir"/>
              <a:sym typeface="Avenir"/>
            </a:endParaRPr>
          </a:p>
        </p:txBody>
      </p:sp>
      <p:pic>
        <p:nvPicPr>
          <p:cNvPr id="239" name="Google Shape;239;p44"/>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5"/>
          <p:cNvSpPr txBox="1"/>
          <p:nvPr/>
        </p:nvSpPr>
        <p:spPr>
          <a:xfrm>
            <a:off x="3473325" y="1637100"/>
            <a:ext cx="5516700" cy="3583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3200">
                <a:solidFill>
                  <a:srgbClr val="595959"/>
                </a:solidFill>
                <a:highlight>
                  <a:schemeClr val="lt1"/>
                </a:highlight>
                <a:latin typeface="Avenir"/>
                <a:ea typeface="Avenir"/>
                <a:cs typeface="Avenir"/>
                <a:sym typeface="Avenir"/>
              </a:rPr>
              <a:t>This is my go-to guide for any busy teacher. </a:t>
            </a:r>
            <a:endParaRPr sz="3200">
              <a:solidFill>
                <a:srgbClr val="595959"/>
              </a:solidFill>
              <a:highlight>
                <a:schemeClr val="lt1"/>
              </a:highlight>
              <a:latin typeface="Avenir"/>
              <a:ea typeface="Avenir"/>
              <a:cs typeface="Avenir"/>
              <a:sym typeface="Avenir"/>
            </a:endParaRPr>
          </a:p>
          <a:p>
            <a:pPr indent="0" lvl="0" marL="0" rtl="0" algn="ctr">
              <a:lnSpc>
                <a:spcPct val="115000"/>
              </a:lnSpc>
              <a:spcBef>
                <a:spcPts val="0"/>
              </a:spcBef>
              <a:spcAft>
                <a:spcPts val="0"/>
              </a:spcAft>
              <a:buClr>
                <a:schemeClr val="dk1"/>
              </a:buClr>
              <a:buSzPts val="1100"/>
              <a:buFont typeface="Arial"/>
              <a:buNone/>
            </a:pPr>
            <a:r>
              <a:t/>
            </a:r>
            <a:endParaRPr sz="3200">
              <a:solidFill>
                <a:srgbClr val="595959"/>
              </a:solidFill>
              <a:highlight>
                <a:schemeClr val="lt1"/>
              </a:highlight>
              <a:latin typeface="Avenir"/>
              <a:ea typeface="Avenir"/>
              <a:cs typeface="Avenir"/>
              <a:sym typeface="Avenir"/>
            </a:endParaRPr>
          </a:p>
          <a:p>
            <a:pPr indent="0" lvl="0" marL="0" rtl="0" algn="ctr">
              <a:lnSpc>
                <a:spcPct val="115000"/>
              </a:lnSpc>
              <a:spcBef>
                <a:spcPts val="0"/>
              </a:spcBef>
              <a:spcAft>
                <a:spcPts val="0"/>
              </a:spcAft>
              <a:buClr>
                <a:schemeClr val="dk1"/>
              </a:buClr>
              <a:buSzPts val="1100"/>
              <a:buFont typeface="Arial"/>
              <a:buNone/>
            </a:pPr>
            <a:r>
              <a:rPr lang="en-US" sz="3200">
                <a:solidFill>
                  <a:srgbClr val="595959"/>
                </a:solidFill>
                <a:highlight>
                  <a:schemeClr val="lt1"/>
                </a:highlight>
                <a:latin typeface="Avenir"/>
                <a:ea typeface="Avenir"/>
                <a:cs typeface="Avenir"/>
                <a:sym typeface="Avenir"/>
              </a:rPr>
              <a:t>If you’re doing this for a reintegrating student, the rest is a bonus.</a:t>
            </a:r>
            <a:endParaRPr sz="3200">
              <a:solidFill>
                <a:srgbClr val="595959"/>
              </a:solidFill>
              <a:latin typeface="Avenir"/>
              <a:ea typeface="Avenir"/>
              <a:cs typeface="Avenir"/>
              <a:sym typeface="Avenir"/>
            </a:endParaRPr>
          </a:p>
        </p:txBody>
      </p:sp>
      <p:pic>
        <p:nvPicPr>
          <p:cNvPr id="245" name="Google Shape;245;p45"/>
          <p:cNvPicPr preferRelativeResize="0"/>
          <p:nvPr/>
        </p:nvPicPr>
        <p:blipFill>
          <a:blip r:embed="rId3">
            <a:alphaModFix/>
          </a:blip>
          <a:stretch>
            <a:fillRect/>
          </a:stretch>
        </p:blipFill>
        <p:spPr>
          <a:xfrm>
            <a:off x="10192094" y="0"/>
            <a:ext cx="1999913" cy="6858000"/>
          </a:xfrm>
          <a:prstGeom prst="rect">
            <a:avLst/>
          </a:prstGeom>
          <a:noFill/>
          <a:ln>
            <a:noFill/>
          </a:ln>
        </p:spPr>
      </p:pic>
      <p:sp>
        <p:nvSpPr>
          <p:cNvPr id="246" name="Google Shape;246;p45"/>
          <p:cNvSpPr txBox="1"/>
          <p:nvPr>
            <p:ph idx="4294967295" type="subTitle"/>
          </p:nvPr>
        </p:nvSpPr>
        <p:spPr>
          <a:xfrm>
            <a:off x="317976" y="305475"/>
            <a:ext cx="11535300" cy="861900"/>
          </a:xfrm>
          <a:prstGeom prst="rect">
            <a:avLst/>
          </a:prstGeom>
        </p:spPr>
        <p:txBody>
          <a:bodyPr anchorCtr="0" anchor="ctr" bIns="121900" lIns="121900" spcFirstLastPara="1" rIns="121900" wrap="square" tIns="121900">
            <a:spAutoFit/>
          </a:bodyPr>
          <a:lstStyle/>
          <a:p>
            <a:pPr indent="0" lvl="0" marL="0" rtl="0" algn="ctr">
              <a:lnSpc>
                <a:spcPct val="115000"/>
              </a:lnSpc>
              <a:spcBef>
                <a:spcPts val="0"/>
              </a:spcBef>
              <a:spcAft>
                <a:spcPts val="1600"/>
              </a:spcAft>
              <a:buNone/>
            </a:pPr>
            <a:r>
              <a:rPr lang="en-US" sz="4000">
                <a:solidFill>
                  <a:srgbClr val="00A1CC"/>
                </a:solidFill>
                <a:latin typeface="Avenir"/>
                <a:ea typeface="Avenir"/>
                <a:cs typeface="Avenir"/>
                <a:sym typeface="Avenir"/>
              </a:rPr>
              <a:t>If nothing else…</a:t>
            </a:r>
            <a:endParaRPr i="1" sz="4000">
              <a:solidFill>
                <a:srgbClr val="00A1CC"/>
              </a:solidFill>
              <a:latin typeface="Avenir"/>
              <a:ea typeface="Avenir"/>
              <a:cs typeface="Avenir"/>
              <a:sym typeface="Avenir"/>
            </a:endParaRPr>
          </a:p>
        </p:txBody>
      </p:sp>
      <p:pic>
        <p:nvPicPr>
          <p:cNvPr id="247" name="Google Shape;247;p45"/>
          <p:cNvPicPr preferRelativeResize="0"/>
          <p:nvPr/>
        </p:nvPicPr>
        <p:blipFill>
          <a:blip r:embed="rId4">
            <a:alphaModFix/>
          </a:blip>
          <a:stretch>
            <a:fillRect/>
          </a:stretch>
        </p:blipFill>
        <p:spPr>
          <a:xfrm>
            <a:off x="-7" y="0"/>
            <a:ext cx="1988414" cy="6858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46"/>
          <p:cNvSpPr/>
          <p:nvPr/>
        </p:nvSpPr>
        <p:spPr>
          <a:xfrm>
            <a:off x="6096000" y="1341000"/>
            <a:ext cx="4243200" cy="4938000"/>
          </a:xfrm>
          <a:prstGeom prst="upArrow">
            <a:avLst>
              <a:gd fmla="val 50000" name="adj1"/>
              <a:gd fmla="val 50000" name="adj2"/>
            </a:avLst>
          </a:prstGeom>
          <a:solidFill>
            <a:schemeClr val="lt1"/>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53" name="Google Shape;253;p46"/>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Regulational</a:t>
            </a:r>
            <a:r>
              <a:rPr lang="en-US" sz="4000">
                <a:solidFill>
                  <a:srgbClr val="00A1CC"/>
                </a:solidFill>
                <a:latin typeface="Avenir"/>
                <a:ea typeface="Avenir"/>
                <a:cs typeface="Avenir"/>
                <a:sym typeface="Avenir"/>
              </a:rPr>
              <a:t> Solutions</a:t>
            </a:r>
            <a:endParaRPr sz="4000">
              <a:solidFill>
                <a:srgbClr val="00A1CC"/>
              </a:solidFill>
              <a:latin typeface="Avenir"/>
              <a:ea typeface="Avenir"/>
              <a:cs typeface="Avenir"/>
              <a:sym typeface="Avenir"/>
            </a:endParaRPr>
          </a:p>
        </p:txBody>
      </p:sp>
      <p:sp>
        <p:nvSpPr>
          <p:cNvPr id="254" name="Google Shape;254;p46"/>
          <p:cNvSpPr txBox="1"/>
          <p:nvPr/>
        </p:nvSpPr>
        <p:spPr>
          <a:xfrm>
            <a:off x="7125400" y="4465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D9EAD3"/>
                </a:solidFill>
                <a:latin typeface="Avenir"/>
                <a:ea typeface="Avenir"/>
                <a:cs typeface="Avenir"/>
                <a:sym typeface="Avenir"/>
              </a:rPr>
              <a:t>Reason</a:t>
            </a:r>
            <a:endParaRPr b="1" sz="3700">
              <a:solidFill>
                <a:srgbClr val="D9EAD3"/>
              </a:solidFill>
              <a:latin typeface="Avenir"/>
              <a:ea typeface="Avenir"/>
              <a:cs typeface="Avenir"/>
              <a:sym typeface="Avenir"/>
            </a:endParaRPr>
          </a:p>
        </p:txBody>
      </p:sp>
      <p:sp>
        <p:nvSpPr>
          <p:cNvPr id="255" name="Google Shape;255;p46"/>
          <p:cNvSpPr txBox="1"/>
          <p:nvPr/>
        </p:nvSpPr>
        <p:spPr>
          <a:xfrm>
            <a:off x="7125400" y="28696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CFE2F3"/>
                </a:solidFill>
                <a:latin typeface="Avenir"/>
                <a:ea typeface="Avenir"/>
                <a:cs typeface="Avenir"/>
                <a:sym typeface="Avenir"/>
              </a:rPr>
              <a:t>Relate</a:t>
            </a:r>
            <a:endParaRPr b="1" sz="3700">
              <a:solidFill>
                <a:srgbClr val="CFE2F3"/>
              </a:solidFill>
              <a:latin typeface="Avenir"/>
              <a:ea typeface="Avenir"/>
              <a:cs typeface="Avenir"/>
              <a:sym typeface="Avenir"/>
            </a:endParaRPr>
          </a:p>
        </p:txBody>
      </p:sp>
      <p:sp>
        <p:nvSpPr>
          <p:cNvPr id="256" name="Google Shape;256;p46"/>
          <p:cNvSpPr txBox="1"/>
          <p:nvPr/>
        </p:nvSpPr>
        <p:spPr>
          <a:xfrm>
            <a:off x="7125400" y="5151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CC0000"/>
                </a:solidFill>
                <a:latin typeface="Avenir"/>
                <a:ea typeface="Avenir"/>
                <a:cs typeface="Avenir"/>
                <a:sym typeface="Avenir"/>
              </a:rPr>
              <a:t>Regulate</a:t>
            </a:r>
            <a:endParaRPr b="1" sz="3700">
              <a:solidFill>
                <a:srgbClr val="CC0000"/>
              </a:solidFill>
              <a:latin typeface="Avenir"/>
              <a:ea typeface="Avenir"/>
              <a:cs typeface="Avenir"/>
              <a:sym typeface="Avenir"/>
            </a:endParaRPr>
          </a:p>
        </p:txBody>
      </p:sp>
      <p:pic>
        <p:nvPicPr>
          <p:cNvPr id="257" name="Google Shape;257;p46"/>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258" name="Google Shape;258;p46"/>
          <p:cNvPicPr preferRelativeResize="0"/>
          <p:nvPr/>
        </p:nvPicPr>
        <p:blipFill rotWithShape="1">
          <a:blip r:embed="rId3">
            <a:alphaModFix amt="25000"/>
          </a:blip>
          <a:srcRect b="46587" l="34136" r="34136" t="0"/>
          <a:stretch/>
        </p:blipFill>
        <p:spPr>
          <a:xfrm>
            <a:off x="9679033" y="2289833"/>
            <a:ext cx="2247900" cy="2286000"/>
          </a:xfrm>
          <a:prstGeom prst="rect">
            <a:avLst/>
          </a:prstGeom>
          <a:noFill/>
          <a:ln>
            <a:noFill/>
          </a:ln>
        </p:spPr>
      </p:pic>
      <p:pic>
        <p:nvPicPr>
          <p:cNvPr id="259" name="Google Shape;259;p46"/>
          <p:cNvPicPr preferRelativeResize="0"/>
          <p:nvPr/>
        </p:nvPicPr>
        <p:blipFill rotWithShape="1">
          <a:blip r:embed="rId3">
            <a:alphaModFix amt="25000"/>
          </a:blip>
          <a:srcRect b="46587" l="68272" r="0" t="0"/>
          <a:stretch/>
        </p:blipFill>
        <p:spPr>
          <a:xfrm>
            <a:off x="9679050" y="3833"/>
            <a:ext cx="2247900" cy="2286000"/>
          </a:xfrm>
          <a:prstGeom prst="rect">
            <a:avLst/>
          </a:prstGeom>
          <a:noFill/>
          <a:ln>
            <a:noFill/>
          </a:ln>
        </p:spPr>
      </p:pic>
      <p:sp>
        <p:nvSpPr>
          <p:cNvPr id="260" name="Google Shape;260;p46"/>
          <p:cNvSpPr txBox="1"/>
          <p:nvPr>
            <p:ph idx="1" type="subTitle"/>
          </p:nvPr>
        </p:nvSpPr>
        <p:spPr>
          <a:xfrm>
            <a:off x="2570967" y="1853867"/>
            <a:ext cx="3820500" cy="44253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Clr>
                <a:schemeClr val="dk1"/>
              </a:buClr>
              <a:buSzPts val="1500"/>
              <a:buFont typeface="Arial"/>
              <a:buNone/>
            </a:pPr>
            <a:r>
              <a:rPr lang="en-US" sz="2500">
                <a:solidFill>
                  <a:srgbClr val="A61C00"/>
                </a:solidFill>
                <a:latin typeface="Avenir"/>
                <a:ea typeface="Avenir"/>
                <a:cs typeface="Avenir"/>
                <a:sym typeface="Avenir"/>
              </a:rPr>
              <a:t>Predictable routines</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500"/>
              <a:buFont typeface="Arial"/>
              <a:buNone/>
            </a:pPr>
            <a:r>
              <a:rPr lang="en-US" sz="2500">
                <a:solidFill>
                  <a:srgbClr val="A61C00"/>
                </a:solidFill>
                <a:latin typeface="Avenir"/>
                <a:ea typeface="Avenir"/>
                <a:cs typeface="Avenir"/>
                <a:sym typeface="Avenir"/>
              </a:rPr>
              <a:t>Countdown timers</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A61C00"/>
                </a:solidFill>
                <a:latin typeface="Avenir"/>
                <a:ea typeface="Avenir"/>
                <a:cs typeface="Avenir"/>
                <a:sym typeface="Avenir"/>
              </a:rPr>
              <a:t>Minimise noise</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500"/>
              <a:buFont typeface="Arial"/>
              <a:buNone/>
            </a:pPr>
            <a:r>
              <a:rPr lang="en-US" sz="2500">
                <a:solidFill>
                  <a:srgbClr val="A61C00"/>
                </a:solidFill>
                <a:latin typeface="Avenir"/>
                <a:ea typeface="Avenir"/>
                <a:cs typeface="Avenir"/>
                <a:sym typeface="Avenir"/>
              </a:rPr>
              <a:t>Paper clips &amp; blu-tack!</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A61C00"/>
                </a:solidFill>
                <a:latin typeface="Avenir"/>
                <a:ea typeface="Avenir"/>
                <a:cs typeface="Avenir"/>
                <a:sym typeface="Avenir"/>
              </a:rPr>
              <a:t>Trusted adult check-in</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A61C00"/>
                </a:solidFill>
                <a:latin typeface="Avenir"/>
                <a:ea typeface="Avenir"/>
                <a:cs typeface="Avenir"/>
                <a:sym typeface="Avenir"/>
              </a:rPr>
              <a:t>Exit routes / routines</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A61C00"/>
                </a:solidFill>
                <a:latin typeface="Avenir"/>
                <a:ea typeface="Avenir"/>
                <a:cs typeface="Avenir"/>
                <a:sym typeface="Avenir"/>
              </a:rPr>
              <a:t>Zones of Regulation</a:t>
            </a:r>
            <a:endParaRPr sz="25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A61C00"/>
                </a:solidFill>
                <a:latin typeface="Avenir"/>
                <a:ea typeface="Avenir"/>
                <a:cs typeface="Avenir"/>
                <a:sym typeface="Avenir"/>
              </a:rPr>
              <a:t>Box breathing (4,4,4,4)</a:t>
            </a:r>
            <a:endParaRPr sz="2500">
              <a:solidFill>
                <a:srgbClr val="A61C00"/>
              </a:solidFill>
              <a:latin typeface="Avenir"/>
              <a:ea typeface="Avenir"/>
              <a:cs typeface="Avenir"/>
              <a:sym typeface="Avenir"/>
            </a:endParaRPr>
          </a:p>
        </p:txBody>
      </p:sp>
      <p:sp>
        <p:nvSpPr>
          <p:cNvPr id="261" name="Google Shape;261;p46"/>
          <p:cNvSpPr/>
          <p:nvPr/>
        </p:nvSpPr>
        <p:spPr>
          <a:xfrm flipH="1">
            <a:off x="833000" y="1853867"/>
            <a:ext cx="1550100" cy="4425300"/>
          </a:xfrm>
          <a:prstGeom prst="rtTriangle">
            <a:avLst/>
          </a:prstGeom>
          <a:gradFill>
            <a:gsLst>
              <a:gs pos="0">
                <a:srgbClr val="F5D0D0"/>
              </a:gs>
              <a:gs pos="100000">
                <a:srgbClr val="D96868"/>
              </a:gs>
            </a:gsLst>
            <a:lin ang="5400012" scaled="0"/>
          </a:gra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 name="Shape 265"/>
        <p:cNvGrpSpPr/>
        <p:nvPr/>
      </p:nvGrpSpPr>
      <p:grpSpPr>
        <a:xfrm>
          <a:off x="0" y="0"/>
          <a:ext cx="0" cy="0"/>
          <a:chOff x="0" y="0"/>
          <a:chExt cx="0" cy="0"/>
        </a:xfrm>
      </p:grpSpPr>
      <p:sp>
        <p:nvSpPr>
          <p:cNvPr id="266" name="Google Shape;266;p47"/>
          <p:cNvSpPr/>
          <p:nvPr/>
        </p:nvSpPr>
        <p:spPr>
          <a:xfrm>
            <a:off x="6096000" y="1341000"/>
            <a:ext cx="4243200" cy="4938000"/>
          </a:xfrm>
          <a:prstGeom prst="upArrow">
            <a:avLst>
              <a:gd fmla="val 50000" name="adj1"/>
              <a:gd fmla="val 50000" name="adj2"/>
            </a:avLst>
          </a:prstGeom>
          <a:solidFill>
            <a:schemeClr val="lt1"/>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67" name="Google Shape;267;p47"/>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Motivational Solutions</a:t>
            </a:r>
            <a:endParaRPr sz="4000">
              <a:solidFill>
                <a:srgbClr val="00A1CC"/>
              </a:solidFill>
              <a:latin typeface="Avenir"/>
              <a:ea typeface="Avenir"/>
              <a:cs typeface="Avenir"/>
              <a:sym typeface="Avenir"/>
            </a:endParaRPr>
          </a:p>
        </p:txBody>
      </p:sp>
      <p:sp>
        <p:nvSpPr>
          <p:cNvPr id="268" name="Google Shape;268;p47"/>
          <p:cNvSpPr txBox="1"/>
          <p:nvPr/>
        </p:nvSpPr>
        <p:spPr>
          <a:xfrm>
            <a:off x="7125400" y="4465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D9EAD3"/>
                </a:solidFill>
                <a:latin typeface="Avenir"/>
                <a:ea typeface="Avenir"/>
                <a:cs typeface="Avenir"/>
                <a:sym typeface="Avenir"/>
              </a:rPr>
              <a:t>Reason</a:t>
            </a:r>
            <a:endParaRPr b="1" sz="3700">
              <a:solidFill>
                <a:srgbClr val="D9EAD3"/>
              </a:solidFill>
              <a:latin typeface="Avenir"/>
              <a:ea typeface="Avenir"/>
              <a:cs typeface="Avenir"/>
              <a:sym typeface="Avenir"/>
            </a:endParaRPr>
          </a:p>
        </p:txBody>
      </p:sp>
      <p:sp>
        <p:nvSpPr>
          <p:cNvPr id="269" name="Google Shape;269;p47"/>
          <p:cNvSpPr txBox="1"/>
          <p:nvPr/>
        </p:nvSpPr>
        <p:spPr>
          <a:xfrm>
            <a:off x="7125400" y="28696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0B5394"/>
                </a:solidFill>
                <a:latin typeface="Avenir"/>
                <a:ea typeface="Avenir"/>
                <a:cs typeface="Avenir"/>
                <a:sym typeface="Avenir"/>
              </a:rPr>
              <a:t>Relate</a:t>
            </a:r>
            <a:endParaRPr b="1" sz="3700">
              <a:solidFill>
                <a:srgbClr val="0B5394"/>
              </a:solidFill>
              <a:latin typeface="Avenir"/>
              <a:ea typeface="Avenir"/>
              <a:cs typeface="Avenir"/>
              <a:sym typeface="Avenir"/>
            </a:endParaRPr>
          </a:p>
        </p:txBody>
      </p:sp>
      <p:sp>
        <p:nvSpPr>
          <p:cNvPr id="270" name="Google Shape;270;p47"/>
          <p:cNvSpPr txBox="1"/>
          <p:nvPr/>
        </p:nvSpPr>
        <p:spPr>
          <a:xfrm>
            <a:off x="7125400" y="5151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F4CCCC"/>
                </a:solidFill>
                <a:latin typeface="Avenir"/>
                <a:ea typeface="Avenir"/>
                <a:cs typeface="Avenir"/>
                <a:sym typeface="Avenir"/>
              </a:rPr>
              <a:t>Regulate</a:t>
            </a:r>
            <a:endParaRPr b="1" sz="3700">
              <a:solidFill>
                <a:srgbClr val="F4CCCC"/>
              </a:solidFill>
              <a:latin typeface="Avenir"/>
              <a:ea typeface="Avenir"/>
              <a:cs typeface="Avenir"/>
              <a:sym typeface="Avenir"/>
            </a:endParaRPr>
          </a:p>
        </p:txBody>
      </p:sp>
      <p:pic>
        <p:nvPicPr>
          <p:cNvPr id="271" name="Google Shape;271;p47"/>
          <p:cNvPicPr preferRelativeResize="0"/>
          <p:nvPr/>
        </p:nvPicPr>
        <p:blipFill rotWithShape="1">
          <a:blip r:embed="rId3">
            <a:alphaModFix amt="25000"/>
          </a:blip>
          <a:srcRect b="46587" l="0" r="69103" t="0"/>
          <a:stretch/>
        </p:blipFill>
        <p:spPr>
          <a:xfrm>
            <a:off x="9710800" y="4568167"/>
            <a:ext cx="2184400" cy="2286000"/>
          </a:xfrm>
          <a:prstGeom prst="rect">
            <a:avLst/>
          </a:prstGeom>
          <a:noFill/>
          <a:ln>
            <a:noFill/>
          </a:ln>
        </p:spPr>
      </p:pic>
      <p:pic>
        <p:nvPicPr>
          <p:cNvPr id="272" name="Google Shape;272;p47"/>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273" name="Google Shape;273;p47"/>
          <p:cNvPicPr preferRelativeResize="0"/>
          <p:nvPr/>
        </p:nvPicPr>
        <p:blipFill rotWithShape="1">
          <a:blip r:embed="rId3">
            <a:alphaModFix amt="25000"/>
          </a:blip>
          <a:srcRect b="46587" l="68272" r="0" t="0"/>
          <a:stretch/>
        </p:blipFill>
        <p:spPr>
          <a:xfrm>
            <a:off x="9679050" y="3833"/>
            <a:ext cx="2247900" cy="2286000"/>
          </a:xfrm>
          <a:prstGeom prst="rect">
            <a:avLst/>
          </a:prstGeom>
          <a:noFill/>
          <a:ln>
            <a:noFill/>
          </a:ln>
        </p:spPr>
      </p:pic>
      <p:sp>
        <p:nvSpPr>
          <p:cNvPr id="274" name="Google Shape;274;p47"/>
          <p:cNvSpPr txBox="1"/>
          <p:nvPr>
            <p:ph idx="1" type="subTitle"/>
          </p:nvPr>
        </p:nvSpPr>
        <p:spPr>
          <a:xfrm>
            <a:off x="2570967" y="1853867"/>
            <a:ext cx="3820500" cy="4425300"/>
          </a:xfrm>
          <a:prstGeom prst="rect">
            <a:avLst/>
          </a:prstGeom>
        </p:spPr>
        <p:txBody>
          <a:bodyPr anchorCtr="0" anchor="t"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Meet &amp; greet</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Relational approach</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Natural curiosity</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Frequent Praise</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Calm voice</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Stand beside</a:t>
            </a:r>
            <a:endParaRPr sz="25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          ↓</a:t>
            </a:r>
            <a:endParaRPr sz="2500">
              <a:solidFill>
                <a:srgbClr val="0B5394"/>
              </a:solidFill>
              <a:latin typeface="Avenir"/>
              <a:ea typeface="Avenir"/>
              <a:cs typeface="Avenir"/>
              <a:sym typeface="Avenir"/>
            </a:endParaRPr>
          </a:p>
        </p:txBody>
      </p:sp>
      <p:sp>
        <p:nvSpPr>
          <p:cNvPr id="275" name="Google Shape;275;p47"/>
          <p:cNvSpPr/>
          <p:nvPr/>
        </p:nvSpPr>
        <p:spPr>
          <a:xfrm flipH="1">
            <a:off x="833000" y="1853867"/>
            <a:ext cx="1550100" cy="4425300"/>
          </a:xfrm>
          <a:prstGeom prst="rtTriangle">
            <a:avLst/>
          </a:prstGeom>
          <a:gradFill>
            <a:gsLst>
              <a:gs pos="0">
                <a:srgbClr val="D4E5F5"/>
              </a:gs>
              <a:gs pos="100000">
                <a:srgbClr val="70A4D5"/>
              </a:gs>
            </a:gsLst>
            <a:lin ang="5400012" scaled="0"/>
          </a:gra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 name="Shape 279"/>
        <p:cNvGrpSpPr/>
        <p:nvPr/>
      </p:nvGrpSpPr>
      <p:grpSpPr>
        <a:xfrm>
          <a:off x="0" y="0"/>
          <a:ext cx="0" cy="0"/>
          <a:chOff x="0" y="0"/>
          <a:chExt cx="0" cy="0"/>
        </a:xfrm>
      </p:grpSpPr>
      <p:sp>
        <p:nvSpPr>
          <p:cNvPr id="280" name="Google Shape;280;p48"/>
          <p:cNvSpPr/>
          <p:nvPr/>
        </p:nvSpPr>
        <p:spPr>
          <a:xfrm>
            <a:off x="6096000" y="1341000"/>
            <a:ext cx="4243200" cy="4938000"/>
          </a:xfrm>
          <a:prstGeom prst="upArrow">
            <a:avLst>
              <a:gd fmla="val 50000" name="adj1"/>
              <a:gd fmla="val 50000" name="adj2"/>
            </a:avLst>
          </a:prstGeom>
          <a:solidFill>
            <a:schemeClr val="lt1"/>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81" name="Google Shape;281;p48"/>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Motivational Solutions</a:t>
            </a:r>
            <a:endParaRPr sz="4000">
              <a:solidFill>
                <a:srgbClr val="00A1CC"/>
              </a:solidFill>
              <a:latin typeface="Avenir"/>
              <a:ea typeface="Avenir"/>
              <a:cs typeface="Avenir"/>
              <a:sym typeface="Avenir"/>
            </a:endParaRPr>
          </a:p>
        </p:txBody>
      </p:sp>
      <p:sp>
        <p:nvSpPr>
          <p:cNvPr id="282" name="Google Shape;282;p48"/>
          <p:cNvSpPr txBox="1"/>
          <p:nvPr/>
        </p:nvSpPr>
        <p:spPr>
          <a:xfrm>
            <a:off x="7125400" y="4465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D9EAD3"/>
                </a:solidFill>
                <a:latin typeface="Avenir"/>
                <a:ea typeface="Avenir"/>
                <a:cs typeface="Avenir"/>
                <a:sym typeface="Avenir"/>
              </a:rPr>
              <a:t>Reason</a:t>
            </a:r>
            <a:endParaRPr b="1" sz="3700">
              <a:solidFill>
                <a:srgbClr val="D9EAD3"/>
              </a:solidFill>
              <a:latin typeface="Avenir"/>
              <a:ea typeface="Avenir"/>
              <a:cs typeface="Avenir"/>
              <a:sym typeface="Avenir"/>
            </a:endParaRPr>
          </a:p>
        </p:txBody>
      </p:sp>
      <p:sp>
        <p:nvSpPr>
          <p:cNvPr id="283" name="Google Shape;283;p48"/>
          <p:cNvSpPr txBox="1"/>
          <p:nvPr/>
        </p:nvSpPr>
        <p:spPr>
          <a:xfrm>
            <a:off x="7125400" y="28696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0B5394"/>
                </a:solidFill>
                <a:latin typeface="Avenir"/>
                <a:ea typeface="Avenir"/>
                <a:cs typeface="Avenir"/>
                <a:sym typeface="Avenir"/>
              </a:rPr>
              <a:t>Relate</a:t>
            </a:r>
            <a:endParaRPr b="1" sz="3700">
              <a:solidFill>
                <a:srgbClr val="0B5394"/>
              </a:solidFill>
              <a:latin typeface="Avenir"/>
              <a:ea typeface="Avenir"/>
              <a:cs typeface="Avenir"/>
              <a:sym typeface="Avenir"/>
            </a:endParaRPr>
          </a:p>
        </p:txBody>
      </p:sp>
      <p:sp>
        <p:nvSpPr>
          <p:cNvPr id="284" name="Google Shape;284;p48"/>
          <p:cNvSpPr txBox="1"/>
          <p:nvPr/>
        </p:nvSpPr>
        <p:spPr>
          <a:xfrm>
            <a:off x="7125400" y="5151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F4CCCC"/>
                </a:solidFill>
                <a:latin typeface="Avenir"/>
                <a:ea typeface="Avenir"/>
                <a:cs typeface="Avenir"/>
                <a:sym typeface="Avenir"/>
              </a:rPr>
              <a:t>Regulate</a:t>
            </a:r>
            <a:endParaRPr b="1" sz="3700">
              <a:solidFill>
                <a:srgbClr val="F4CCCC"/>
              </a:solidFill>
              <a:latin typeface="Avenir"/>
              <a:ea typeface="Avenir"/>
              <a:cs typeface="Avenir"/>
              <a:sym typeface="Avenir"/>
            </a:endParaRPr>
          </a:p>
        </p:txBody>
      </p:sp>
      <p:pic>
        <p:nvPicPr>
          <p:cNvPr id="285" name="Google Shape;285;p48"/>
          <p:cNvPicPr preferRelativeResize="0"/>
          <p:nvPr/>
        </p:nvPicPr>
        <p:blipFill rotWithShape="1">
          <a:blip r:embed="rId3">
            <a:alphaModFix amt="25000"/>
          </a:blip>
          <a:srcRect b="46587" l="0" r="69103" t="0"/>
          <a:stretch/>
        </p:blipFill>
        <p:spPr>
          <a:xfrm>
            <a:off x="9710800" y="4568167"/>
            <a:ext cx="2184400" cy="2286000"/>
          </a:xfrm>
          <a:prstGeom prst="rect">
            <a:avLst/>
          </a:prstGeom>
          <a:noFill/>
          <a:ln>
            <a:noFill/>
          </a:ln>
        </p:spPr>
      </p:pic>
      <p:pic>
        <p:nvPicPr>
          <p:cNvPr id="286" name="Google Shape;286;p48"/>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287" name="Google Shape;287;p48"/>
          <p:cNvPicPr preferRelativeResize="0"/>
          <p:nvPr/>
        </p:nvPicPr>
        <p:blipFill rotWithShape="1">
          <a:blip r:embed="rId3">
            <a:alphaModFix amt="25000"/>
          </a:blip>
          <a:srcRect b="46587" l="68272" r="0" t="0"/>
          <a:stretch/>
        </p:blipFill>
        <p:spPr>
          <a:xfrm>
            <a:off x="9679050" y="3833"/>
            <a:ext cx="2247900" cy="2286000"/>
          </a:xfrm>
          <a:prstGeom prst="rect">
            <a:avLst/>
          </a:prstGeom>
          <a:noFill/>
          <a:ln>
            <a:noFill/>
          </a:ln>
        </p:spPr>
      </p:pic>
      <p:sp>
        <p:nvSpPr>
          <p:cNvPr id="288" name="Google Shape;288;p48"/>
          <p:cNvSpPr txBox="1"/>
          <p:nvPr>
            <p:ph idx="1" type="subTitle"/>
          </p:nvPr>
        </p:nvSpPr>
        <p:spPr>
          <a:xfrm>
            <a:off x="2570967" y="1853867"/>
            <a:ext cx="3820500" cy="4425300"/>
          </a:xfrm>
          <a:prstGeom prst="rect">
            <a:avLst/>
          </a:prstGeom>
        </p:spPr>
        <p:txBody>
          <a:bodyPr anchorCtr="0" anchor="b"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0B5394"/>
                </a:solidFill>
                <a:latin typeface="Avenir"/>
                <a:ea typeface="Avenir"/>
                <a:cs typeface="Avenir"/>
                <a:sym typeface="Avenir"/>
              </a:rPr>
              <a:t>“Come up and see me, make me smile”</a:t>
            </a:r>
            <a:endParaRPr sz="2500">
              <a:solidFill>
                <a:srgbClr val="0B5394"/>
              </a:solidFill>
              <a:latin typeface="Avenir"/>
              <a:ea typeface="Avenir"/>
              <a:cs typeface="Avenir"/>
              <a:sym typeface="Avenir"/>
            </a:endParaRPr>
          </a:p>
        </p:txBody>
      </p:sp>
      <p:sp>
        <p:nvSpPr>
          <p:cNvPr id="289" name="Google Shape;289;p48"/>
          <p:cNvSpPr/>
          <p:nvPr/>
        </p:nvSpPr>
        <p:spPr>
          <a:xfrm flipH="1">
            <a:off x="833000" y="1853867"/>
            <a:ext cx="1550100" cy="4425300"/>
          </a:xfrm>
          <a:prstGeom prst="rtTriangle">
            <a:avLst/>
          </a:prstGeom>
          <a:gradFill>
            <a:gsLst>
              <a:gs pos="0">
                <a:srgbClr val="D4E5F5"/>
              </a:gs>
              <a:gs pos="100000">
                <a:srgbClr val="70A4D5"/>
              </a:gs>
            </a:gsLst>
            <a:lin ang="5400012" scaled="0"/>
          </a:gra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290" name="Google Shape;290;p48"/>
          <p:cNvPicPr preferRelativeResize="0"/>
          <p:nvPr/>
        </p:nvPicPr>
        <p:blipFill>
          <a:blip r:embed="rId4">
            <a:alphaModFix/>
          </a:blip>
          <a:stretch>
            <a:fillRect/>
          </a:stretch>
        </p:blipFill>
        <p:spPr>
          <a:xfrm>
            <a:off x="584050" y="4094600"/>
            <a:ext cx="2184300" cy="2184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49"/>
          <p:cNvSpPr/>
          <p:nvPr/>
        </p:nvSpPr>
        <p:spPr>
          <a:xfrm>
            <a:off x="6096000" y="1341000"/>
            <a:ext cx="4243200" cy="4938000"/>
          </a:xfrm>
          <a:prstGeom prst="upArrow">
            <a:avLst>
              <a:gd fmla="val 50000" name="adj1"/>
              <a:gd fmla="val 50000" name="adj2"/>
            </a:avLst>
          </a:prstGeom>
          <a:solidFill>
            <a:schemeClr val="lt1"/>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96" name="Google Shape;296;p49"/>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Academic</a:t>
            </a:r>
            <a:r>
              <a:rPr lang="en-US" sz="4000">
                <a:solidFill>
                  <a:srgbClr val="00A1CC"/>
                </a:solidFill>
                <a:latin typeface="Avenir"/>
                <a:ea typeface="Avenir"/>
                <a:cs typeface="Avenir"/>
                <a:sym typeface="Avenir"/>
              </a:rPr>
              <a:t> Solutions</a:t>
            </a:r>
            <a:endParaRPr sz="4000">
              <a:solidFill>
                <a:srgbClr val="00A1CC"/>
              </a:solidFill>
              <a:latin typeface="Avenir"/>
              <a:ea typeface="Avenir"/>
              <a:cs typeface="Avenir"/>
              <a:sym typeface="Avenir"/>
            </a:endParaRPr>
          </a:p>
        </p:txBody>
      </p:sp>
      <p:sp>
        <p:nvSpPr>
          <p:cNvPr id="297" name="Google Shape;297;p49"/>
          <p:cNvSpPr txBox="1"/>
          <p:nvPr/>
        </p:nvSpPr>
        <p:spPr>
          <a:xfrm>
            <a:off x="7125400" y="4465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38761D"/>
                </a:solidFill>
                <a:latin typeface="Avenir"/>
                <a:ea typeface="Avenir"/>
                <a:cs typeface="Avenir"/>
                <a:sym typeface="Avenir"/>
              </a:rPr>
              <a:t>Reason</a:t>
            </a:r>
            <a:endParaRPr b="1" sz="3700">
              <a:solidFill>
                <a:srgbClr val="38761D"/>
              </a:solidFill>
              <a:latin typeface="Avenir"/>
              <a:ea typeface="Avenir"/>
              <a:cs typeface="Avenir"/>
              <a:sym typeface="Avenir"/>
            </a:endParaRPr>
          </a:p>
        </p:txBody>
      </p:sp>
      <p:sp>
        <p:nvSpPr>
          <p:cNvPr id="298" name="Google Shape;298;p49"/>
          <p:cNvSpPr txBox="1"/>
          <p:nvPr/>
        </p:nvSpPr>
        <p:spPr>
          <a:xfrm>
            <a:off x="7125400" y="28696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CFE2F3"/>
                </a:solidFill>
                <a:latin typeface="Avenir"/>
                <a:ea typeface="Avenir"/>
                <a:cs typeface="Avenir"/>
                <a:sym typeface="Avenir"/>
              </a:rPr>
              <a:t>Relate</a:t>
            </a:r>
            <a:endParaRPr b="1" sz="3700">
              <a:solidFill>
                <a:srgbClr val="CFE2F3"/>
              </a:solidFill>
              <a:latin typeface="Avenir"/>
              <a:ea typeface="Avenir"/>
              <a:cs typeface="Avenir"/>
              <a:sym typeface="Avenir"/>
            </a:endParaRPr>
          </a:p>
        </p:txBody>
      </p:sp>
      <p:sp>
        <p:nvSpPr>
          <p:cNvPr id="299" name="Google Shape;299;p49"/>
          <p:cNvSpPr txBox="1"/>
          <p:nvPr/>
        </p:nvSpPr>
        <p:spPr>
          <a:xfrm>
            <a:off x="7125400" y="5151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F4CCCC"/>
                </a:solidFill>
                <a:latin typeface="Avenir"/>
                <a:ea typeface="Avenir"/>
                <a:cs typeface="Avenir"/>
                <a:sym typeface="Avenir"/>
              </a:rPr>
              <a:t>Regulate</a:t>
            </a:r>
            <a:endParaRPr b="1" sz="3700">
              <a:solidFill>
                <a:srgbClr val="F4CCCC"/>
              </a:solidFill>
              <a:latin typeface="Avenir"/>
              <a:ea typeface="Avenir"/>
              <a:cs typeface="Avenir"/>
              <a:sym typeface="Avenir"/>
            </a:endParaRPr>
          </a:p>
        </p:txBody>
      </p:sp>
      <p:pic>
        <p:nvPicPr>
          <p:cNvPr id="300" name="Google Shape;300;p49"/>
          <p:cNvPicPr preferRelativeResize="0"/>
          <p:nvPr/>
        </p:nvPicPr>
        <p:blipFill rotWithShape="1">
          <a:blip r:embed="rId3">
            <a:alphaModFix amt="25000"/>
          </a:blip>
          <a:srcRect b="46587" l="0" r="69103" t="0"/>
          <a:stretch/>
        </p:blipFill>
        <p:spPr>
          <a:xfrm>
            <a:off x="9710800" y="4568167"/>
            <a:ext cx="2184400" cy="2286000"/>
          </a:xfrm>
          <a:prstGeom prst="rect">
            <a:avLst/>
          </a:prstGeom>
          <a:noFill/>
          <a:ln>
            <a:noFill/>
          </a:ln>
        </p:spPr>
      </p:pic>
      <p:pic>
        <p:nvPicPr>
          <p:cNvPr id="301" name="Google Shape;301;p49"/>
          <p:cNvPicPr preferRelativeResize="0"/>
          <p:nvPr/>
        </p:nvPicPr>
        <p:blipFill rotWithShape="1">
          <a:blip r:embed="rId3">
            <a:alphaModFix amt="25000"/>
          </a:blip>
          <a:srcRect b="46587" l="34136" r="34136" t="0"/>
          <a:stretch/>
        </p:blipFill>
        <p:spPr>
          <a:xfrm>
            <a:off x="9679033" y="2289833"/>
            <a:ext cx="2247900" cy="2286000"/>
          </a:xfrm>
          <a:prstGeom prst="rect">
            <a:avLst/>
          </a:prstGeom>
          <a:noFill/>
          <a:ln>
            <a:noFill/>
          </a:ln>
        </p:spPr>
      </p:pic>
      <p:pic>
        <p:nvPicPr>
          <p:cNvPr id="302" name="Google Shape;302;p49"/>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303" name="Google Shape;303;p49"/>
          <p:cNvSpPr txBox="1"/>
          <p:nvPr>
            <p:ph idx="1" type="subTitle"/>
          </p:nvPr>
        </p:nvSpPr>
        <p:spPr>
          <a:xfrm>
            <a:off x="2570975" y="1853875"/>
            <a:ext cx="4794600" cy="44253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Let them be a ‘normal’ student</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Avoid ‘catch-up’ Narrative</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Explain Curriculum Journey</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Share Resources</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Independent Learning Plan</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Portfolio of Achievement</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Exam Entry Flexibility</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Results aren’t the </a:t>
            </a:r>
            <a:r>
              <a:rPr i="1" lang="en-US" sz="2500">
                <a:solidFill>
                  <a:srgbClr val="38761D"/>
                </a:solidFill>
                <a:latin typeface="Avenir"/>
                <a:ea typeface="Avenir"/>
                <a:cs typeface="Avenir"/>
                <a:sym typeface="Avenir"/>
              </a:rPr>
              <a:t>only </a:t>
            </a:r>
            <a:r>
              <a:rPr lang="en-US" sz="2500">
                <a:solidFill>
                  <a:srgbClr val="38761D"/>
                </a:solidFill>
                <a:latin typeface="Avenir"/>
                <a:ea typeface="Avenir"/>
                <a:cs typeface="Avenir"/>
                <a:sym typeface="Avenir"/>
              </a:rPr>
              <a:t>outcome</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500">
                <a:solidFill>
                  <a:srgbClr val="38761D"/>
                </a:solidFill>
                <a:latin typeface="Avenir"/>
                <a:ea typeface="Avenir"/>
                <a:cs typeface="Avenir"/>
                <a:sym typeface="Avenir"/>
              </a:rPr>
              <a:t>Unit Award Scheme Options</a:t>
            </a:r>
            <a:endParaRPr sz="2500">
              <a:solidFill>
                <a:srgbClr val="38761D"/>
              </a:solidFill>
              <a:latin typeface="Avenir"/>
              <a:ea typeface="Avenir"/>
              <a:cs typeface="Avenir"/>
              <a:sym typeface="Avenir"/>
            </a:endParaRPr>
          </a:p>
        </p:txBody>
      </p:sp>
      <p:sp>
        <p:nvSpPr>
          <p:cNvPr id="304" name="Google Shape;304;p49"/>
          <p:cNvSpPr/>
          <p:nvPr/>
        </p:nvSpPr>
        <p:spPr>
          <a:xfrm flipH="1">
            <a:off x="833000" y="1853867"/>
            <a:ext cx="1550100" cy="4425300"/>
          </a:xfrm>
          <a:prstGeom prst="rtTriangle">
            <a:avLst/>
          </a:prstGeom>
          <a:gradFill>
            <a:gsLst>
              <a:gs pos="0">
                <a:srgbClr val="DCECD5"/>
              </a:gs>
              <a:gs pos="100000">
                <a:srgbClr val="92BC81"/>
              </a:gs>
            </a:gsLst>
            <a:lin ang="5400012" scaled="0"/>
          </a:gra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50"/>
          <p:cNvSpPr/>
          <p:nvPr/>
        </p:nvSpPr>
        <p:spPr>
          <a:xfrm>
            <a:off x="6096000" y="1341000"/>
            <a:ext cx="4243200" cy="4938000"/>
          </a:xfrm>
          <a:prstGeom prst="upArrow">
            <a:avLst>
              <a:gd fmla="val 50000" name="adj1"/>
              <a:gd fmla="val 50000" name="adj2"/>
            </a:avLst>
          </a:prstGeom>
          <a:solidFill>
            <a:schemeClr val="lt1"/>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310" name="Google Shape;310;p50"/>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The Great Success Story</a:t>
            </a:r>
            <a:endParaRPr sz="4000">
              <a:solidFill>
                <a:srgbClr val="00A1CC"/>
              </a:solidFill>
              <a:latin typeface="Avenir"/>
              <a:ea typeface="Avenir"/>
              <a:cs typeface="Avenir"/>
              <a:sym typeface="Avenir"/>
            </a:endParaRPr>
          </a:p>
        </p:txBody>
      </p:sp>
      <p:sp>
        <p:nvSpPr>
          <p:cNvPr id="311" name="Google Shape;311;p50"/>
          <p:cNvSpPr txBox="1"/>
          <p:nvPr/>
        </p:nvSpPr>
        <p:spPr>
          <a:xfrm>
            <a:off x="7125400" y="4465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38761D"/>
                </a:solidFill>
                <a:latin typeface="Avenir"/>
                <a:ea typeface="Avenir"/>
                <a:cs typeface="Avenir"/>
                <a:sym typeface="Avenir"/>
              </a:rPr>
              <a:t>Reason</a:t>
            </a:r>
            <a:endParaRPr b="1" sz="3700">
              <a:solidFill>
                <a:srgbClr val="38761D"/>
              </a:solidFill>
              <a:latin typeface="Avenir"/>
              <a:ea typeface="Avenir"/>
              <a:cs typeface="Avenir"/>
              <a:sym typeface="Avenir"/>
            </a:endParaRPr>
          </a:p>
        </p:txBody>
      </p:sp>
      <p:sp>
        <p:nvSpPr>
          <p:cNvPr id="312" name="Google Shape;312;p50"/>
          <p:cNvSpPr txBox="1"/>
          <p:nvPr/>
        </p:nvSpPr>
        <p:spPr>
          <a:xfrm>
            <a:off x="7125400" y="2869633"/>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CFE2F3"/>
                </a:solidFill>
                <a:latin typeface="Avenir"/>
                <a:ea typeface="Avenir"/>
                <a:cs typeface="Avenir"/>
                <a:sym typeface="Avenir"/>
              </a:rPr>
              <a:t>Relate</a:t>
            </a:r>
            <a:endParaRPr b="1" sz="3700">
              <a:solidFill>
                <a:srgbClr val="CFE2F3"/>
              </a:solidFill>
              <a:latin typeface="Avenir"/>
              <a:ea typeface="Avenir"/>
              <a:cs typeface="Avenir"/>
              <a:sym typeface="Avenir"/>
            </a:endParaRPr>
          </a:p>
        </p:txBody>
      </p:sp>
      <p:sp>
        <p:nvSpPr>
          <p:cNvPr id="313" name="Google Shape;313;p50"/>
          <p:cNvSpPr txBox="1"/>
          <p:nvPr/>
        </p:nvSpPr>
        <p:spPr>
          <a:xfrm>
            <a:off x="7125400" y="5151800"/>
            <a:ext cx="2184300" cy="11271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3700">
                <a:solidFill>
                  <a:srgbClr val="F4CCCC"/>
                </a:solidFill>
                <a:latin typeface="Avenir"/>
                <a:ea typeface="Avenir"/>
                <a:cs typeface="Avenir"/>
                <a:sym typeface="Avenir"/>
              </a:rPr>
              <a:t>Regulate</a:t>
            </a:r>
            <a:endParaRPr b="1" sz="3700">
              <a:solidFill>
                <a:srgbClr val="F4CCCC"/>
              </a:solidFill>
              <a:latin typeface="Avenir"/>
              <a:ea typeface="Avenir"/>
              <a:cs typeface="Avenir"/>
              <a:sym typeface="Avenir"/>
            </a:endParaRPr>
          </a:p>
        </p:txBody>
      </p:sp>
      <p:pic>
        <p:nvPicPr>
          <p:cNvPr id="314" name="Google Shape;314;p50"/>
          <p:cNvPicPr preferRelativeResize="0"/>
          <p:nvPr/>
        </p:nvPicPr>
        <p:blipFill rotWithShape="1">
          <a:blip r:embed="rId3">
            <a:alphaModFix amt="25000"/>
          </a:blip>
          <a:srcRect b="46587" l="0" r="69103" t="0"/>
          <a:stretch/>
        </p:blipFill>
        <p:spPr>
          <a:xfrm>
            <a:off x="9710800" y="4568167"/>
            <a:ext cx="2184400" cy="2286000"/>
          </a:xfrm>
          <a:prstGeom prst="rect">
            <a:avLst/>
          </a:prstGeom>
          <a:noFill/>
          <a:ln>
            <a:noFill/>
          </a:ln>
        </p:spPr>
      </p:pic>
      <p:pic>
        <p:nvPicPr>
          <p:cNvPr id="315" name="Google Shape;315;p50"/>
          <p:cNvPicPr preferRelativeResize="0"/>
          <p:nvPr/>
        </p:nvPicPr>
        <p:blipFill rotWithShape="1">
          <a:blip r:embed="rId3">
            <a:alphaModFix amt="25000"/>
          </a:blip>
          <a:srcRect b="46587" l="34136" r="34136" t="0"/>
          <a:stretch/>
        </p:blipFill>
        <p:spPr>
          <a:xfrm>
            <a:off x="9679033" y="2289833"/>
            <a:ext cx="2247900" cy="2286000"/>
          </a:xfrm>
          <a:prstGeom prst="rect">
            <a:avLst/>
          </a:prstGeom>
          <a:noFill/>
          <a:ln>
            <a:noFill/>
          </a:ln>
        </p:spPr>
      </p:pic>
      <p:pic>
        <p:nvPicPr>
          <p:cNvPr id="316" name="Google Shape;316;p50"/>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317" name="Google Shape;317;p50"/>
          <p:cNvSpPr txBox="1"/>
          <p:nvPr>
            <p:ph idx="1" type="subTitle"/>
          </p:nvPr>
        </p:nvSpPr>
        <p:spPr>
          <a:xfrm>
            <a:off x="2570975" y="1853875"/>
            <a:ext cx="4794600" cy="44253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Celebrate successes with parents - they’re often isolated, disengaged or without hope.</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t/>
            </a:r>
            <a:endParaRPr sz="2500">
              <a:solidFill>
                <a:srgbClr val="38761D"/>
              </a:solidFill>
              <a:latin typeface="Avenir"/>
              <a:ea typeface="Avenir"/>
              <a:cs typeface="Avenir"/>
              <a:sym typeface="Avenir"/>
            </a:endParaRPr>
          </a:p>
          <a:p>
            <a:pPr indent="0" lvl="0" marL="0" rtl="0" algn="l">
              <a:lnSpc>
                <a:spcPct val="115000"/>
              </a:lnSpc>
              <a:spcBef>
                <a:spcPts val="0"/>
              </a:spcBef>
              <a:spcAft>
                <a:spcPts val="0"/>
              </a:spcAft>
              <a:buNone/>
            </a:pPr>
            <a:r>
              <a:rPr lang="en-US" sz="2500">
                <a:solidFill>
                  <a:srgbClr val="38761D"/>
                </a:solidFill>
                <a:latin typeface="Avenir"/>
                <a:ea typeface="Avenir"/>
                <a:cs typeface="Avenir"/>
                <a:sym typeface="Avenir"/>
              </a:rPr>
              <a:t>Each student presents an opportunity for you to share in a great success story, one that could have lifelong ‘sliding doors’ implications. </a:t>
            </a:r>
            <a:endParaRPr sz="2500">
              <a:solidFill>
                <a:srgbClr val="38761D"/>
              </a:solidFill>
              <a:latin typeface="Avenir"/>
              <a:ea typeface="Avenir"/>
              <a:cs typeface="Avenir"/>
              <a:sym typeface="Avenir"/>
            </a:endParaRPr>
          </a:p>
        </p:txBody>
      </p:sp>
      <p:sp>
        <p:nvSpPr>
          <p:cNvPr id="318" name="Google Shape;318;p50"/>
          <p:cNvSpPr/>
          <p:nvPr/>
        </p:nvSpPr>
        <p:spPr>
          <a:xfrm flipH="1">
            <a:off x="833000" y="1853867"/>
            <a:ext cx="1550100" cy="4425300"/>
          </a:xfrm>
          <a:prstGeom prst="rtTriangle">
            <a:avLst/>
          </a:prstGeom>
          <a:gradFill>
            <a:gsLst>
              <a:gs pos="0">
                <a:srgbClr val="DCECD5"/>
              </a:gs>
              <a:gs pos="100000">
                <a:srgbClr val="92BC81"/>
              </a:gs>
            </a:gsLst>
            <a:lin ang="5400012" scaled="0"/>
          </a:gra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319" name="Google Shape;319;p50"/>
          <p:cNvPicPr preferRelativeResize="0"/>
          <p:nvPr/>
        </p:nvPicPr>
        <p:blipFill>
          <a:blip r:embed="rId4">
            <a:alphaModFix/>
          </a:blip>
          <a:stretch>
            <a:fillRect/>
          </a:stretch>
        </p:blipFill>
        <p:spPr>
          <a:xfrm>
            <a:off x="723188" y="4509175"/>
            <a:ext cx="1769725" cy="1769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3" name="Shape 323"/>
        <p:cNvGrpSpPr/>
        <p:nvPr/>
      </p:nvGrpSpPr>
      <p:grpSpPr>
        <a:xfrm>
          <a:off x="0" y="0"/>
          <a:ext cx="0" cy="0"/>
          <a:chOff x="0" y="0"/>
          <a:chExt cx="0" cy="0"/>
        </a:xfrm>
      </p:grpSpPr>
      <p:sp>
        <p:nvSpPr>
          <p:cNvPr id="324" name="Google Shape;324;p51"/>
          <p:cNvSpPr txBox="1"/>
          <p:nvPr>
            <p:ph idx="1" type="subTitle"/>
          </p:nvPr>
        </p:nvSpPr>
        <p:spPr>
          <a:xfrm>
            <a:off x="317967" y="305466"/>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Session Outline</a:t>
            </a:r>
            <a:endParaRPr i="1" sz="4000">
              <a:solidFill>
                <a:srgbClr val="00A1CC"/>
              </a:solidFill>
              <a:latin typeface="Avenir"/>
              <a:ea typeface="Avenir"/>
              <a:cs typeface="Avenir"/>
              <a:sym typeface="Avenir"/>
            </a:endParaRPr>
          </a:p>
        </p:txBody>
      </p:sp>
      <p:sp>
        <p:nvSpPr>
          <p:cNvPr id="325" name="Google Shape;325;p51"/>
          <p:cNvSpPr txBox="1"/>
          <p:nvPr>
            <p:ph idx="1" type="subTitle"/>
          </p:nvPr>
        </p:nvSpPr>
        <p:spPr>
          <a:xfrm>
            <a:off x="918800" y="1470000"/>
            <a:ext cx="8590800" cy="1871700"/>
          </a:xfrm>
          <a:prstGeom prst="rect">
            <a:avLst/>
          </a:prstGeom>
        </p:spPr>
        <p:txBody>
          <a:bodyPr anchorCtr="0" anchor="ctr" bIns="121900" lIns="121900" spcFirstLastPara="1" rIns="121900" wrap="square" tIns="121900">
            <a:spAutoFit/>
          </a:bodyPr>
          <a:lstStyle/>
          <a:p>
            <a:pPr indent="-508000" lvl="0" marL="609600" rtl="0" algn="l">
              <a:lnSpc>
                <a:spcPct val="115000"/>
              </a:lnSpc>
              <a:spcBef>
                <a:spcPts val="240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Why ISAPs? Why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The ‘How-To’ of Reintegration</a:t>
            </a:r>
            <a:endParaRPr sz="3200">
              <a:solidFill>
                <a:srgbClr val="666666"/>
              </a:solidFill>
              <a:highlight>
                <a:srgbClr val="FFFFFF"/>
              </a:highlight>
              <a:latin typeface="Avenir"/>
              <a:ea typeface="Avenir"/>
              <a:cs typeface="Avenir"/>
              <a:sym typeface="Avenir"/>
            </a:endParaRPr>
          </a:p>
          <a:p>
            <a:pPr indent="-508000" lvl="0" marL="609600" rtl="0" algn="l">
              <a:lnSpc>
                <a:spcPct val="115000"/>
              </a:lnSpc>
              <a:spcBef>
                <a:spcPts val="0"/>
              </a:spcBef>
              <a:spcAft>
                <a:spcPts val="0"/>
              </a:spcAft>
              <a:buClr>
                <a:srgbClr val="666666"/>
              </a:buClr>
              <a:buSzPts val="3200"/>
              <a:buFont typeface="Avenir"/>
              <a:buChar char="●"/>
            </a:pPr>
            <a:r>
              <a:rPr lang="en-US" sz="3200">
                <a:solidFill>
                  <a:srgbClr val="666666"/>
                </a:solidFill>
                <a:highlight>
                  <a:srgbClr val="FFFFFF"/>
                </a:highlight>
                <a:latin typeface="Avenir"/>
                <a:ea typeface="Avenir"/>
                <a:cs typeface="Avenir"/>
                <a:sym typeface="Avenir"/>
              </a:rPr>
              <a:t>Barriers, Challenges and Solutions</a:t>
            </a:r>
            <a:endParaRPr sz="3200">
              <a:solidFill>
                <a:srgbClr val="666666"/>
              </a:solidFill>
              <a:highlight>
                <a:srgbClr val="FFFFFF"/>
              </a:highlight>
              <a:latin typeface="Avenir"/>
              <a:ea typeface="Avenir"/>
              <a:cs typeface="Avenir"/>
              <a:sym typeface="Avenir"/>
            </a:endParaRPr>
          </a:p>
        </p:txBody>
      </p:sp>
      <p:pic>
        <p:nvPicPr>
          <p:cNvPr id="326" name="Google Shape;326;p51"/>
          <p:cNvPicPr preferRelativeResize="0"/>
          <p:nvPr/>
        </p:nvPicPr>
        <p:blipFill rotWithShape="1">
          <a:blip r:embed="rId3">
            <a:alphaModFix/>
          </a:blip>
          <a:srcRect b="16852" l="17279" r="17272" t="17501"/>
          <a:stretch/>
        </p:blipFill>
        <p:spPr>
          <a:xfrm>
            <a:off x="10095003" y="4836850"/>
            <a:ext cx="1587100" cy="1591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grpSp>
        <p:nvGrpSpPr>
          <p:cNvPr id="331" name="Google Shape;331;p52"/>
          <p:cNvGrpSpPr/>
          <p:nvPr/>
        </p:nvGrpSpPr>
        <p:grpSpPr>
          <a:xfrm>
            <a:off x="0" y="6451200"/>
            <a:ext cx="12192000" cy="406800"/>
            <a:chOff x="0" y="6451200"/>
            <a:chExt cx="12192000" cy="406800"/>
          </a:xfrm>
        </p:grpSpPr>
        <p:sp>
          <p:nvSpPr>
            <p:cNvPr id="332" name="Google Shape;332;p52"/>
            <p:cNvSpPr/>
            <p:nvPr/>
          </p:nvSpPr>
          <p:spPr>
            <a:xfrm>
              <a:off x="0" y="6451200"/>
              <a:ext cx="12192000" cy="406800"/>
            </a:xfrm>
            <a:prstGeom prst="rtTriangle">
              <a:avLst/>
            </a:prstGeom>
            <a:solidFill>
              <a:srgbClr val="00BC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333" name="Google Shape;333;p52"/>
            <p:cNvSpPr/>
            <p:nvPr/>
          </p:nvSpPr>
          <p:spPr>
            <a:xfrm flipH="1">
              <a:off x="6096000" y="6451200"/>
              <a:ext cx="6096000" cy="406800"/>
            </a:xfrm>
            <a:prstGeom prst="rtTriangle">
              <a:avLst/>
            </a:prstGeom>
            <a:solidFill>
              <a:srgbClr val="00BC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grpSp>
      <p:pic>
        <p:nvPicPr>
          <p:cNvPr id="334" name="Google Shape;334;p52" title="Professional Development Institute.png"/>
          <p:cNvPicPr preferRelativeResize="0"/>
          <p:nvPr/>
        </p:nvPicPr>
        <p:blipFill>
          <a:blip r:embed="rId3">
            <a:alphaModFix/>
          </a:blip>
          <a:stretch>
            <a:fillRect/>
          </a:stretch>
        </p:blipFill>
        <p:spPr>
          <a:xfrm>
            <a:off x="10497850" y="206075"/>
            <a:ext cx="1443430" cy="786900"/>
          </a:xfrm>
          <a:prstGeom prst="rect">
            <a:avLst/>
          </a:prstGeom>
          <a:noFill/>
          <a:ln>
            <a:noFill/>
          </a:ln>
        </p:spPr>
      </p:pic>
      <p:pic>
        <p:nvPicPr>
          <p:cNvPr id="335" name="Google Shape;335;p52"/>
          <p:cNvPicPr preferRelativeResize="0"/>
          <p:nvPr/>
        </p:nvPicPr>
        <p:blipFill>
          <a:blip r:embed="rId4">
            <a:alphaModFix/>
          </a:blip>
          <a:stretch>
            <a:fillRect/>
          </a:stretch>
        </p:blipFill>
        <p:spPr>
          <a:xfrm>
            <a:off x="236724" y="206074"/>
            <a:ext cx="2893288" cy="786900"/>
          </a:xfrm>
          <a:prstGeom prst="rect">
            <a:avLst/>
          </a:prstGeom>
          <a:noFill/>
          <a:ln>
            <a:noFill/>
          </a:ln>
        </p:spPr>
      </p:pic>
      <p:sp>
        <p:nvSpPr>
          <p:cNvPr id="336" name="Google Shape;336;p52"/>
          <p:cNvSpPr txBox="1"/>
          <p:nvPr>
            <p:ph idx="4294967295" type="ctrTitle"/>
          </p:nvPr>
        </p:nvSpPr>
        <p:spPr>
          <a:xfrm>
            <a:off x="997667" y="1404550"/>
            <a:ext cx="10388400" cy="18843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sz="6000">
                <a:solidFill>
                  <a:srgbClr val="00A1CC"/>
                </a:solidFill>
                <a:latin typeface="Avenir"/>
                <a:ea typeface="Avenir"/>
                <a:cs typeface="Avenir"/>
                <a:sym typeface="Avenir"/>
              </a:rPr>
              <a:t>The Road Back:</a:t>
            </a:r>
            <a:endParaRPr sz="6000">
              <a:solidFill>
                <a:srgbClr val="00A1CC"/>
              </a:solidFill>
              <a:latin typeface="Avenir"/>
              <a:ea typeface="Avenir"/>
              <a:cs typeface="Avenir"/>
              <a:sym typeface="Avenir"/>
            </a:endParaRPr>
          </a:p>
          <a:p>
            <a:pPr indent="0" lvl="0" marL="0" rtl="0" algn="l">
              <a:spcBef>
                <a:spcPts val="0"/>
              </a:spcBef>
              <a:spcAft>
                <a:spcPts val="0"/>
              </a:spcAft>
              <a:buNone/>
            </a:pPr>
            <a:r>
              <a:rPr lang="en-US" sz="6000">
                <a:solidFill>
                  <a:srgbClr val="00A1CC"/>
                </a:solidFill>
                <a:latin typeface="Avenir"/>
                <a:ea typeface="Avenir"/>
                <a:cs typeface="Avenir"/>
                <a:sym typeface="Avenir"/>
              </a:rPr>
              <a:t>Teaching for Lost Learning</a:t>
            </a:r>
            <a:endParaRPr sz="6000">
              <a:solidFill>
                <a:srgbClr val="00A1CC"/>
              </a:solidFill>
              <a:latin typeface="Avenir"/>
              <a:ea typeface="Avenir"/>
              <a:cs typeface="Avenir"/>
              <a:sym typeface="Avenir"/>
            </a:endParaRPr>
          </a:p>
        </p:txBody>
      </p:sp>
      <p:pic>
        <p:nvPicPr>
          <p:cNvPr id="337" name="Google Shape;337;p52"/>
          <p:cNvPicPr preferRelativeResize="0"/>
          <p:nvPr/>
        </p:nvPicPr>
        <p:blipFill rotWithShape="1">
          <a:blip r:embed="rId5">
            <a:alphaModFix/>
          </a:blip>
          <a:srcRect b="16852" l="17279" r="17272" t="17501"/>
          <a:stretch/>
        </p:blipFill>
        <p:spPr>
          <a:xfrm>
            <a:off x="800403" y="4557200"/>
            <a:ext cx="1587100" cy="1591924"/>
          </a:xfrm>
          <a:prstGeom prst="rect">
            <a:avLst/>
          </a:prstGeom>
          <a:noFill/>
          <a:ln>
            <a:noFill/>
          </a:ln>
        </p:spPr>
      </p:pic>
      <p:sp>
        <p:nvSpPr>
          <p:cNvPr id="338" name="Google Shape;338;p52"/>
          <p:cNvSpPr txBox="1"/>
          <p:nvPr/>
        </p:nvSpPr>
        <p:spPr>
          <a:xfrm>
            <a:off x="5600400" y="4477800"/>
            <a:ext cx="6130500" cy="18843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None/>
            </a:pPr>
            <a:r>
              <a:rPr lang="en-US" sz="3200">
                <a:solidFill>
                  <a:srgbClr val="595959"/>
                </a:solidFill>
                <a:latin typeface="Avenir"/>
                <a:ea typeface="Avenir"/>
                <a:cs typeface="Avenir"/>
                <a:sym typeface="Avenir"/>
              </a:rPr>
              <a:t>Dan Conley</a:t>
            </a:r>
            <a:endParaRPr sz="3200">
              <a:solidFill>
                <a:srgbClr val="595959"/>
              </a:solidFill>
              <a:latin typeface="Avenir"/>
              <a:ea typeface="Avenir"/>
              <a:cs typeface="Avenir"/>
              <a:sym typeface="Avenir"/>
            </a:endParaRPr>
          </a:p>
          <a:p>
            <a:pPr indent="0" lvl="0" marL="0" rtl="0" algn="r">
              <a:spcBef>
                <a:spcPts val="0"/>
              </a:spcBef>
              <a:spcAft>
                <a:spcPts val="0"/>
              </a:spcAft>
              <a:buNone/>
            </a:pPr>
            <a:r>
              <a:rPr lang="en-US" sz="3200">
                <a:solidFill>
                  <a:srgbClr val="595959"/>
                </a:solidFill>
                <a:latin typeface="Avenir"/>
                <a:ea typeface="Avenir"/>
                <a:cs typeface="Avenir"/>
                <a:sym typeface="Avenir"/>
              </a:rPr>
              <a:t>Director of In-School AP</a:t>
            </a:r>
            <a:endParaRPr sz="3200">
              <a:solidFill>
                <a:srgbClr val="595959"/>
              </a:solidFill>
              <a:latin typeface="Avenir"/>
              <a:ea typeface="Avenir"/>
              <a:cs typeface="Avenir"/>
              <a:sym typeface="Avenir"/>
            </a:endParaRPr>
          </a:p>
          <a:p>
            <a:pPr indent="0" lvl="0" marL="0" rtl="0" algn="r">
              <a:spcBef>
                <a:spcPts val="0"/>
              </a:spcBef>
              <a:spcAft>
                <a:spcPts val="0"/>
              </a:spcAft>
              <a:buNone/>
            </a:pPr>
            <a:r>
              <a:rPr lang="en-US" sz="2700" u="sng">
                <a:solidFill>
                  <a:schemeClr val="hlink"/>
                </a:solidFill>
                <a:latin typeface="Avenir"/>
                <a:ea typeface="Avenir"/>
                <a:cs typeface="Avenir"/>
                <a:sym typeface="Avenir"/>
                <a:hlinkClick r:id="rId6"/>
              </a:rPr>
              <a:t>daniel.conley@coopacademies.co.uk</a:t>
            </a:r>
            <a:r>
              <a:rPr lang="en-US" sz="2700">
                <a:solidFill>
                  <a:srgbClr val="595959"/>
                </a:solidFill>
                <a:latin typeface="Avenir"/>
                <a:ea typeface="Avenir"/>
                <a:cs typeface="Avenir"/>
                <a:sym typeface="Avenir"/>
              </a:rPr>
              <a:t>  </a:t>
            </a:r>
            <a:endParaRPr sz="2700">
              <a:solidFill>
                <a:srgbClr val="595959"/>
              </a:solidFill>
              <a:latin typeface="Avenir"/>
              <a:ea typeface="Avenir"/>
              <a:cs typeface="Avenir"/>
              <a:sym typeface="Aveni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2" name="Shape 342"/>
        <p:cNvGrpSpPr/>
        <p:nvPr/>
      </p:nvGrpSpPr>
      <p:grpSpPr>
        <a:xfrm>
          <a:off x="0" y="0"/>
          <a:ext cx="0" cy="0"/>
          <a:chOff x="0" y="0"/>
          <a:chExt cx="0" cy="0"/>
        </a:xfrm>
      </p:grpSpPr>
      <p:pic>
        <p:nvPicPr>
          <p:cNvPr id="343" name="Google Shape;343;p53"/>
          <p:cNvPicPr preferRelativeResize="0"/>
          <p:nvPr/>
        </p:nvPicPr>
        <p:blipFill rotWithShape="1">
          <a:blip r:embed="rId3">
            <a:alphaModFix/>
          </a:blip>
          <a:srcRect b="46587" l="0" r="69103" t="0"/>
          <a:stretch/>
        </p:blipFill>
        <p:spPr>
          <a:xfrm>
            <a:off x="629116" y="4568167"/>
            <a:ext cx="2184400" cy="2286000"/>
          </a:xfrm>
          <a:prstGeom prst="rect">
            <a:avLst/>
          </a:prstGeom>
          <a:noFill/>
          <a:ln>
            <a:noFill/>
          </a:ln>
        </p:spPr>
      </p:pic>
      <p:pic>
        <p:nvPicPr>
          <p:cNvPr id="344" name="Google Shape;344;p53"/>
          <p:cNvPicPr preferRelativeResize="0"/>
          <p:nvPr/>
        </p:nvPicPr>
        <p:blipFill rotWithShape="1">
          <a:blip r:embed="rId3">
            <a:alphaModFix/>
          </a:blip>
          <a:srcRect b="46587" l="34136" r="34136" t="0"/>
          <a:stretch/>
        </p:blipFill>
        <p:spPr>
          <a:xfrm>
            <a:off x="597349" y="2289833"/>
            <a:ext cx="2247900" cy="2286000"/>
          </a:xfrm>
          <a:prstGeom prst="rect">
            <a:avLst/>
          </a:prstGeom>
          <a:noFill/>
          <a:ln>
            <a:noFill/>
          </a:ln>
        </p:spPr>
      </p:pic>
      <p:pic>
        <p:nvPicPr>
          <p:cNvPr id="345" name="Google Shape;345;p53"/>
          <p:cNvPicPr preferRelativeResize="0"/>
          <p:nvPr/>
        </p:nvPicPr>
        <p:blipFill rotWithShape="1">
          <a:blip r:embed="rId3">
            <a:alphaModFix/>
          </a:blip>
          <a:srcRect b="46587" l="68272" r="0" t="0"/>
          <a:stretch/>
        </p:blipFill>
        <p:spPr>
          <a:xfrm>
            <a:off x="597366" y="3833"/>
            <a:ext cx="2247900" cy="2286000"/>
          </a:xfrm>
          <a:prstGeom prst="rect">
            <a:avLst/>
          </a:prstGeom>
          <a:noFill/>
          <a:ln>
            <a:noFill/>
          </a:ln>
        </p:spPr>
      </p:pic>
      <p:sp>
        <p:nvSpPr>
          <p:cNvPr id="346" name="Google Shape;346;p53"/>
          <p:cNvSpPr txBox="1"/>
          <p:nvPr>
            <p:ph idx="1" type="subTitle"/>
          </p:nvPr>
        </p:nvSpPr>
        <p:spPr>
          <a:xfrm>
            <a:off x="6111866" y="4874450"/>
            <a:ext cx="5482800" cy="1387800"/>
          </a:xfrm>
          <a:prstGeom prst="rect">
            <a:avLst/>
          </a:prstGeom>
        </p:spPr>
        <p:txBody>
          <a:bodyPr anchorCtr="0" anchor="ctr" bIns="121900" lIns="121900" spcFirstLastPara="1" rIns="121900" wrap="square" tIns="121900">
            <a:normAutofit/>
          </a:bodyPr>
          <a:lstStyle/>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Li</a:t>
            </a:r>
            <a:r>
              <a:rPr lang="en-US" sz="2000">
                <a:solidFill>
                  <a:srgbClr val="666666"/>
                </a:solidFill>
                <a:latin typeface="Avenir"/>
                <a:ea typeface="Avenir"/>
                <a:cs typeface="Avenir"/>
                <a:sym typeface="Avenir"/>
              </a:rPr>
              <a:t>fe support centre </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Pulse, breathing, blood pressure</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Mature by birth</a:t>
            </a:r>
            <a:endParaRPr sz="2000">
              <a:solidFill>
                <a:srgbClr val="666666"/>
              </a:solidFill>
              <a:latin typeface="Avenir"/>
              <a:ea typeface="Avenir"/>
              <a:cs typeface="Avenir"/>
              <a:sym typeface="Avenir"/>
            </a:endParaRPr>
          </a:p>
        </p:txBody>
      </p:sp>
      <p:sp>
        <p:nvSpPr>
          <p:cNvPr id="347" name="Google Shape;347;p53"/>
          <p:cNvSpPr txBox="1"/>
          <p:nvPr/>
        </p:nvSpPr>
        <p:spPr>
          <a:xfrm>
            <a:off x="2962691" y="5245100"/>
            <a:ext cx="3000000" cy="6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3000">
                <a:solidFill>
                  <a:srgbClr val="990000"/>
                </a:solidFill>
                <a:latin typeface="Avenir"/>
                <a:ea typeface="Avenir"/>
                <a:cs typeface="Avenir"/>
                <a:sym typeface="Avenir"/>
              </a:rPr>
              <a:t>Brain Stem</a:t>
            </a:r>
            <a:endParaRPr b="1" sz="3000">
              <a:solidFill>
                <a:srgbClr val="990000"/>
              </a:solidFill>
              <a:latin typeface="Avenir"/>
              <a:ea typeface="Avenir"/>
              <a:cs typeface="Avenir"/>
              <a:sym typeface="Avenir"/>
            </a:endParaRPr>
          </a:p>
        </p:txBody>
      </p:sp>
      <p:sp>
        <p:nvSpPr>
          <p:cNvPr id="348" name="Google Shape;348;p53"/>
          <p:cNvSpPr txBox="1"/>
          <p:nvPr>
            <p:ph idx="1" type="subTitle"/>
          </p:nvPr>
        </p:nvSpPr>
        <p:spPr>
          <a:xfrm>
            <a:off x="6111866" y="2669825"/>
            <a:ext cx="5482800" cy="1387800"/>
          </a:xfrm>
          <a:prstGeom prst="rect">
            <a:avLst/>
          </a:prstGeom>
        </p:spPr>
        <p:txBody>
          <a:bodyPr anchorCtr="0" anchor="ctr" bIns="121900" lIns="121900" spcFirstLastPara="1" rIns="121900" wrap="square" tIns="121900">
            <a:normAutofit/>
          </a:bodyPr>
          <a:lstStyle/>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Seat of our emotion</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Relational connection / attachment</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Matures at 10-13 years</a:t>
            </a:r>
            <a:endParaRPr sz="2000">
              <a:solidFill>
                <a:srgbClr val="666666"/>
              </a:solidFill>
              <a:latin typeface="Avenir"/>
              <a:ea typeface="Avenir"/>
              <a:cs typeface="Avenir"/>
              <a:sym typeface="Avenir"/>
            </a:endParaRPr>
          </a:p>
        </p:txBody>
      </p:sp>
      <p:sp>
        <p:nvSpPr>
          <p:cNvPr id="349" name="Google Shape;349;p53"/>
          <p:cNvSpPr txBox="1"/>
          <p:nvPr/>
        </p:nvSpPr>
        <p:spPr>
          <a:xfrm>
            <a:off x="2962691" y="3040475"/>
            <a:ext cx="3000000" cy="6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3000">
                <a:solidFill>
                  <a:srgbClr val="0B5394"/>
                </a:solidFill>
                <a:latin typeface="Avenir"/>
                <a:ea typeface="Avenir"/>
                <a:cs typeface="Avenir"/>
                <a:sym typeface="Avenir"/>
              </a:rPr>
              <a:t>Limbic System</a:t>
            </a:r>
            <a:endParaRPr b="1" sz="3000">
              <a:solidFill>
                <a:srgbClr val="0B5394"/>
              </a:solidFill>
              <a:latin typeface="Avenir"/>
              <a:ea typeface="Avenir"/>
              <a:cs typeface="Avenir"/>
              <a:sym typeface="Avenir"/>
            </a:endParaRPr>
          </a:p>
        </p:txBody>
      </p:sp>
      <p:sp>
        <p:nvSpPr>
          <p:cNvPr id="350" name="Google Shape;350;p53"/>
          <p:cNvSpPr txBox="1"/>
          <p:nvPr>
            <p:ph idx="1" type="subTitle"/>
          </p:nvPr>
        </p:nvSpPr>
        <p:spPr>
          <a:xfrm>
            <a:off x="6111866" y="379950"/>
            <a:ext cx="5482800" cy="1387800"/>
          </a:xfrm>
          <a:prstGeom prst="rect">
            <a:avLst/>
          </a:prstGeom>
        </p:spPr>
        <p:txBody>
          <a:bodyPr anchorCtr="0" anchor="ctr" bIns="121900" lIns="121900" spcFirstLastPara="1" rIns="121900" wrap="square" tIns="121900">
            <a:normAutofit/>
          </a:bodyPr>
          <a:lstStyle/>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Site of uniquely human capabilities</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Logical reasoning, planning, inhibiting</a:t>
            </a:r>
            <a:endParaRPr sz="2000">
              <a:solidFill>
                <a:srgbClr val="666666"/>
              </a:solidFill>
              <a:latin typeface="Avenir"/>
              <a:ea typeface="Avenir"/>
              <a:cs typeface="Avenir"/>
              <a:sym typeface="Avenir"/>
            </a:endParaRPr>
          </a:p>
          <a:p>
            <a:pPr indent="-431800" lvl="0" marL="609600" rtl="0" algn="l">
              <a:lnSpc>
                <a:spcPct val="115000"/>
              </a:lnSpc>
              <a:spcBef>
                <a:spcPts val="0"/>
              </a:spcBef>
              <a:spcAft>
                <a:spcPts val="0"/>
              </a:spcAft>
              <a:buClr>
                <a:srgbClr val="666666"/>
              </a:buClr>
              <a:buSzPts val="2000"/>
              <a:buFont typeface="Avenir"/>
              <a:buChar char="●"/>
            </a:pPr>
            <a:r>
              <a:rPr lang="en-US" sz="2000">
                <a:solidFill>
                  <a:srgbClr val="666666"/>
                </a:solidFill>
                <a:latin typeface="Avenir"/>
                <a:ea typeface="Avenir"/>
                <a:cs typeface="Avenir"/>
                <a:sym typeface="Avenir"/>
              </a:rPr>
              <a:t>Fully matures at 25 years</a:t>
            </a:r>
            <a:endParaRPr sz="2000">
              <a:solidFill>
                <a:srgbClr val="666666"/>
              </a:solidFill>
              <a:latin typeface="Avenir"/>
              <a:ea typeface="Avenir"/>
              <a:cs typeface="Avenir"/>
              <a:sym typeface="Avenir"/>
            </a:endParaRPr>
          </a:p>
        </p:txBody>
      </p:sp>
      <p:sp>
        <p:nvSpPr>
          <p:cNvPr id="351" name="Google Shape;351;p53"/>
          <p:cNvSpPr txBox="1"/>
          <p:nvPr/>
        </p:nvSpPr>
        <p:spPr>
          <a:xfrm>
            <a:off x="2962691" y="750600"/>
            <a:ext cx="3000000" cy="6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3000">
                <a:solidFill>
                  <a:srgbClr val="38761D"/>
                </a:solidFill>
                <a:latin typeface="Avenir"/>
                <a:ea typeface="Avenir"/>
                <a:cs typeface="Avenir"/>
                <a:sym typeface="Avenir"/>
              </a:rPr>
              <a:t>Frontal Cortex</a:t>
            </a:r>
            <a:endParaRPr b="1" sz="3000">
              <a:solidFill>
                <a:srgbClr val="38761D"/>
              </a:solidFill>
              <a:latin typeface="Avenir"/>
              <a:ea typeface="Avenir"/>
              <a:cs typeface="Avenir"/>
              <a:sym typeface="Avenir"/>
            </a:endParaRPr>
          </a:p>
        </p:txBody>
      </p:sp>
      <p:sp>
        <p:nvSpPr>
          <p:cNvPr id="352" name="Google Shape;352;p53"/>
          <p:cNvSpPr/>
          <p:nvPr/>
        </p:nvSpPr>
        <p:spPr>
          <a:xfrm>
            <a:off x="4129600" y="3944650"/>
            <a:ext cx="639300" cy="932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53"/>
          <p:cNvSpPr/>
          <p:nvPr/>
        </p:nvSpPr>
        <p:spPr>
          <a:xfrm>
            <a:off x="4158913" y="1660125"/>
            <a:ext cx="639300" cy="932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4AA8C"/>
        </a:solidFill>
      </p:bgPr>
    </p:bg>
    <p:spTree>
      <p:nvGrpSpPr>
        <p:cNvPr id="357" name="Shape 357"/>
        <p:cNvGrpSpPr/>
        <p:nvPr/>
      </p:nvGrpSpPr>
      <p:grpSpPr>
        <a:xfrm>
          <a:off x="0" y="0"/>
          <a:ext cx="0" cy="0"/>
          <a:chOff x="0" y="0"/>
          <a:chExt cx="0" cy="0"/>
        </a:xfrm>
      </p:grpSpPr>
      <p:sp>
        <p:nvSpPr>
          <p:cNvPr id="358" name="Google Shape;358;p54"/>
          <p:cNvSpPr txBox="1"/>
          <p:nvPr>
            <p:ph type="ctrTitle"/>
          </p:nvPr>
        </p:nvSpPr>
        <p:spPr>
          <a:xfrm>
            <a:off x="971167" y="1799567"/>
            <a:ext cx="10354500" cy="32016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US">
                <a:solidFill>
                  <a:srgbClr val="FFFFFF"/>
                </a:solidFill>
                <a:latin typeface="Avenir"/>
                <a:ea typeface="Avenir"/>
                <a:cs typeface="Avenir"/>
                <a:sym typeface="Avenir"/>
              </a:rPr>
              <a:t>Meet your body…</a:t>
            </a:r>
            <a:endParaRPr>
              <a:solidFill>
                <a:srgbClr val="FFFFFF"/>
              </a:solidFill>
              <a:latin typeface="Avenir"/>
              <a:ea typeface="Avenir"/>
              <a:cs typeface="Avenir"/>
              <a:sym typeface="Aveni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
        <p:nvSpPr>
          <p:cNvPr id="363" name="Google Shape;363;p55"/>
          <p:cNvSpPr txBox="1"/>
          <p:nvPr>
            <p:ph idx="1" type="subTitle"/>
          </p:nvPr>
        </p:nvSpPr>
        <p:spPr>
          <a:xfrm>
            <a:off x="971167" y="924033"/>
            <a:ext cx="10354500" cy="49668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a:solidFill>
                  <a:srgbClr val="666666"/>
                </a:solidFill>
                <a:latin typeface="Avenir"/>
                <a:ea typeface="Avenir"/>
                <a:cs typeface="Avenir"/>
                <a:sym typeface="Avenir"/>
              </a:rPr>
              <a:t>Take yourself back to a major and heated conflict you had with someone. Try to visualise the place you were in and the events as clearly as possible. Try to inhabit your body and experience it again.</a:t>
            </a:r>
            <a:endParaRPr>
              <a:solidFill>
                <a:srgbClr val="666666"/>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 name="Shape 367"/>
        <p:cNvGrpSpPr/>
        <p:nvPr/>
      </p:nvGrpSpPr>
      <p:grpSpPr>
        <a:xfrm>
          <a:off x="0" y="0"/>
          <a:ext cx="0" cy="0"/>
          <a:chOff x="0" y="0"/>
          <a:chExt cx="0" cy="0"/>
        </a:xfrm>
      </p:grpSpPr>
      <p:sp>
        <p:nvSpPr>
          <p:cNvPr id="368" name="Google Shape;368;p56"/>
          <p:cNvSpPr txBox="1"/>
          <p:nvPr>
            <p:ph idx="1" type="subTitle"/>
          </p:nvPr>
        </p:nvSpPr>
        <p:spPr>
          <a:xfrm>
            <a:off x="971167" y="924033"/>
            <a:ext cx="10354500" cy="49668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a:solidFill>
                  <a:srgbClr val="666666"/>
                </a:solidFill>
                <a:latin typeface="Avenir"/>
                <a:ea typeface="Avenir"/>
                <a:cs typeface="Avenir"/>
                <a:sym typeface="Avenir"/>
              </a:rPr>
              <a:t>Agree or Disagree?</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a:solidFill>
                <a:srgbClr val="666666"/>
              </a:solidFill>
              <a:latin typeface="Avenir"/>
              <a:ea typeface="Avenir"/>
              <a:cs typeface="Avenir"/>
              <a:sym typeface="Avenir"/>
            </a:endParaRPr>
          </a:p>
          <a:p>
            <a:pPr indent="-539750" lvl="0" marL="609600" rtl="0" algn="l">
              <a:lnSpc>
                <a:spcPct val="115000"/>
              </a:lnSpc>
              <a:spcBef>
                <a:spcPts val="0"/>
              </a:spcBef>
              <a:spcAft>
                <a:spcPts val="0"/>
              </a:spcAft>
              <a:buClr>
                <a:srgbClr val="666666"/>
              </a:buClr>
              <a:buSzPts val="3700"/>
              <a:buFont typeface="Avenir"/>
              <a:buChar char="●"/>
            </a:pPr>
            <a:r>
              <a:rPr lang="en-US">
                <a:solidFill>
                  <a:srgbClr val="666666"/>
                </a:solidFill>
                <a:latin typeface="Avenir"/>
                <a:ea typeface="Avenir"/>
                <a:cs typeface="Avenir"/>
                <a:sym typeface="Avenir"/>
              </a:rPr>
              <a:t>I was distracted for over an hour afterwards</a:t>
            </a:r>
            <a:endParaRPr>
              <a:solidFill>
                <a:srgbClr val="666666"/>
              </a:solidFill>
              <a:latin typeface="Avenir"/>
              <a:ea typeface="Avenir"/>
              <a:cs typeface="Avenir"/>
              <a:sym typeface="Avenir"/>
            </a:endParaRPr>
          </a:p>
          <a:p>
            <a:pPr indent="-539750" lvl="0" marL="609600" rtl="0" algn="l">
              <a:lnSpc>
                <a:spcPct val="115000"/>
              </a:lnSpc>
              <a:spcBef>
                <a:spcPts val="0"/>
              </a:spcBef>
              <a:spcAft>
                <a:spcPts val="0"/>
              </a:spcAft>
              <a:buClr>
                <a:srgbClr val="666666"/>
              </a:buClr>
              <a:buSzPts val="3700"/>
              <a:buFont typeface="Avenir"/>
              <a:buChar char="●"/>
            </a:pPr>
            <a:r>
              <a:rPr lang="en-US">
                <a:solidFill>
                  <a:srgbClr val="666666"/>
                </a:solidFill>
                <a:latin typeface="Avenir"/>
                <a:ea typeface="Avenir"/>
                <a:cs typeface="Avenir"/>
                <a:sym typeface="Avenir"/>
              </a:rPr>
              <a:t>It took at least an hour for my body to relax</a:t>
            </a:r>
            <a:endParaRPr>
              <a:solidFill>
                <a:srgbClr val="666666"/>
              </a:solidFill>
              <a:latin typeface="Avenir"/>
              <a:ea typeface="Avenir"/>
              <a:cs typeface="Avenir"/>
              <a:sym typeface="Avenir"/>
            </a:endParaRPr>
          </a:p>
          <a:p>
            <a:pPr indent="-539750" lvl="0" marL="609600" rtl="0" algn="l">
              <a:lnSpc>
                <a:spcPct val="115000"/>
              </a:lnSpc>
              <a:spcBef>
                <a:spcPts val="0"/>
              </a:spcBef>
              <a:spcAft>
                <a:spcPts val="0"/>
              </a:spcAft>
              <a:buClr>
                <a:srgbClr val="666666"/>
              </a:buClr>
              <a:buSzPts val="3700"/>
              <a:buFont typeface="Avenir"/>
              <a:buChar char="●"/>
            </a:pPr>
            <a:r>
              <a:rPr lang="en-US">
                <a:solidFill>
                  <a:srgbClr val="666666"/>
                </a:solidFill>
                <a:latin typeface="Avenir"/>
                <a:ea typeface="Avenir"/>
                <a:cs typeface="Avenir"/>
                <a:sym typeface="Avenir"/>
              </a:rPr>
              <a:t>Later, I thought of things I wished I’d said</a:t>
            </a:r>
            <a:endParaRPr>
              <a:solidFill>
                <a:srgbClr val="666666"/>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xEl>
                                              <p:pRg end="0" st="0"/>
                                            </p:txEl>
                                          </p:spTgt>
                                        </p:tgtEl>
                                        <p:attrNameLst>
                                          <p:attrName>style.visibility</p:attrName>
                                        </p:attrNameLst>
                                      </p:cBhvr>
                                      <p:to>
                                        <p:strVal val="visible"/>
                                      </p:to>
                                    </p:set>
                                    <p:animEffect filter="fade" transition="in">
                                      <p:cBhvr>
                                        <p:cTn dur="1000"/>
                                        <p:tgtEl>
                                          <p:spTgt spid="3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xEl>
                                              <p:pRg end="1" st="1"/>
                                            </p:txEl>
                                          </p:spTgt>
                                        </p:tgtEl>
                                        <p:attrNameLst>
                                          <p:attrName>style.visibility</p:attrName>
                                        </p:attrNameLst>
                                      </p:cBhvr>
                                      <p:to>
                                        <p:strVal val="visible"/>
                                      </p:to>
                                    </p:set>
                                    <p:animEffect filter="fade" transition="in">
                                      <p:cBhvr>
                                        <p:cTn dur="1000"/>
                                        <p:tgtEl>
                                          <p:spTgt spid="3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xEl>
                                              <p:pRg end="2" st="2"/>
                                            </p:txEl>
                                          </p:spTgt>
                                        </p:tgtEl>
                                        <p:attrNameLst>
                                          <p:attrName>style.visibility</p:attrName>
                                        </p:attrNameLst>
                                      </p:cBhvr>
                                      <p:to>
                                        <p:strVal val="visible"/>
                                      </p:to>
                                    </p:set>
                                    <p:animEffect filter="fade" transition="in">
                                      <p:cBhvr>
                                        <p:cTn dur="1000"/>
                                        <p:tgtEl>
                                          <p:spTgt spid="3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xEl>
                                              <p:pRg end="3" st="3"/>
                                            </p:txEl>
                                          </p:spTgt>
                                        </p:tgtEl>
                                        <p:attrNameLst>
                                          <p:attrName>style.visibility</p:attrName>
                                        </p:attrNameLst>
                                      </p:cBhvr>
                                      <p:to>
                                        <p:strVal val="visible"/>
                                      </p:to>
                                    </p:set>
                                    <p:animEffect filter="fade" transition="in">
                                      <p:cBhvr>
                                        <p:cTn dur="1000"/>
                                        <p:tgtEl>
                                          <p:spTgt spid="3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xEl>
                                              <p:pRg end="4" st="4"/>
                                            </p:txEl>
                                          </p:spTgt>
                                        </p:tgtEl>
                                        <p:attrNameLst>
                                          <p:attrName>style.visibility</p:attrName>
                                        </p:attrNameLst>
                                      </p:cBhvr>
                                      <p:to>
                                        <p:strVal val="visible"/>
                                      </p:to>
                                    </p:set>
                                    <p:animEffect filter="fade" transition="in">
                                      <p:cBhvr>
                                        <p:cTn dur="1000"/>
                                        <p:tgtEl>
                                          <p:spTgt spid="36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4AA8C"/>
        </a:solidFill>
      </p:bgPr>
    </p:bg>
    <p:spTree>
      <p:nvGrpSpPr>
        <p:cNvPr id="372" name="Shape 372"/>
        <p:cNvGrpSpPr/>
        <p:nvPr/>
      </p:nvGrpSpPr>
      <p:grpSpPr>
        <a:xfrm>
          <a:off x="0" y="0"/>
          <a:ext cx="0" cy="0"/>
          <a:chOff x="0" y="0"/>
          <a:chExt cx="0" cy="0"/>
        </a:xfrm>
      </p:grpSpPr>
      <p:sp>
        <p:nvSpPr>
          <p:cNvPr id="373" name="Google Shape;373;p57"/>
          <p:cNvSpPr txBox="1"/>
          <p:nvPr>
            <p:ph type="ctrTitle"/>
          </p:nvPr>
        </p:nvSpPr>
        <p:spPr>
          <a:xfrm>
            <a:off x="971167" y="1799567"/>
            <a:ext cx="10354500" cy="32016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US">
                <a:solidFill>
                  <a:srgbClr val="FFFFFF"/>
                </a:solidFill>
                <a:latin typeface="Avenir"/>
                <a:ea typeface="Avenir"/>
                <a:cs typeface="Avenir"/>
                <a:sym typeface="Avenir"/>
              </a:rPr>
              <a:t>Brain meets body…</a:t>
            </a:r>
            <a:endParaRPr>
              <a:solidFill>
                <a:srgbClr val="FFFFFF"/>
              </a:solidFill>
              <a:latin typeface="Avenir"/>
              <a:ea typeface="Avenir"/>
              <a:cs typeface="Avenir"/>
              <a:sym typeface="Aveni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p58"/>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Our ‘Lookout System’</a:t>
            </a:r>
            <a:endParaRPr sz="4000">
              <a:solidFill>
                <a:srgbClr val="00A1CC"/>
              </a:solidFill>
              <a:latin typeface="Avenir"/>
              <a:ea typeface="Avenir"/>
              <a:cs typeface="Avenir"/>
              <a:sym typeface="Avenir"/>
            </a:endParaRPr>
          </a:p>
        </p:txBody>
      </p:sp>
      <p:sp>
        <p:nvSpPr>
          <p:cNvPr id="379" name="Google Shape;379;p58"/>
          <p:cNvSpPr txBox="1"/>
          <p:nvPr>
            <p:ph idx="1" type="subTitle"/>
          </p:nvPr>
        </p:nvSpPr>
        <p:spPr>
          <a:xfrm>
            <a:off x="986833" y="1781833"/>
            <a:ext cx="4982100" cy="37224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666666"/>
                </a:solidFill>
                <a:latin typeface="Avenir"/>
                <a:ea typeface="Avenir"/>
                <a:cs typeface="Avenir"/>
                <a:sym typeface="Avenir"/>
              </a:rPr>
              <a:t>Brain pathways that constantly monitor our environments and other people, looking for threats and danger</a:t>
            </a:r>
            <a:endParaRPr sz="2500">
              <a:solidFill>
                <a:srgbClr val="666666"/>
              </a:solidFill>
              <a:latin typeface="Avenir"/>
              <a:ea typeface="Avenir"/>
              <a:cs typeface="Avenir"/>
              <a:sym typeface="Avenir"/>
            </a:endParaRPr>
          </a:p>
        </p:txBody>
      </p:sp>
      <p:pic>
        <p:nvPicPr>
          <p:cNvPr id="380" name="Google Shape;380;p58"/>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381" name="Google Shape;381;p58"/>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382" name="Google Shape;382;p58"/>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383" name="Google Shape;383;p58"/>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384" name="Google Shape;384;p58"/>
          <p:cNvPicPr preferRelativeResize="0"/>
          <p:nvPr/>
        </p:nvPicPr>
        <p:blipFill rotWithShape="1">
          <a:blip r:embed="rId4">
            <a:alphaModFix/>
          </a:blip>
          <a:srcRect b="0" l="0" r="0" t="14661"/>
          <a:stretch/>
        </p:blipFill>
        <p:spPr>
          <a:xfrm>
            <a:off x="6732050" y="3100402"/>
            <a:ext cx="1181600" cy="862000"/>
          </a:xfrm>
          <a:prstGeom prst="rect">
            <a:avLst/>
          </a:prstGeom>
          <a:noFill/>
          <a:ln>
            <a:noFill/>
          </a:ln>
        </p:spPr>
      </p:pic>
      <p:sp>
        <p:nvSpPr>
          <p:cNvPr id="385" name="Google Shape;385;p58"/>
          <p:cNvSpPr txBox="1"/>
          <p:nvPr/>
        </p:nvSpPr>
        <p:spPr>
          <a:xfrm>
            <a:off x="119833" y="6205533"/>
            <a:ext cx="4302900" cy="5388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US" sz="1900">
                <a:solidFill>
                  <a:srgbClr val="666666"/>
                </a:solidFill>
                <a:latin typeface="Avenir"/>
                <a:ea typeface="Avenir"/>
                <a:cs typeface="Avenir"/>
                <a:sym typeface="Avenir"/>
              </a:rPr>
              <a:t>Source: Porges (2011)</a:t>
            </a:r>
            <a:endParaRPr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sp>
        <p:nvSpPr>
          <p:cNvPr id="390" name="Google Shape;390;p59"/>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‘Threat / Stress’ Response</a:t>
            </a:r>
            <a:endParaRPr sz="4000">
              <a:solidFill>
                <a:srgbClr val="00A1CC"/>
              </a:solidFill>
              <a:latin typeface="Avenir"/>
              <a:ea typeface="Avenir"/>
              <a:cs typeface="Avenir"/>
              <a:sym typeface="Avenir"/>
            </a:endParaRPr>
          </a:p>
        </p:txBody>
      </p:sp>
      <p:sp>
        <p:nvSpPr>
          <p:cNvPr id="391" name="Google Shape;391;p59"/>
          <p:cNvSpPr txBox="1"/>
          <p:nvPr>
            <p:ph idx="1" type="subTitle"/>
          </p:nvPr>
        </p:nvSpPr>
        <p:spPr>
          <a:xfrm>
            <a:off x="986833" y="1781833"/>
            <a:ext cx="5404500" cy="4002000"/>
          </a:xfrm>
          <a:prstGeom prst="rect">
            <a:avLst/>
          </a:prstGeom>
        </p:spPr>
        <p:txBody>
          <a:bodyPr anchorCtr="0" anchor="ctr" bIns="121900" lIns="121900" spcFirstLastPara="1" rIns="121900" wrap="square" tIns="121900">
            <a:normAutofit/>
          </a:bodyPr>
          <a:lstStyle/>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Reaction to threat / danger </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Fight, flight, or freeze</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Higher reasoning shuts down</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Heart / breathing rate ↑</a:t>
            </a:r>
            <a:endParaRPr sz="25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sz="2500">
              <a:solidFill>
                <a:srgbClr val="666666"/>
              </a:solidFill>
              <a:latin typeface="Avenir"/>
              <a:ea typeface="Avenir"/>
              <a:cs typeface="Avenir"/>
              <a:sym typeface="Avenir"/>
            </a:endParaRPr>
          </a:p>
        </p:txBody>
      </p:sp>
      <p:sp>
        <p:nvSpPr>
          <p:cNvPr id="392" name="Google Shape;392;p59"/>
          <p:cNvSpPr/>
          <p:nvPr/>
        </p:nvSpPr>
        <p:spPr>
          <a:xfrm rot="5400000">
            <a:off x="8160517" y="3730283"/>
            <a:ext cx="1346400" cy="1158300"/>
          </a:xfrm>
          <a:prstGeom prst="bentArrow">
            <a:avLst>
              <a:gd fmla="val 25000" name="adj1"/>
              <a:gd fmla="val 25000" name="adj2"/>
              <a:gd fmla="val 25000" name="adj3"/>
              <a:gd fmla="val 43750" name="adj4"/>
            </a:avLst>
          </a:prstGeom>
          <a:solidFill>
            <a:srgbClr val="EE002E"/>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393" name="Google Shape;393;p59"/>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394" name="Google Shape;394;p59"/>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395" name="Google Shape;395;p59"/>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396" name="Google Shape;396;p59"/>
          <p:cNvSpPr/>
          <p:nvPr/>
        </p:nvSpPr>
        <p:spPr>
          <a:xfrm flipH="1" rot="5400000">
            <a:off x="8172217" y="2168983"/>
            <a:ext cx="1346400" cy="11817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397" name="Google Shape;397;p59"/>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398" name="Google Shape;398;p59"/>
          <p:cNvPicPr preferRelativeResize="0"/>
          <p:nvPr/>
        </p:nvPicPr>
        <p:blipFill rotWithShape="1">
          <a:blip r:embed="rId4">
            <a:alphaModFix/>
          </a:blip>
          <a:srcRect b="0" l="0" r="0" t="14661"/>
          <a:stretch/>
        </p:blipFill>
        <p:spPr>
          <a:xfrm>
            <a:off x="6732050" y="3100402"/>
            <a:ext cx="1181600" cy="862000"/>
          </a:xfrm>
          <a:prstGeom prst="rect">
            <a:avLst/>
          </a:prstGeom>
          <a:noFill/>
          <a:ln>
            <a:noFill/>
          </a:ln>
        </p:spPr>
      </p:pic>
      <p:sp>
        <p:nvSpPr>
          <p:cNvPr id="399" name="Google Shape;399;p59"/>
          <p:cNvSpPr txBox="1"/>
          <p:nvPr/>
        </p:nvSpPr>
        <p:spPr>
          <a:xfrm>
            <a:off x="119833" y="6205533"/>
            <a:ext cx="4302900" cy="5388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US" sz="1900">
                <a:solidFill>
                  <a:srgbClr val="666666"/>
                </a:solidFill>
                <a:latin typeface="Avenir"/>
                <a:ea typeface="Avenir"/>
                <a:cs typeface="Avenir"/>
                <a:sym typeface="Avenir"/>
              </a:rPr>
              <a:t>Source: Selye (1956)</a:t>
            </a:r>
            <a:endParaRPr sz="1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3" name="Shape 403"/>
        <p:cNvGrpSpPr/>
        <p:nvPr/>
      </p:nvGrpSpPr>
      <p:grpSpPr>
        <a:xfrm>
          <a:off x="0" y="0"/>
          <a:ext cx="0" cy="0"/>
          <a:chOff x="0" y="0"/>
          <a:chExt cx="0" cy="0"/>
        </a:xfrm>
      </p:grpSpPr>
      <p:sp>
        <p:nvSpPr>
          <p:cNvPr id="404" name="Google Shape;404;p60"/>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405" name="Google Shape;405;p60"/>
          <p:cNvPicPr preferRelativeResize="0"/>
          <p:nvPr/>
        </p:nvPicPr>
        <p:blipFill rotWithShape="1">
          <a:blip r:embed="rId3">
            <a:alphaModFix/>
          </a:blip>
          <a:srcRect b="0" l="0" r="0" t="14661"/>
          <a:stretch/>
        </p:blipFill>
        <p:spPr>
          <a:xfrm>
            <a:off x="6732050" y="3100402"/>
            <a:ext cx="1181600" cy="862000"/>
          </a:xfrm>
          <a:prstGeom prst="rect">
            <a:avLst/>
          </a:prstGeom>
          <a:noFill/>
          <a:ln>
            <a:noFill/>
          </a:ln>
        </p:spPr>
      </p:pic>
      <p:sp>
        <p:nvSpPr>
          <p:cNvPr id="406" name="Google Shape;406;p60"/>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‘Social Engagement’ Response</a:t>
            </a:r>
            <a:endParaRPr sz="4000">
              <a:solidFill>
                <a:srgbClr val="00A1CC"/>
              </a:solidFill>
              <a:latin typeface="Avenir"/>
              <a:ea typeface="Avenir"/>
              <a:cs typeface="Avenir"/>
              <a:sym typeface="Avenir"/>
            </a:endParaRPr>
          </a:p>
        </p:txBody>
      </p:sp>
      <p:sp>
        <p:nvSpPr>
          <p:cNvPr id="407" name="Google Shape;407;p60"/>
          <p:cNvSpPr txBox="1"/>
          <p:nvPr>
            <p:ph idx="1" type="subTitle"/>
          </p:nvPr>
        </p:nvSpPr>
        <p:spPr>
          <a:xfrm>
            <a:off x="1002500" y="1625267"/>
            <a:ext cx="4887900" cy="39171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sz="2500">
                <a:solidFill>
                  <a:srgbClr val="666666"/>
                </a:solidFill>
                <a:latin typeface="Avenir"/>
                <a:ea typeface="Avenir"/>
                <a:cs typeface="Avenir"/>
                <a:sym typeface="Avenir"/>
              </a:rPr>
              <a:t>Promotes socially appropriate behaviour, clear thinking, learning and problem-solving</a:t>
            </a:r>
            <a:endParaRPr sz="2500">
              <a:solidFill>
                <a:srgbClr val="666666"/>
              </a:solidFill>
              <a:latin typeface="Avenir"/>
              <a:ea typeface="Avenir"/>
              <a:cs typeface="Avenir"/>
              <a:sym typeface="Avenir"/>
            </a:endParaRPr>
          </a:p>
        </p:txBody>
      </p:sp>
      <p:sp>
        <p:nvSpPr>
          <p:cNvPr id="408" name="Google Shape;408;p60"/>
          <p:cNvSpPr/>
          <p:nvPr/>
        </p:nvSpPr>
        <p:spPr>
          <a:xfrm rot="5400000">
            <a:off x="8160517" y="3730283"/>
            <a:ext cx="1346400" cy="11583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409" name="Google Shape;409;p60"/>
          <p:cNvPicPr preferRelativeResize="0"/>
          <p:nvPr/>
        </p:nvPicPr>
        <p:blipFill rotWithShape="1">
          <a:blip r:embed="rId4">
            <a:alphaModFix/>
          </a:blip>
          <a:srcRect b="46587" l="0" r="69103" t="0"/>
          <a:stretch/>
        </p:blipFill>
        <p:spPr>
          <a:xfrm>
            <a:off x="9710800" y="4568167"/>
            <a:ext cx="2184400" cy="2286000"/>
          </a:xfrm>
          <a:prstGeom prst="rect">
            <a:avLst/>
          </a:prstGeom>
          <a:noFill/>
          <a:ln>
            <a:noFill/>
          </a:ln>
        </p:spPr>
      </p:pic>
      <p:pic>
        <p:nvPicPr>
          <p:cNvPr id="410" name="Google Shape;410;p60"/>
          <p:cNvPicPr preferRelativeResize="0"/>
          <p:nvPr/>
        </p:nvPicPr>
        <p:blipFill rotWithShape="1">
          <a:blip r:embed="rId4">
            <a:alphaModFix/>
          </a:blip>
          <a:srcRect b="46587" l="34136" r="34136" t="0"/>
          <a:stretch/>
        </p:blipFill>
        <p:spPr>
          <a:xfrm>
            <a:off x="9679033" y="2289833"/>
            <a:ext cx="2247900" cy="2286000"/>
          </a:xfrm>
          <a:prstGeom prst="rect">
            <a:avLst/>
          </a:prstGeom>
          <a:noFill/>
          <a:ln>
            <a:noFill/>
          </a:ln>
        </p:spPr>
      </p:pic>
      <p:pic>
        <p:nvPicPr>
          <p:cNvPr id="411" name="Google Shape;411;p60"/>
          <p:cNvPicPr preferRelativeResize="0"/>
          <p:nvPr/>
        </p:nvPicPr>
        <p:blipFill rotWithShape="1">
          <a:blip r:embed="rId4">
            <a:alphaModFix/>
          </a:blip>
          <a:srcRect b="46587" l="68272" r="0" t="0"/>
          <a:stretch/>
        </p:blipFill>
        <p:spPr>
          <a:xfrm>
            <a:off x="9679050" y="3833"/>
            <a:ext cx="2247900" cy="2286000"/>
          </a:xfrm>
          <a:prstGeom prst="rect">
            <a:avLst/>
          </a:prstGeom>
          <a:noFill/>
          <a:ln>
            <a:noFill/>
          </a:ln>
        </p:spPr>
      </p:pic>
      <p:sp>
        <p:nvSpPr>
          <p:cNvPr id="412" name="Google Shape;412;p60"/>
          <p:cNvSpPr/>
          <p:nvPr/>
        </p:nvSpPr>
        <p:spPr>
          <a:xfrm flipH="1" rot="5400000">
            <a:off x="8172217" y="2168983"/>
            <a:ext cx="1346400" cy="1181700"/>
          </a:xfrm>
          <a:prstGeom prst="bentArrow">
            <a:avLst>
              <a:gd fmla="val 25000" name="adj1"/>
              <a:gd fmla="val 25000" name="adj2"/>
              <a:gd fmla="val 25000" name="adj3"/>
              <a:gd fmla="val 43750" name="adj4"/>
            </a:avLst>
          </a:prstGeom>
          <a:solidFill>
            <a:srgbClr val="00DE9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13" name="Google Shape;413;p60"/>
          <p:cNvSpPr txBox="1"/>
          <p:nvPr/>
        </p:nvSpPr>
        <p:spPr>
          <a:xfrm>
            <a:off x="119833" y="6205533"/>
            <a:ext cx="4302900" cy="5388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lang="en-US" sz="1900">
                <a:solidFill>
                  <a:srgbClr val="666666"/>
                </a:solidFill>
                <a:latin typeface="Avenir"/>
                <a:ea typeface="Avenir"/>
                <a:cs typeface="Avenir"/>
                <a:sym typeface="Avenir"/>
              </a:rPr>
              <a:t>Source: </a:t>
            </a:r>
            <a:r>
              <a:rPr lang="en-US" sz="1900">
                <a:solidFill>
                  <a:srgbClr val="666666"/>
                </a:solidFill>
                <a:latin typeface="Avenir"/>
                <a:ea typeface="Avenir"/>
                <a:cs typeface="Avenir"/>
                <a:sym typeface="Avenir"/>
              </a:rPr>
              <a:t>Siegel and Bryson (2012)</a:t>
            </a:r>
            <a:endParaRPr sz="1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7" name="Shape 417"/>
        <p:cNvGrpSpPr/>
        <p:nvPr/>
      </p:nvGrpSpPr>
      <p:grpSpPr>
        <a:xfrm>
          <a:off x="0" y="0"/>
          <a:ext cx="0" cy="0"/>
          <a:chOff x="0" y="0"/>
          <a:chExt cx="0" cy="0"/>
        </a:xfrm>
      </p:grpSpPr>
      <p:sp>
        <p:nvSpPr>
          <p:cNvPr id="418" name="Google Shape;418;p61"/>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Your Argument</a:t>
            </a:r>
            <a:endParaRPr sz="4000">
              <a:solidFill>
                <a:srgbClr val="00A1CC"/>
              </a:solidFill>
              <a:latin typeface="Avenir"/>
              <a:ea typeface="Avenir"/>
              <a:cs typeface="Avenir"/>
              <a:sym typeface="Avenir"/>
            </a:endParaRPr>
          </a:p>
        </p:txBody>
      </p:sp>
      <p:sp>
        <p:nvSpPr>
          <p:cNvPr id="419" name="Google Shape;419;p61"/>
          <p:cNvSpPr txBox="1"/>
          <p:nvPr>
            <p:ph idx="1" type="subTitle"/>
          </p:nvPr>
        </p:nvSpPr>
        <p:spPr>
          <a:xfrm>
            <a:off x="986833" y="1781833"/>
            <a:ext cx="5404500" cy="4002000"/>
          </a:xfrm>
          <a:prstGeom prst="rect">
            <a:avLst/>
          </a:prstGeom>
        </p:spPr>
        <p:txBody>
          <a:bodyPr anchorCtr="0" anchor="ctr" bIns="121900" lIns="121900" spcFirstLastPara="1" rIns="121900" wrap="square" tIns="121900">
            <a:normAutofit/>
          </a:bodyPr>
          <a:lstStyle/>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What was the </a:t>
            </a:r>
            <a:r>
              <a:rPr i="1" lang="en-US" sz="2500">
                <a:solidFill>
                  <a:srgbClr val="666666"/>
                </a:solidFill>
                <a:latin typeface="Avenir"/>
                <a:ea typeface="Avenir"/>
                <a:cs typeface="Avenir"/>
                <a:sym typeface="Avenir"/>
              </a:rPr>
              <a:t>threat?</a:t>
            </a:r>
            <a:endParaRPr i="1"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Fight, flight, or freeze </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Higher reasoning shuts down</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(Things you wished you’d said?)</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Heart / breathing rate ↑</a:t>
            </a:r>
            <a:endParaRPr sz="2500">
              <a:solidFill>
                <a:srgbClr val="666666"/>
              </a:solidFill>
              <a:latin typeface="Avenir"/>
              <a:ea typeface="Avenir"/>
              <a:cs typeface="Avenir"/>
              <a:sym typeface="Avenir"/>
            </a:endParaRPr>
          </a:p>
        </p:txBody>
      </p:sp>
      <p:sp>
        <p:nvSpPr>
          <p:cNvPr id="420" name="Google Shape;420;p61"/>
          <p:cNvSpPr/>
          <p:nvPr/>
        </p:nvSpPr>
        <p:spPr>
          <a:xfrm rot="5400000">
            <a:off x="8160517" y="3730283"/>
            <a:ext cx="1346400" cy="1158300"/>
          </a:xfrm>
          <a:prstGeom prst="bentArrow">
            <a:avLst>
              <a:gd fmla="val 25000" name="adj1"/>
              <a:gd fmla="val 25000" name="adj2"/>
              <a:gd fmla="val 25000" name="adj3"/>
              <a:gd fmla="val 43750" name="adj4"/>
            </a:avLst>
          </a:prstGeom>
          <a:solidFill>
            <a:srgbClr val="EE002E"/>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421" name="Google Shape;421;p61"/>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422" name="Google Shape;422;p61"/>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423" name="Google Shape;423;p61"/>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424" name="Google Shape;424;p61"/>
          <p:cNvSpPr/>
          <p:nvPr/>
        </p:nvSpPr>
        <p:spPr>
          <a:xfrm flipH="1" rot="5400000">
            <a:off x="8172217" y="2168983"/>
            <a:ext cx="1346400" cy="11817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25" name="Google Shape;425;p61"/>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426" name="Google Shape;426;p61"/>
          <p:cNvPicPr preferRelativeResize="0"/>
          <p:nvPr/>
        </p:nvPicPr>
        <p:blipFill rotWithShape="1">
          <a:blip r:embed="rId4">
            <a:alphaModFix/>
          </a:blip>
          <a:srcRect b="0" l="0" r="0" t="14661"/>
          <a:stretch/>
        </p:blipFill>
        <p:spPr>
          <a:xfrm>
            <a:off x="6732050" y="3100402"/>
            <a:ext cx="1181600" cy="862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0" name="Shape 430"/>
        <p:cNvGrpSpPr/>
        <p:nvPr/>
      </p:nvGrpSpPr>
      <p:grpSpPr>
        <a:xfrm>
          <a:off x="0" y="0"/>
          <a:ext cx="0" cy="0"/>
          <a:chOff x="0" y="0"/>
          <a:chExt cx="0" cy="0"/>
        </a:xfrm>
      </p:grpSpPr>
      <p:sp>
        <p:nvSpPr>
          <p:cNvPr id="431" name="Google Shape;431;p62"/>
          <p:cNvSpPr txBox="1"/>
          <p:nvPr>
            <p:ph idx="1" type="subTitle"/>
          </p:nvPr>
        </p:nvSpPr>
        <p:spPr>
          <a:xfrm>
            <a:off x="317967" y="180200"/>
            <a:ext cx="10354500" cy="861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Early Trauma</a:t>
            </a:r>
            <a:endParaRPr sz="4000">
              <a:solidFill>
                <a:srgbClr val="00A1CC"/>
              </a:solidFill>
              <a:latin typeface="Avenir"/>
              <a:ea typeface="Avenir"/>
              <a:cs typeface="Avenir"/>
              <a:sym typeface="Avenir"/>
            </a:endParaRPr>
          </a:p>
        </p:txBody>
      </p:sp>
      <p:sp>
        <p:nvSpPr>
          <p:cNvPr id="432" name="Google Shape;432;p62"/>
          <p:cNvSpPr txBox="1"/>
          <p:nvPr>
            <p:ph idx="1" type="subTitle"/>
          </p:nvPr>
        </p:nvSpPr>
        <p:spPr>
          <a:xfrm>
            <a:off x="986833" y="1781833"/>
            <a:ext cx="5404500" cy="4002000"/>
          </a:xfrm>
          <a:prstGeom prst="rect">
            <a:avLst/>
          </a:prstGeom>
        </p:spPr>
        <p:txBody>
          <a:bodyPr anchorCtr="0" anchor="ctr" bIns="121900" lIns="121900" spcFirstLastPara="1" rIns="121900" wrap="square" tIns="121900">
            <a:normAutofit/>
          </a:bodyPr>
          <a:lstStyle/>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Major / chronic activation</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‘Primes’ the lookout system</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Becomes over-sensitised</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Hypervigilance</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Behavioural dysregulation</a:t>
            </a:r>
            <a:endParaRPr>
              <a:solidFill>
                <a:srgbClr val="666666"/>
              </a:solidFill>
              <a:latin typeface="Avenir"/>
              <a:ea typeface="Avenir"/>
              <a:cs typeface="Avenir"/>
              <a:sym typeface="Avenir"/>
            </a:endParaRPr>
          </a:p>
        </p:txBody>
      </p:sp>
      <p:sp>
        <p:nvSpPr>
          <p:cNvPr id="433" name="Google Shape;433;p62"/>
          <p:cNvSpPr/>
          <p:nvPr/>
        </p:nvSpPr>
        <p:spPr>
          <a:xfrm rot="5400000">
            <a:off x="8160517" y="3730283"/>
            <a:ext cx="1346400" cy="1158300"/>
          </a:xfrm>
          <a:prstGeom prst="bentArrow">
            <a:avLst>
              <a:gd fmla="val 25000" name="adj1"/>
              <a:gd fmla="val 25000" name="adj2"/>
              <a:gd fmla="val 25000" name="adj3"/>
              <a:gd fmla="val 43750" name="adj4"/>
            </a:avLst>
          </a:prstGeom>
          <a:solidFill>
            <a:srgbClr val="EE002E"/>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434" name="Google Shape;434;p62"/>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435" name="Google Shape;435;p62"/>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436" name="Google Shape;436;p62"/>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437" name="Google Shape;437;p62"/>
          <p:cNvSpPr/>
          <p:nvPr/>
        </p:nvSpPr>
        <p:spPr>
          <a:xfrm flipH="1" rot="5400000">
            <a:off x="8172217" y="2168983"/>
            <a:ext cx="1346400" cy="11817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38" name="Google Shape;438;p62"/>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439" name="Google Shape;439;p62"/>
          <p:cNvPicPr preferRelativeResize="0"/>
          <p:nvPr/>
        </p:nvPicPr>
        <p:blipFill rotWithShape="1">
          <a:blip r:embed="rId4">
            <a:alphaModFix/>
          </a:blip>
          <a:srcRect b="0" l="0" r="0" t="14661"/>
          <a:stretch/>
        </p:blipFill>
        <p:spPr>
          <a:xfrm>
            <a:off x="6732050" y="3100402"/>
            <a:ext cx="1181600" cy="862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43" name="Shape 443"/>
        <p:cNvGrpSpPr/>
        <p:nvPr/>
      </p:nvGrpSpPr>
      <p:grpSpPr>
        <a:xfrm>
          <a:off x="0" y="0"/>
          <a:ext cx="0" cy="0"/>
          <a:chOff x="0" y="0"/>
          <a:chExt cx="0" cy="0"/>
        </a:xfrm>
      </p:grpSpPr>
      <p:sp>
        <p:nvSpPr>
          <p:cNvPr id="444" name="Google Shape;444;p63"/>
          <p:cNvSpPr txBox="1"/>
          <p:nvPr>
            <p:ph idx="1" type="subTitle"/>
          </p:nvPr>
        </p:nvSpPr>
        <p:spPr>
          <a:xfrm>
            <a:off x="971167" y="896466"/>
            <a:ext cx="10354500" cy="51696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sz="8000">
                <a:solidFill>
                  <a:srgbClr val="00A1CC"/>
                </a:solidFill>
                <a:latin typeface="Avenir"/>
                <a:ea typeface="Avenir"/>
                <a:cs typeface="Avenir"/>
                <a:sym typeface="Avenir"/>
              </a:rPr>
              <a:t>Video</a:t>
            </a:r>
            <a:endParaRPr sz="8000">
              <a:solidFill>
                <a:srgbClr val="00A1CC"/>
              </a:solidFill>
              <a:latin typeface="Avenir"/>
              <a:ea typeface="Avenir"/>
              <a:cs typeface="Avenir"/>
              <a:sym typeface="Avenir"/>
            </a:endParaRPr>
          </a:p>
        </p:txBody>
      </p:sp>
      <p:sp>
        <p:nvSpPr>
          <p:cNvPr id="445" name="Google Shape;445;p63"/>
          <p:cNvSpPr txBox="1"/>
          <p:nvPr/>
        </p:nvSpPr>
        <p:spPr>
          <a:xfrm>
            <a:off x="939567" y="4070933"/>
            <a:ext cx="6282300" cy="538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1900" u="sng">
                <a:solidFill>
                  <a:schemeClr val="hlink"/>
                </a:solidFill>
                <a:hlinkClick r:id="rId3"/>
              </a:rPr>
              <a:t>The Neurosequential Model</a:t>
            </a:r>
            <a:endParaRPr sz="1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sp>
        <p:nvSpPr>
          <p:cNvPr id="450" name="Google Shape;450;p64"/>
          <p:cNvSpPr txBox="1"/>
          <p:nvPr>
            <p:ph idx="1" type="subTitle"/>
          </p:nvPr>
        </p:nvSpPr>
        <p:spPr>
          <a:xfrm>
            <a:off x="317967" y="180200"/>
            <a:ext cx="10354500" cy="1569900"/>
          </a:xfrm>
          <a:prstGeom prst="rect">
            <a:avLst/>
          </a:prstGeom>
        </p:spPr>
        <p:txBody>
          <a:bodyPr anchorCtr="0" anchor="ctr" bIns="121900" lIns="121900" spcFirstLastPara="1" rIns="121900" wrap="square" tIns="121900">
            <a:spAutoFit/>
          </a:bodyPr>
          <a:lstStyle/>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Neurosequential</a:t>
            </a:r>
            <a:endParaRPr sz="40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rPr lang="en-US" sz="4000">
                <a:solidFill>
                  <a:srgbClr val="00A1CC"/>
                </a:solidFill>
                <a:latin typeface="Avenir"/>
                <a:ea typeface="Avenir"/>
                <a:cs typeface="Avenir"/>
                <a:sym typeface="Avenir"/>
              </a:rPr>
              <a:t>Approach</a:t>
            </a:r>
            <a:endParaRPr sz="4000">
              <a:solidFill>
                <a:srgbClr val="00A1CC"/>
              </a:solidFill>
              <a:latin typeface="Avenir"/>
              <a:ea typeface="Avenir"/>
              <a:cs typeface="Avenir"/>
              <a:sym typeface="Avenir"/>
            </a:endParaRPr>
          </a:p>
        </p:txBody>
      </p:sp>
      <p:sp>
        <p:nvSpPr>
          <p:cNvPr id="451" name="Google Shape;451;p64"/>
          <p:cNvSpPr txBox="1"/>
          <p:nvPr>
            <p:ph idx="1" type="subTitle"/>
          </p:nvPr>
        </p:nvSpPr>
        <p:spPr>
          <a:xfrm>
            <a:off x="986833" y="1781833"/>
            <a:ext cx="5109300" cy="4002000"/>
          </a:xfrm>
          <a:prstGeom prst="rect">
            <a:avLst/>
          </a:prstGeom>
        </p:spPr>
        <p:txBody>
          <a:bodyPr anchorCtr="0" anchor="ctr" bIns="121900" lIns="121900" spcFirstLastPara="1" rIns="121900" wrap="square" tIns="121900">
            <a:normAutofit/>
          </a:bodyPr>
          <a:lstStyle/>
          <a:p>
            <a:pPr indent="0" lvl="0" marL="0" rtl="0" algn="l">
              <a:lnSpc>
                <a:spcPct val="115000"/>
              </a:lnSpc>
              <a:spcBef>
                <a:spcPts val="0"/>
              </a:spcBef>
              <a:spcAft>
                <a:spcPts val="0"/>
              </a:spcAft>
              <a:buNone/>
            </a:pPr>
            <a:r>
              <a:rPr lang="en-US">
                <a:solidFill>
                  <a:srgbClr val="666666"/>
                </a:solidFill>
                <a:latin typeface="Avenir"/>
                <a:ea typeface="Avenir"/>
                <a:cs typeface="Avenir"/>
                <a:sym typeface="Avenir"/>
              </a:rPr>
              <a:t>What went wrong?</a:t>
            </a:r>
            <a:endParaRPr>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Assertive body language</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Blocking exits / cornering</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Disinterest / dismissive</a:t>
            </a:r>
            <a:endParaRPr sz="2500">
              <a:solidFill>
                <a:srgbClr val="666666"/>
              </a:solidFill>
              <a:latin typeface="Avenir"/>
              <a:ea typeface="Avenir"/>
              <a:cs typeface="Avenir"/>
              <a:sym typeface="Avenir"/>
            </a:endParaRPr>
          </a:p>
          <a:p>
            <a:pPr indent="-463550" lvl="0" marL="609600" rtl="0" algn="l">
              <a:lnSpc>
                <a:spcPct val="115000"/>
              </a:lnSpc>
              <a:spcBef>
                <a:spcPts val="0"/>
              </a:spcBef>
              <a:spcAft>
                <a:spcPts val="0"/>
              </a:spcAft>
              <a:buClr>
                <a:srgbClr val="666666"/>
              </a:buClr>
              <a:buSzPts val="2500"/>
              <a:buFont typeface="Avenir"/>
              <a:buChar char="●"/>
            </a:pPr>
            <a:r>
              <a:rPr lang="en-US" sz="2500">
                <a:solidFill>
                  <a:srgbClr val="666666"/>
                </a:solidFill>
                <a:latin typeface="Avenir"/>
                <a:ea typeface="Avenir"/>
                <a:cs typeface="Avenir"/>
                <a:sym typeface="Avenir"/>
              </a:rPr>
              <a:t>Verbal threats / challenges</a:t>
            </a:r>
            <a:endParaRPr sz="2500">
              <a:solidFill>
                <a:srgbClr val="666666"/>
              </a:solidFill>
              <a:latin typeface="Avenir"/>
              <a:ea typeface="Avenir"/>
              <a:cs typeface="Avenir"/>
              <a:sym typeface="Avenir"/>
            </a:endParaRPr>
          </a:p>
        </p:txBody>
      </p:sp>
      <p:sp>
        <p:nvSpPr>
          <p:cNvPr id="452" name="Google Shape;452;p64"/>
          <p:cNvSpPr/>
          <p:nvPr/>
        </p:nvSpPr>
        <p:spPr>
          <a:xfrm rot="5400000">
            <a:off x="8160517" y="3730283"/>
            <a:ext cx="1346400" cy="1158300"/>
          </a:xfrm>
          <a:prstGeom prst="bentArrow">
            <a:avLst>
              <a:gd fmla="val 25000" name="adj1"/>
              <a:gd fmla="val 25000" name="adj2"/>
              <a:gd fmla="val 25000" name="adj3"/>
              <a:gd fmla="val 43750" name="adj4"/>
            </a:avLst>
          </a:prstGeom>
          <a:solidFill>
            <a:srgbClr val="EE002E"/>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453" name="Google Shape;453;p64"/>
          <p:cNvPicPr preferRelativeResize="0"/>
          <p:nvPr/>
        </p:nvPicPr>
        <p:blipFill rotWithShape="1">
          <a:blip r:embed="rId3">
            <a:alphaModFix/>
          </a:blip>
          <a:srcRect b="46587" l="0" r="69103" t="0"/>
          <a:stretch/>
        </p:blipFill>
        <p:spPr>
          <a:xfrm>
            <a:off x="9710800" y="4568167"/>
            <a:ext cx="2184400" cy="2286000"/>
          </a:xfrm>
          <a:prstGeom prst="rect">
            <a:avLst/>
          </a:prstGeom>
          <a:noFill/>
          <a:ln>
            <a:noFill/>
          </a:ln>
        </p:spPr>
      </p:pic>
      <p:pic>
        <p:nvPicPr>
          <p:cNvPr id="454" name="Google Shape;454;p64"/>
          <p:cNvPicPr preferRelativeResize="0"/>
          <p:nvPr/>
        </p:nvPicPr>
        <p:blipFill rotWithShape="1">
          <a:blip r:embed="rId3">
            <a:alphaModFix/>
          </a:blip>
          <a:srcRect b="46587" l="34136" r="34136" t="0"/>
          <a:stretch/>
        </p:blipFill>
        <p:spPr>
          <a:xfrm>
            <a:off x="9679033" y="2289833"/>
            <a:ext cx="2247900" cy="2286000"/>
          </a:xfrm>
          <a:prstGeom prst="rect">
            <a:avLst/>
          </a:prstGeom>
          <a:noFill/>
          <a:ln>
            <a:noFill/>
          </a:ln>
        </p:spPr>
      </p:pic>
      <p:pic>
        <p:nvPicPr>
          <p:cNvPr id="455" name="Google Shape;455;p64"/>
          <p:cNvPicPr preferRelativeResize="0"/>
          <p:nvPr/>
        </p:nvPicPr>
        <p:blipFill rotWithShape="1">
          <a:blip r:embed="rId3">
            <a:alphaModFix/>
          </a:blip>
          <a:srcRect b="46587" l="68272" r="0" t="0"/>
          <a:stretch/>
        </p:blipFill>
        <p:spPr>
          <a:xfrm>
            <a:off x="9679050" y="3833"/>
            <a:ext cx="2247900" cy="2286000"/>
          </a:xfrm>
          <a:prstGeom prst="rect">
            <a:avLst/>
          </a:prstGeom>
          <a:noFill/>
          <a:ln>
            <a:noFill/>
          </a:ln>
        </p:spPr>
      </p:pic>
      <p:sp>
        <p:nvSpPr>
          <p:cNvPr id="456" name="Google Shape;456;p64"/>
          <p:cNvSpPr/>
          <p:nvPr/>
        </p:nvSpPr>
        <p:spPr>
          <a:xfrm flipH="1" rot="5400000">
            <a:off x="8172217" y="2168983"/>
            <a:ext cx="1346400" cy="11817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57" name="Google Shape;457;p64"/>
          <p:cNvSpPr txBox="1"/>
          <p:nvPr/>
        </p:nvSpPr>
        <p:spPr>
          <a:xfrm>
            <a:off x="6610450" y="2779800"/>
            <a:ext cx="1424700" cy="1503300"/>
          </a:xfrm>
          <a:prstGeom prst="rect">
            <a:avLst/>
          </a:prstGeom>
          <a:noFill/>
          <a:ln cap="flat" cmpd="sng" w="1270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2400">
                <a:solidFill>
                  <a:schemeClr val="dk2"/>
                </a:solidFill>
              </a:rPr>
              <a:t>Lookout</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t/>
            </a:r>
            <a:endParaRPr sz="2400">
              <a:solidFill>
                <a:schemeClr val="dk2"/>
              </a:solidFill>
            </a:endParaRPr>
          </a:p>
          <a:p>
            <a:pPr indent="0" lvl="0" marL="0" rtl="0" algn="ctr">
              <a:spcBef>
                <a:spcPts val="0"/>
              </a:spcBef>
              <a:spcAft>
                <a:spcPts val="0"/>
              </a:spcAft>
              <a:buNone/>
            </a:pPr>
            <a:r>
              <a:rPr lang="en-US" sz="2400">
                <a:solidFill>
                  <a:schemeClr val="dk2"/>
                </a:solidFill>
              </a:rPr>
              <a:t>System</a:t>
            </a:r>
            <a:endParaRPr sz="2400">
              <a:solidFill>
                <a:schemeClr val="dk2"/>
              </a:solidFill>
            </a:endParaRPr>
          </a:p>
        </p:txBody>
      </p:sp>
      <p:pic>
        <p:nvPicPr>
          <p:cNvPr descr="a white eye with a brown pupil and a black center (provided by Tenor)" id="458" name="Google Shape;458;p64"/>
          <p:cNvPicPr preferRelativeResize="0"/>
          <p:nvPr/>
        </p:nvPicPr>
        <p:blipFill rotWithShape="1">
          <a:blip r:embed="rId4">
            <a:alphaModFix/>
          </a:blip>
          <a:srcRect b="0" l="0" r="0" t="14661"/>
          <a:stretch/>
        </p:blipFill>
        <p:spPr>
          <a:xfrm>
            <a:off x="6732050" y="3100402"/>
            <a:ext cx="1181600" cy="862000"/>
          </a:xfrm>
          <a:prstGeom prst="rect">
            <a:avLst/>
          </a:prstGeom>
          <a:noFill/>
          <a:ln>
            <a:noFill/>
          </a:ln>
        </p:spPr>
      </p:pic>
      <p:sp>
        <p:nvSpPr>
          <p:cNvPr id="459" name="Google Shape;459;p64"/>
          <p:cNvSpPr txBox="1"/>
          <p:nvPr/>
        </p:nvSpPr>
        <p:spPr>
          <a:xfrm>
            <a:off x="518400" y="5889900"/>
            <a:ext cx="4167600" cy="538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1900" u="sng">
                <a:solidFill>
                  <a:schemeClr val="hlink"/>
                </a:solidFill>
                <a:hlinkClick r:id="rId5"/>
              </a:rPr>
              <a:t>An Incident in School: BBC3</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animEffect filter="fade" transition="in">
                                      <p:cBhvr>
                                        <p:cTn dur="1000"/>
                                        <p:tgtEl>
                                          <p:spTgt spid="4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animEffect filter="fade" transition="in">
                                      <p:cBhvr>
                                        <p:cTn dur="1000"/>
                                        <p:tgtEl>
                                          <p:spTgt spid="4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2" st="2"/>
                                            </p:txEl>
                                          </p:spTgt>
                                        </p:tgtEl>
                                        <p:attrNameLst>
                                          <p:attrName>style.visibility</p:attrName>
                                        </p:attrNameLst>
                                      </p:cBhvr>
                                      <p:to>
                                        <p:strVal val="visible"/>
                                      </p:to>
                                    </p:set>
                                    <p:animEffect filter="fade" transition="in">
                                      <p:cBhvr>
                                        <p:cTn dur="1000"/>
                                        <p:tgtEl>
                                          <p:spTgt spid="4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3" st="3"/>
                                            </p:txEl>
                                          </p:spTgt>
                                        </p:tgtEl>
                                        <p:attrNameLst>
                                          <p:attrName>style.visibility</p:attrName>
                                        </p:attrNameLst>
                                      </p:cBhvr>
                                      <p:to>
                                        <p:strVal val="visible"/>
                                      </p:to>
                                    </p:set>
                                    <p:animEffect filter="fade" transition="in">
                                      <p:cBhvr>
                                        <p:cTn dur="1000"/>
                                        <p:tgtEl>
                                          <p:spTgt spid="4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4" st="4"/>
                                            </p:txEl>
                                          </p:spTgt>
                                        </p:tgtEl>
                                        <p:attrNameLst>
                                          <p:attrName>style.visibility</p:attrName>
                                        </p:attrNameLst>
                                      </p:cBhvr>
                                      <p:to>
                                        <p:strVal val="visible"/>
                                      </p:to>
                                    </p:set>
                                    <p:animEffect filter="fade" transition="in">
                                      <p:cBhvr>
                                        <p:cTn dur="1000"/>
                                        <p:tgtEl>
                                          <p:spTgt spid="4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