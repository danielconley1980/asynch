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630c2e69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630c2e69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bb881815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bb881815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837c5d77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837c5d77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837c5d77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837c5d77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837c5d777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837c5d777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c54b046e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c54b046e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defda123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defda123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63d889b0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63d889b0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7fa05593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7fa05593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7fa0559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7fa0559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e1ddc8d5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e1ddc8d5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defda123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defda123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defda123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defda123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defda123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defda123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defda123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defda123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defda123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defda123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bb8818155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bb8818155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defda123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defda123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defda123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4defda123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4defda123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4defda123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defda123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4defda123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defda123b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defda123b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e1ddc8d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4e1ddc8d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e1ddc8d5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4e1ddc8d5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4e1ddc8d5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4e1ddc8d5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4e1ddc8d5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4e1ddc8d5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gi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youtube.com/watch?v=lw0yUOdzSp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www.youtube.com/watch?v=kX3xO2J4Ic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3.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mailto:daniel.conley@coopacademies.co.uk"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728375" y="1349675"/>
            <a:ext cx="7765800" cy="1413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00A1CC"/>
                </a:solidFill>
                <a:latin typeface="Avenir"/>
                <a:ea typeface="Avenir"/>
                <a:cs typeface="Avenir"/>
                <a:sym typeface="Avenir"/>
              </a:rPr>
              <a:t>Neuroscience in the Classroom</a:t>
            </a:r>
            <a:endParaRPr>
              <a:solidFill>
                <a:srgbClr val="00A1CC"/>
              </a:solidFill>
              <a:latin typeface="Avenir"/>
              <a:ea typeface="Avenir"/>
              <a:cs typeface="Avenir"/>
              <a:sym typeface="Avenir"/>
            </a:endParaRPr>
          </a:p>
        </p:txBody>
      </p:sp>
      <p:sp>
        <p:nvSpPr>
          <p:cNvPr id="55" name="Google Shape;55;p13"/>
          <p:cNvSpPr txBox="1"/>
          <p:nvPr>
            <p:ph idx="1" type="subTitle"/>
          </p:nvPr>
        </p:nvSpPr>
        <p:spPr>
          <a:xfrm>
            <a:off x="689100" y="3173700"/>
            <a:ext cx="7765800" cy="105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666666"/>
                </a:solidFill>
                <a:latin typeface="Avenir"/>
                <a:ea typeface="Avenir"/>
                <a:cs typeface="Avenir"/>
                <a:sym typeface="Avenir"/>
              </a:rPr>
              <a:t>Dan Conley</a:t>
            </a:r>
            <a:endParaRPr>
              <a:solidFill>
                <a:srgbClr val="666666"/>
              </a:solidFill>
              <a:latin typeface="Avenir"/>
              <a:ea typeface="Avenir"/>
              <a:cs typeface="Avenir"/>
              <a:sym typeface="Avenir"/>
            </a:endParaRPr>
          </a:p>
          <a:p>
            <a:pPr indent="0" lvl="0" marL="0" rtl="0" algn="l">
              <a:spcBef>
                <a:spcPts val="0"/>
              </a:spcBef>
              <a:spcAft>
                <a:spcPts val="0"/>
              </a:spcAft>
              <a:buNone/>
            </a:pPr>
            <a:r>
              <a:rPr lang="en-GB">
                <a:solidFill>
                  <a:srgbClr val="666666"/>
                </a:solidFill>
                <a:latin typeface="Avenir"/>
                <a:ea typeface="Avenir"/>
                <a:cs typeface="Avenir"/>
                <a:sym typeface="Avenir"/>
              </a:rPr>
              <a:t>Director of In-School AP</a:t>
            </a:r>
            <a:endParaRPr>
              <a:solidFill>
                <a:srgbClr val="666666"/>
              </a:solidFill>
              <a:latin typeface="Avenir"/>
              <a:ea typeface="Avenir"/>
              <a:cs typeface="Avenir"/>
              <a:sym typeface="Avenir"/>
            </a:endParaRPr>
          </a:p>
        </p:txBody>
      </p:sp>
      <p:pic>
        <p:nvPicPr>
          <p:cNvPr id="56" name="Google Shape;56;p13"/>
          <p:cNvPicPr preferRelativeResize="0"/>
          <p:nvPr/>
        </p:nvPicPr>
        <p:blipFill>
          <a:blip r:embed="rId3">
            <a:alphaModFix/>
          </a:blip>
          <a:stretch>
            <a:fillRect/>
          </a:stretch>
        </p:blipFill>
        <p:spPr>
          <a:xfrm>
            <a:off x="6070650" y="3966227"/>
            <a:ext cx="2887951" cy="1238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14"/>
          <p:cNvSpPr txBox="1"/>
          <p:nvPr>
            <p:ph idx="1" type="subTitle"/>
          </p:nvPr>
        </p:nvSpPr>
        <p:spPr>
          <a:xfrm>
            <a:off x="497700" y="1301900"/>
            <a:ext cx="8148600" cy="3301500"/>
          </a:xfrm>
          <a:prstGeom prst="rect">
            <a:avLst/>
          </a:prstGeom>
        </p:spPr>
        <p:txBody>
          <a:bodyPr anchorCtr="0" anchor="ctr" bIns="91425" lIns="91425" spcFirstLastPara="1" rIns="91425" wrap="square" tIns="91425">
            <a:spAutoFit/>
          </a:bodyPr>
          <a:lstStyle/>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Outline neuroscience of brain development</a:t>
            </a:r>
            <a:endParaRPr sz="3000">
              <a:solidFill>
                <a:srgbClr val="666666"/>
              </a:solidFill>
              <a:latin typeface="Avenir"/>
              <a:ea typeface="Avenir"/>
              <a:cs typeface="Avenir"/>
              <a:sym typeface="Avenir"/>
            </a:endParaRPr>
          </a:p>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Explore reactions to threat and hostility</a:t>
            </a:r>
            <a:endParaRPr sz="3000">
              <a:solidFill>
                <a:srgbClr val="666666"/>
              </a:solidFill>
              <a:latin typeface="Avenir"/>
              <a:ea typeface="Avenir"/>
              <a:cs typeface="Avenir"/>
              <a:sym typeface="Avenir"/>
            </a:endParaRPr>
          </a:p>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Link to </a:t>
            </a:r>
            <a:r>
              <a:rPr lang="en-GB" sz="3000">
                <a:solidFill>
                  <a:srgbClr val="666666"/>
                </a:solidFill>
                <a:latin typeface="Avenir"/>
                <a:ea typeface="Avenir"/>
                <a:cs typeface="Avenir"/>
                <a:sym typeface="Avenir"/>
              </a:rPr>
              <a:t>emotion coaching session next week</a:t>
            </a:r>
            <a:endParaRPr sz="3000">
              <a:solidFill>
                <a:srgbClr val="666666"/>
              </a:solidFill>
              <a:latin typeface="Avenir"/>
              <a:ea typeface="Avenir"/>
              <a:cs typeface="Avenir"/>
              <a:sym typeface="Avenir"/>
            </a:endParaRPr>
          </a:p>
          <a:p>
            <a:pPr indent="0" lvl="0" marL="457200" rtl="0" algn="l">
              <a:lnSpc>
                <a:spcPct val="115000"/>
              </a:lnSpc>
              <a:spcBef>
                <a:spcPts val="0"/>
              </a:spcBef>
              <a:spcAft>
                <a:spcPts val="0"/>
              </a:spcAft>
              <a:buNone/>
            </a:pPr>
            <a:r>
              <a:t/>
            </a:r>
            <a:endParaRPr sz="30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3000">
                <a:solidFill>
                  <a:srgbClr val="666666"/>
                </a:solidFill>
                <a:latin typeface="Avenir"/>
                <a:ea typeface="Avenir"/>
                <a:cs typeface="Avenir"/>
                <a:sym typeface="Avenir"/>
              </a:rPr>
              <a:t>Reflection…</a:t>
            </a:r>
            <a:endParaRPr sz="30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3000">
                <a:solidFill>
                  <a:srgbClr val="666666"/>
                </a:solidFill>
                <a:latin typeface="Avenir"/>
                <a:ea typeface="Avenir"/>
                <a:cs typeface="Avenir"/>
                <a:sym typeface="Avenir"/>
              </a:rPr>
              <a:t>What pushes </a:t>
            </a:r>
            <a:r>
              <a:rPr i="1" lang="en-GB" sz="3000">
                <a:solidFill>
                  <a:srgbClr val="666666"/>
                </a:solidFill>
                <a:latin typeface="Avenir"/>
                <a:ea typeface="Avenir"/>
                <a:cs typeface="Avenir"/>
                <a:sym typeface="Avenir"/>
              </a:rPr>
              <a:t>your</a:t>
            </a:r>
            <a:r>
              <a:rPr lang="en-GB" sz="3000">
                <a:solidFill>
                  <a:srgbClr val="666666"/>
                </a:solidFill>
                <a:latin typeface="Avenir"/>
                <a:ea typeface="Avenir"/>
                <a:cs typeface="Avenir"/>
                <a:sym typeface="Avenir"/>
              </a:rPr>
              <a:t> buttons and </a:t>
            </a:r>
            <a:r>
              <a:rPr i="1" lang="en-GB" sz="3000">
                <a:solidFill>
                  <a:srgbClr val="666666"/>
                </a:solidFill>
                <a:latin typeface="Avenir"/>
                <a:ea typeface="Avenir"/>
                <a:cs typeface="Avenir"/>
                <a:sym typeface="Avenir"/>
              </a:rPr>
              <a:t>why?</a:t>
            </a:r>
            <a:endParaRPr i="1" sz="3000">
              <a:solidFill>
                <a:srgbClr val="666666"/>
              </a:solidFill>
              <a:latin typeface="Avenir"/>
              <a:ea typeface="Avenir"/>
              <a:cs typeface="Avenir"/>
              <a:sym typeface="Avenir"/>
            </a:endParaRPr>
          </a:p>
        </p:txBody>
      </p:sp>
      <p:sp>
        <p:nvSpPr>
          <p:cNvPr id="62" name="Google Shape;62;p14"/>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Objectives</a:t>
            </a:r>
            <a:endParaRPr sz="3000">
              <a:solidFill>
                <a:srgbClr val="00A1CC"/>
              </a:solidFill>
              <a:latin typeface="Avenir"/>
              <a:ea typeface="Avenir"/>
              <a:cs typeface="Avenir"/>
              <a:sym typeface="Aveni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4AA8C"/>
        </a:solidFill>
      </p:bgPr>
    </p:bg>
    <p:spTree>
      <p:nvGrpSpPr>
        <p:cNvPr id="66" name="Shape 66"/>
        <p:cNvGrpSpPr/>
        <p:nvPr/>
      </p:nvGrpSpPr>
      <p:grpSpPr>
        <a:xfrm>
          <a:off x="0" y="0"/>
          <a:ext cx="0" cy="0"/>
          <a:chOff x="0" y="0"/>
          <a:chExt cx="0" cy="0"/>
        </a:xfrm>
      </p:grpSpPr>
      <p:sp>
        <p:nvSpPr>
          <p:cNvPr id="67" name="Google Shape;67;p15"/>
          <p:cNvSpPr txBox="1"/>
          <p:nvPr>
            <p:ph type="ctrTitle"/>
          </p:nvPr>
        </p:nvSpPr>
        <p:spPr>
          <a:xfrm>
            <a:off x="728375" y="1349675"/>
            <a:ext cx="7765800" cy="240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Avenir"/>
                <a:ea typeface="Avenir"/>
                <a:cs typeface="Avenir"/>
                <a:sym typeface="Avenir"/>
              </a:rPr>
              <a:t>Meet your brain…</a:t>
            </a:r>
            <a:endParaRPr>
              <a:solidFill>
                <a:srgbClr val="FFFFFF"/>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6"/>
          <p:cNvSpPr txBox="1"/>
          <p:nvPr>
            <p:ph idx="1" type="subTitle"/>
          </p:nvPr>
        </p:nvSpPr>
        <p:spPr>
          <a:xfrm>
            <a:off x="689100" y="1691175"/>
            <a:ext cx="7765800" cy="2775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The Brain Stem</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Our life support centre</a:t>
            </a:r>
            <a:r>
              <a:rPr lang="en-GB">
                <a:solidFill>
                  <a:srgbClr val="666666"/>
                </a:solidFill>
                <a:latin typeface="Avenir"/>
                <a:ea typeface="Avenir"/>
                <a:cs typeface="Avenir"/>
                <a:sym typeface="Avenir"/>
              </a:rPr>
              <a:t> </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Regulates pulse, breathing, blood pressure</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Develops first, mature by birth</a:t>
            </a:r>
            <a:endParaRPr>
              <a:solidFill>
                <a:srgbClr val="666666"/>
              </a:solidFill>
              <a:latin typeface="Avenir"/>
              <a:ea typeface="Avenir"/>
              <a:cs typeface="Avenir"/>
              <a:sym typeface="Avenir"/>
            </a:endParaRPr>
          </a:p>
        </p:txBody>
      </p:sp>
      <p:pic>
        <p:nvPicPr>
          <p:cNvPr id="73" name="Google Shape;73;p16"/>
          <p:cNvPicPr preferRelativeResize="0"/>
          <p:nvPr/>
        </p:nvPicPr>
        <p:blipFill rotWithShape="1">
          <a:blip r:embed="rId3">
            <a:alphaModFix/>
          </a:blip>
          <a:srcRect b="46587" l="0" r="69103" t="0"/>
          <a:stretch/>
        </p:blipFill>
        <p:spPr>
          <a:xfrm>
            <a:off x="6278048" y="222325"/>
            <a:ext cx="2652527" cy="2775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pic>
        <p:nvPicPr>
          <p:cNvPr id="78" name="Google Shape;78;p17"/>
          <p:cNvPicPr preferRelativeResize="0"/>
          <p:nvPr/>
        </p:nvPicPr>
        <p:blipFill rotWithShape="1">
          <a:blip r:embed="rId3">
            <a:alphaModFix/>
          </a:blip>
          <a:srcRect b="46587" l="34136" r="34136" t="0"/>
          <a:stretch/>
        </p:blipFill>
        <p:spPr>
          <a:xfrm>
            <a:off x="6226475" y="218600"/>
            <a:ext cx="2729625" cy="2775900"/>
          </a:xfrm>
          <a:prstGeom prst="rect">
            <a:avLst/>
          </a:prstGeom>
          <a:noFill/>
          <a:ln>
            <a:noFill/>
          </a:ln>
        </p:spPr>
      </p:pic>
      <p:sp>
        <p:nvSpPr>
          <p:cNvPr id="79" name="Google Shape;79;p17"/>
          <p:cNvSpPr txBox="1"/>
          <p:nvPr>
            <p:ph idx="1" type="subTitle"/>
          </p:nvPr>
        </p:nvSpPr>
        <p:spPr>
          <a:xfrm>
            <a:off x="689100" y="1708950"/>
            <a:ext cx="7765800" cy="2775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The Limbic System</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The seat of our emotion</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Relational connection and attachment</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Matures by 10-13 years old</a:t>
            </a:r>
            <a:endParaRPr>
              <a:solidFill>
                <a:srgbClr val="666666"/>
              </a:solidFill>
              <a:latin typeface="Avenir"/>
              <a:ea typeface="Avenir"/>
              <a:cs typeface="Avenir"/>
              <a:sym typeface="Aven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8"/>
          <p:cNvPicPr preferRelativeResize="0"/>
          <p:nvPr/>
        </p:nvPicPr>
        <p:blipFill rotWithShape="1">
          <a:blip r:embed="rId3">
            <a:alphaModFix/>
          </a:blip>
          <a:srcRect b="46587" l="68272" r="0" t="0"/>
          <a:stretch/>
        </p:blipFill>
        <p:spPr>
          <a:xfrm>
            <a:off x="6226498" y="187900"/>
            <a:ext cx="2729635" cy="2775900"/>
          </a:xfrm>
          <a:prstGeom prst="rect">
            <a:avLst/>
          </a:prstGeom>
          <a:noFill/>
          <a:ln>
            <a:noFill/>
          </a:ln>
        </p:spPr>
      </p:pic>
      <p:sp>
        <p:nvSpPr>
          <p:cNvPr id="85" name="Google Shape;85;p18"/>
          <p:cNvSpPr txBox="1"/>
          <p:nvPr>
            <p:ph idx="1" type="subTitle"/>
          </p:nvPr>
        </p:nvSpPr>
        <p:spPr>
          <a:xfrm>
            <a:off x="689100" y="1706850"/>
            <a:ext cx="7765800" cy="2775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The Cortex</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Home of </a:t>
            </a:r>
            <a:r>
              <a:rPr lang="en-GB">
                <a:solidFill>
                  <a:srgbClr val="666666"/>
                </a:solidFill>
                <a:latin typeface="Avenir"/>
                <a:ea typeface="Avenir"/>
                <a:cs typeface="Avenir"/>
                <a:sym typeface="Avenir"/>
              </a:rPr>
              <a:t>uniquely human capabilities</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Logical r</a:t>
            </a:r>
            <a:r>
              <a:rPr lang="en-GB">
                <a:solidFill>
                  <a:srgbClr val="666666"/>
                </a:solidFill>
                <a:latin typeface="Avenir"/>
                <a:ea typeface="Avenir"/>
                <a:cs typeface="Avenir"/>
                <a:sym typeface="Avenir"/>
              </a:rPr>
              <a:t>easoning, planning, </a:t>
            </a:r>
            <a:r>
              <a:rPr b="1" lang="en-GB">
                <a:solidFill>
                  <a:srgbClr val="666666"/>
                </a:solidFill>
                <a:latin typeface="Avenir"/>
                <a:ea typeface="Avenir"/>
                <a:cs typeface="Avenir"/>
                <a:sym typeface="Avenir"/>
              </a:rPr>
              <a:t>inhibiting</a:t>
            </a:r>
            <a:endParaRPr b="1">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Fully matures by 25 years old</a:t>
            </a:r>
            <a:endParaRPr>
              <a:solidFill>
                <a:srgbClr val="666666"/>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Effect filter="fade" transition="in">
                                      <p:cBhvr>
                                        <p:cTn dur="1000"/>
                                        <p:tgtEl>
                                          <p:spTgt spid="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animEffect filter="fade" transition="in">
                                      <p:cBhvr>
                                        <p:cTn dur="1000"/>
                                        <p:tgtEl>
                                          <p:spTgt spid="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animEffect filter="fade" transition="in">
                                      <p:cBhvr>
                                        <p:cTn dur="1000"/>
                                        <p:tgtEl>
                                          <p:spTgt spid="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animEffect filter="fade" transition="in">
                                      <p:cBhvr>
                                        <p:cTn dur="1000"/>
                                        <p:tgtEl>
                                          <p:spTgt spid="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animEffect filter="fade" transition="in">
                                      <p:cBhvr>
                                        <p:cTn dur="1000"/>
                                        <p:tgtEl>
                                          <p:spTgt spid="8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4AA8C"/>
        </a:solidFill>
      </p:bgPr>
    </p:bg>
    <p:spTree>
      <p:nvGrpSpPr>
        <p:cNvPr id="89" name="Shape 89"/>
        <p:cNvGrpSpPr/>
        <p:nvPr/>
      </p:nvGrpSpPr>
      <p:grpSpPr>
        <a:xfrm>
          <a:off x="0" y="0"/>
          <a:ext cx="0" cy="0"/>
          <a:chOff x="0" y="0"/>
          <a:chExt cx="0" cy="0"/>
        </a:xfrm>
      </p:grpSpPr>
      <p:sp>
        <p:nvSpPr>
          <p:cNvPr id="90" name="Google Shape;90;p19"/>
          <p:cNvSpPr txBox="1"/>
          <p:nvPr>
            <p:ph type="ctrTitle"/>
          </p:nvPr>
        </p:nvSpPr>
        <p:spPr>
          <a:xfrm>
            <a:off x="728375" y="1349675"/>
            <a:ext cx="7765800" cy="240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Avenir"/>
                <a:ea typeface="Avenir"/>
                <a:cs typeface="Avenir"/>
                <a:sym typeface="Avenir"/>
              </a:rPr>
              <a:t>Meet your body…</a:t>
            </a:r>
            <a:endParaRPr>
              <a:solidFill>
                <a:srgbClr val="FFFFFF"/>
              </a:solidFill>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20"/>
          <p:cNvSpPr txBox="1"/>
          <p:nvPr>
            <p:ph idx="1" type="subTitle"/>
          </p:nvPr>
        </p:nvSpPr>
        <p:spPr>
          <a:xfrm>
            <a:off x="728375" y="693025"/>
            <a:ext cx="7765800" cy="3725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Take yourself back to a major and heated conflict you had with someone. Try to visualise the place you were in and the events as clearly as possible. Try to inhabit your body and experience it again.</a:t>
            </a:r>
            <a:endParaRPr>
              <a:solidFill>
                <a:srgbClr val="666666"/>
              </a:solidFill>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21"/>
          <p:cNvSpPr txBox="1"/>
          <p:nvPr>
            <p:ph idx="1" type="subTitle"/>
          </p:nvPr>
        </p:nvSpPr>
        <p:spPr>
          <a:xfrm>
            <a:off x="728375" y="693025"/>
            <a:ext cx="7765800" cy="3725100"/>
          </a:xfrm>
          <a:prstGeom prst="rect">
            <a:avLst/>
          </a:prstGeom>
        </p:spPr>
        <p:txBody>
          <a:bodyPr anchorCtr="0" anchor="ctr" bIns="91425" lIns="91425" spcFirstLastPara="1" rIns="91425" wrap="square" tIns="91425">
            <a:noAutofit/>
          </a:bodyPr>
          <a:lstStyle/>
          <a:p>
            <a:pPr indent="-406400" lvl="0" marL="457200" rtl="0" algn="l">
              <a:lnSpc>
                <a:spcPct val="115000"/>
              </a:lnSpc>
              <a:spcBef>
                <a:spcPts val="0"/>
              </a:spcBef>
              <a:spcAft>
                <a:spcPts val="0"/>
              </a:spcAft>
              <a:buClr>
                <a:srgbClr val="666666"/>
              </a:buClr>
              <a:buSzPts val="2800"/>
              <a:buFont typeface="Avenir"/>
              <a:buAutoNum type="arabicPeriod"/>
            </a:pPr>
            <a:r>
              <a:rPr lang="en-GB">
                <a:solidFill>
                  <a:srgbClr val="666666"/>
                </a:solidFill>
                <a:latin typeface="Avenir"/>
                <a:ea typeface="Avenir"/>
                <a:cs typeface="Avenir"/>
                <a:sym typeface="Avenir"/>
              </a:rPr>
              <a:t>How </a:t>
            </a:r>
            <a:r>
              <a:rPr lang="en-GB">
                <a:solidFill>
                  <a:srgbClr val="666666"/>
                </a:solidFill>
                <a:latin typeface="Avenir"/>
                <a:ea typeface="Avenir"/>
                <a:cs typeface="Avenir"/>
                <a:sym typeface="Avenir"/>
              </a:rPr>
              <a:t>your </a:t>
            </a:r>
            <a:r>
              <a:rPr i="1" lang="en-GB">
                <a:solidFill>
                  <a:srgbClr val="666666"/>
                </a:solidFill>
                <a:latin typeface="Avenir"/>
                <a:ea typeface="Avenir"/>
                <a:cs typeface="Avenir"/>
                <a:sym typeface="Avenir"/>
              </a:rPr>
              <a:t>behaviour</a:t>
            </a:r>
            <a:r>
              <a:rPr lang="en-GB">
                <a:solidFill>
                  <a:srgbClr val="666666"/>
                </a:solidFill>
                <a:latin typeface="Avenir"/>
                <a:ea typeface="Avenir"/>
                <a:cs typeface="Avenir"/>
                <a:sym typeface="Avenir"/>
              </a:rPr>
              <a:t> change?</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AutoNum type="arabicPeriod"/>
            </a:pPr>
            <a:r>
              <a:rPr lang="en-GB">
                <a:solidFill>
                  <a:srgbClr val="666666"/>
                </a:solidFill>
                <a:latin typeface="Avenir"/>
                <a:ea typeface="Avenir"/>
                <a:cs typeface="Avenir"/>
                <a:sym typeface="Avenir"/>
              </a:rPr>
              <a:t>How did your </a:t>
            </a:r>
            <a:r>
              <a:rPr i="1" lang="en-GB">
                <a:solidFill>
                  <a:srgbClr val="666666"/>
                </a:solidFill>
                <a:latin typeface="Avenir"/>
                <a:ea typeface="Avenir"/>
                <a:cs typeface="Avenir"/>
                <a:sym typeface="Avenir"/>
              </a:rPr>
              <a:t>language</a:t>
            </a:r>
            <a:r>
              <a:rPr lang="en-GB">
                <a:solidFill>
                  <a:srgbClr val="666666"/>
                </a:solidFill>
                <a:latin typeface="Avenir"/>
                <a:ea typeface="Avenir"/>
                <a:cs typeface="Avenir"/>
                <a:sym typeface="Avenir"/>
              </a:rPr>
              <a:t> change?</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AutoNum type="arabicPeriod"/>
            </a:pPr>
            <a:r>
              <a:rPr lang="en-GB">
                <a:solidFill>
                  <a:srgbClr val="666666"/>
                </a:solidFill>
                <a:latin typeface="Avenir"/>
                <a:ea typeface="Avenir"/>
                <a:cs typeface="Avenir"/>
                <a:sym typeface="Avenir"/>
              </a:rPr>
              <a:t>How did your </a:t>
            </a:r>
            <a:r>
              <a:rPr i="1" lang="en-GB">
                <a:solidFill>
                  <a:srgbClr val="666666"/>
                </a:solidFill>
                <a:latin typeface="Avenir"/>
                <a:ea typeface="Avenir"/>
                <a:cs typeface="Avenir"/>
                <a:sym typeface="Avenir"/>
              </a:rPr>
              <a:t>body language</a:t>
            </a:r>
            <a:r>
              <a:rPr lang="en-GB">
                <a:solidFill>
                  <a:srgbClr val="666666"/>
                </a:solidFill>
                <a:latin typeface="Avenir"/>
                <a:ea typeface="Avenir"/>
                <a:cs typeface="Avenir"/>
                <a:sym typeface="Avenir"/>
              </a:rPr>
              <a:t> change?</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AutoNum type="arabicPeriod"/>
            </a:pPr>
            <a:r>
              <a:rPr lang="en-GB">
                <a:solidFill>
                  <a:srgbClr val="666666"/>
                </a:solidFill>
                <a:latin typeface="Avenir"/>
                <a:ea typeface="Avenir"/>
                <a:cs typeface="Avenir"/>
                <a:sym typeface="Avenir"/>
              </a:rPr>
              <a:t>How angry were you (scale from 1 to 10)?</a:t>
            </a:r>
            <a:endParaRPr>
              <a:solidFill>
                <a:srgbClr val="666666"/>
              </a:solidFill>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22"/>
          <p:cNvSpPr txBox="1"/>
          <p:nvPr>
            <p:ph idx="1" type="subTitle"/>
          </p:nvPr>
        </p:nvSpPr>
        <p:spPr>
          <a:xfrm>
            <a:off x="728375" y="693025"/>
            <a:ext cx="7765800" cy="3725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Agree or Disagree?</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Later, I thought of things I wished I’d said</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I was distracted for over an hour afterwards</a:t>
            </a:r>
            <a:endParaRPr>
              <a:solidFill>
                <a:srgbClr val="666666"/>
              </a:solidFill>
              <a:latin typeface="Avenir"/>
              <a:ea typeface="Avenir"/>
              <a:cs typeface="Avenir"/>
              <a:sym typeface="Avenir"/>
            </a:endParaRPr>
          </a:p>
          <a:p>
            <a:pPr indent="-406400" lvl="0" marL="457200" rtl="0" algn="l">
              <a:lnSpc>
                <a:spcPct val="115000"/>
              </a:lnSpc>
              <a:spcBef>
                <a:spcPts val="0"/>
              </a:spcBef>
              <a:spcAft>
                <a:spcPts val="0"/>
              </a:spcAft>
              <a:buClr>
                <a:srgbClr val="666666"/>
              </a:buClr>
              <a:buSzPts val="2800"/>
              <a:buFont typeface="Avenir"/>
              <a:buChar char="●"/>
            </a:pPr>
            <a:r>
              <a:rPr lang="en-GB">
                <a:solidFill>
                  <a:srgbClr val="666666"/>
                </a:solidFill>
                <a:latin typeface="Avenir"/>
                <a:ea typeface="Avenir"/>
                <a:cs typeface="Avenir"/>
                <a:sym typeface="Avenir"/>
              </a:rPr>
              <a:t>It took at least an hour for my </a:t>
            </a:r>
            <a:r>
              <a:rPr lang="en-GB">
                <a:solidFill>
                  <a:srgbClr val="666666"/>
                </a:solidFill>
                <a:latin typeface="Avenir"/>
                <a:ea typeface="Avenir"/>
                <a:cs typeface="Avenir"/>
                <a:sym typeface="Avenir"/>
              </a:rPr>
              <a:t>body </a:t>
            </a:r>
            <a:r>
              <a:rPr lang="en-GB">
                <a:solidFill>
                  <a:srgbClr val="666666"/>
                </a:solidFill>
                <a:latin typeface="Avenir"/>
                <a:ea typeface="Avenir"/>
                <a:cs typeface="Avenir"/>
                <a:sym typeface="Avenir"/>
              </a:rPr>
              <a:t>to relax</a:t>
            </a:r>
            <a:endParaRPr>
              <a:solidFill>
                <a:srgbClr val="666666"/>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4AA8C"/>
        </a:solidFill>
      </p:bgPr>
    </p:bg>
    <p:spTree>
      <p:nvGrpSpPr>
        <p:cNvPr id="109" name="Shape 109"/>
        <p:cNvGrpSpPr/>
        <p:nvPr/>
      </p:nvGrpSpPr>
      <p:grpSpPr>
        <a:xfrm>
          <a:off x="0" y="0"/>
          <a:ext cx="0" cy="0"/>
          <a:chOff x="0" y="0"/>
          <a:chExt cx="0" cy="0"/>
        </a:xfrm>
      </p:grpSpPr>
      <p:sp>
        <p:nvSpPr>
          <p:cNvPr id="110" name="Google Shape;110;p23"/>
          <p:cNvSpPr txBox="1"/>
          <p:nvPr>
            <p:ph type="ctrTitle"/>
          </p:nvPr>
        </p:nvSpPr>
        <p:spPr>
          <a:xfrm>
            <a:off x="728375" y="1349675"/>
            <a:ext cx="7765800" cy="240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Avenir"/>
                <a:ea typeface="Avenir"/>
                <a:cs typeface="Avenir"/>
                <a:sym typeface="Avenir"/>
              </a:rPr>
              <a:t>Emotion Coaching</a:t>
            </a:r>
            <a:r>
              <a:rPr lang="en-GB">
                <a:solidFill>
                  <a:srgbClr val="FFFFFF"/>
                </a:solidFill>
                <a:latin typeface="Avenir"/>
                <a:ea typeface="Avenir"/>
                <a:cs typeface="Avenir"/>
                <a:sym typeface="Avenir"/>
              </a:rPr>
              <a:t>…</a:t>
            </a:r>
            <a:endParaRPr>
              <a:solidFill>
                <a:srgbClr val="FFFFFF"/>
              </a:solidFill>
              <a:latin typeface="Avenir"/>
              <a:ea typeface="Avenir"/>
              <a:cs typeface="Avenir"/>
              <a:sym typeface="Aveni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4"/>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16" name="Google Shape;116;p24"/>
          <p:cNvSpPr txBox="1"/>
          <p:nvPr>
            <p:ph idx="1" type="subTitle"/>
          </p:nvPr>
        </p:nvSpPr>
        <p:spPr>
          <a:xfrm>
            <a:off x="740125" y="1336375"/>
            <a:ext cx="3736500" cy="30603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Lookout System</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666666"/>
                </a:solidFill>
                <a:latin typeface="Avenir"/>
                <a:ea typeface="Avenir"/>
                <a:cs typeface="Avenir"/>
                <a:sym typeface="Avenir"/>
              </a:rPr>
              <a:t>Brain pathways that </a:t>
            </a:r>
            <a:r>
              <a:rPr lang="en-GB" sz="1900">
                <a:solidFill>
                  <a:srgbClr val="666666"/>
                </a:solidFill>
                <a:latin typeface="Avenir"/>
                <a:ea typeface="Avenir"/>
                <a:cs typeface="Avenir"/>
                <a:sym typeface="Avenir"/>
              </a:rPr>
              <a:t>constantly monitor our environments and other people to ensure we are ready to respond to threats and</a:t>
            </a:r>
            <a:endParaRPr sz="19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666666"/>
                </a:solidFill>
                <a:latin typeface="Avenir"/>
                <a:ea typeface="Avenir"/>
                <a:cs typeface="Avenir"/>
                <a:sym typeface="Avenir"/>
              </a:rPr>
              <a:t>danger </a:t>
            </a:r>
            <a:r>
              <a:rPr lang="en-GB" sz="1900">
                <a:solidFill>
                  <a:srgbClr val="666666"/>
                </a:solidFill>
                <a:latin typeface="Avenir"/>
                <a:ea typeface="Avenir"/>
                <a:cs typeface="Avenir"/>
                <a:sym typeface="Avenir"/>
              </a:rPr>
              <a:t>(</a:t>
            </a:r>
            <a:r>
              <a:rPr lang="en-GB" sz="1900">
                <a:solidFill>
                  <a:srgbClr val="666666"/>
                </a:solidFill>
                <a:latin typeface="Avenir"/>
                <a:ea typeface="Avenir"/>
                <a:cs typeface="Avenir"/>
                <a:sym typeface="Avenir"/>
              </a:rPr>
              <a:t>Porges, 2011).</a:t>
            </a:r>
            <a:endParaRPr sz="1900">
              <a:solidFill>
                <a:srgbClr val="666666"/>
              </a:solidFill>
              <a:latin typeface="Avenir"/>
              <a:ea typeface="Avenir"/>
              <a:cs typeface="Avenir"/>
              <a:sym typeface="Avenir"/>
            </a:endParaRPr>
          </a:p>
        </p:txBody>
      </p:sp>
      <p:pic>
        <p:nvPicPr>
          <p:cNvPr id="117" name="Google Shape;117;p24"/>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18" name="Google Shape;118;p24"/>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119" name="Google Shape;119;p24"/>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120" name="Google Shape;120;p24"/>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121" name="Google Shape;121;p24"/>
          <p:cNvPicPr preferRelativeResize="0"/>
          <p:nvPr/>
        </p:nvPicPr>
        <p:blipFill rotWithShape="1">
          <a:blip r:embed="rId4">
            <a:alphaModFix/>
          </a:blip>
          <a:srcRect b="0" l="0" r="0" t="14661"/>
          <a:stretch/>
        </p:blipFill>
        <p:spPr>
          <a:xfrm>
            <a:off x="5049038" y="2325302"/>
            <a:ext cx="886199" cy="64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127" name="Google Shape;127;p25"/>
          <p:cNvPicPr preferRelativeResize="0"/>
          <p:nvPr/>
        </p:nvPicPr>
        <p:blipFill rotWithShape="1">
          <a:blip r:embed="rId3">
            <a:alphaModFix/>
          </a:blip>
          <a:srcRect b="0" l="0" r="0" t="14661"/>
          <a:stretch/>
        </p:blipFill>
        <p:spPr>
          <a:xfrm>
            <a:off x="5049038" y="2325302"/>
            <a:ext cx="886199" cy="646500"/>
          </a:xfrm>
          <a:prstGeom prst="rect">
            <a:avLst/>
          </a:prstGeom>
          <a:noFill/>
          <a:ln>
            <a:noFill/>
          </a:ln>
        </p:spPr>
      </p:pic>
      <p:sp>
        <p:nvSpPr>
          <p:cNvPr id="128" name="Google Shape;128;p25"/>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29" name="Google Shape;129;p25"/>
          <p:cNvSpPr txBox="1"/>
          <p:nvPr>
            <p:ph idx="1" type="subTitle"/>
          </p:nvPr>
        </p:nvSpPr>
        <p:spPr>
          <a:xfrm>
            <a:off x="751875" y="1218950"/>
            <a:ext cx="3666000" cy="32364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Social Engagement</a:t>
            </a:r>
            <a:endParaRPr>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666666"/>
                </a:solidFill>
                <a:latin typeface="Avenir"/>
                <a:ea typeface="Avenir"/>
                <a:cs typeface="Avenir"/>
                <a:sym typeface="Avenir"/>
              </a:rPr>
              <a:t>Drives us</a:t>
            </a:r>
            <a:r>
              <a:rPr lang="en-GB" sz="1900">
                <a:solidFill>
                  <a:srgbClr val="666666"/>
                </a:solidFill>
                <a:latin typeface="Avenir"/>
                <a:ea typeface="Avenir"/>
                <a:cs typeface="Avenir"/>
                <a:sym typeface="Avenir"/>
              </a:rPr>
              <a:t> to engage in more socially appropriate behaviour, think more clearly, learn new skills and problem-solve</a:t>
            </a:r>
            <a:endParaRPr sz="19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666666"/>
                </a:solidFill>
                <a:latin typeface="Avenir"/>
                <a:ea typeface="Avenir"/>
                <a:cs typeface="Avenir"/>
                <a:sym typeface="Avenir"/>
              </a:rPr>
              <a:t>(Siegel and Bryson, 2012)</a:t>
            </a:r>
            <a:endParaRPr sz="1900">
              <a:solidFill>
                <a:srgbClr val="666666"/>
              </a:solidFill>
              <a:latin typeface="Avenir"/>
              <a:ea typeface="Avenir"/>
              <a:cs typeface="Avenir"/>
              <a:sym typeface="Avenir"/>
            </a:endParaRPr>
          </a:p>
        </p:txBody>
      </p:sp>
      <p:sp>
        <p:nvSpPr>
          <p:cNvPr id="130" name="Google Shape;130;p25"/>
          <p:cNvSpPr/>
          <p:nvPr/>
        </p:nvSpPr>
        <p:spPr>
          <a:xfrm rot="5400000">
            <a:off x="6120350" y="2797675"/>
            <a:ext cx="1009800" cy="8688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1" name="Google Shape;131;p25"/>
          <p:cNvPicPr preferRelativeResize="0"/>
          <p:nvPr/>
        </p:nvPicPr>
        <p:blipFill rotWithShape="1">
          <a:blip r:embed="rId4">
            <a:alphaModFix/>
          </a:blip>
          <a:srcRect b="46587" l="0" r="69103" t="0"/>
          <a:stretch/>
        </p:blipFill>
        <p:spPr>
          <a:xfrm>
            <a:off x="7283100" y="3426125"/>
            <a:ext cx="1638300" cy="1714500"/>
          </a:xfrm>
          <a:prstGeom prst="rect">
            <a:avLst/>
          </a:prstGeom>
          <a:noFill/>
          <a:ln>
            <a:noFill/>
          </a:ln>
        </p:spPr>
      </p:pic>
      <p:pic>
        <p:nvPicPr>
          <p:cNvPr id="132" name="Google Shape;132;p25"/>
          <p:cNvPicPr preferRelativeResize="0"/>
          <p:nvPr/>
        </p:nvPicPr>
        <p:blipFill rotWithShape="1">
          <a:blip r:embed="rId4">
            <a:alphaModFix/>
          </a:blip>
          <a:srcRect b="46587" l="34136" r="34136" t="0"/>
          <a:stretch/>
        </p:blipFill>
        <p:spPr>
          <a:xfrm>
            <a:off x="7259275" y="1717375"/>
            <a:ext cx="1685925" cy="1714500"/>
          </a:xfrm>
          <a:prstGeom prst="rect">
            <a:avLst/>
          </a:prstGeom>
          <a:noFill/>
          <a:ln>
            <a:noFill/>
          </a:ln>
        </p:spPr>
      </p:pic>
      <p:pic>
        <p:nvPicPr>
          <p:cNvPr id="133" name="Google Shape;133;p25"/>
          <p:cNvPicPr preferRelativeResize="0"/>
          <p:nvPr/>
        </p:nvPicPr>
        <p:blipFill rotWithShape="1">
          <a:blip r:embed="rId4">
            <a:alphaModFix/>
          </a:blip>
          <a:srcRect b="46587" l="68272" r="0" t="0"/>
          <a:stretch/>
        </p:blipFill>
        <p:spPr>
          <a:xfrm>
            <a:off x="7259288" y="2875"/>
            <a:ext cx="1685925" cy="1714500"/>
          </a:xfrm>
          <a:prstGeom prst="rect">
            <a:avLst/>
          </a:prstGeom>
          <a:noFill/>
          <a:ln>
            <a:noFill/>
          </a:ln>
        </p:spPr>
      </p:pic>
      <p:sp>
        <p:nvSpPr>
          <p:cNvPr id="134" name="Google Shape;134;p25"/>
          <p:cNvSpPr/>
          <p:nvPr/>
        </p:nvSpPr>
        <p:spPr>
          <a:xfrm flipH="1" rot="5400000">
            <a:off x="6129200" y="1626775"/>
            <a:ext cx="1009800" cy="886200"/>
          </a:xfrm>
          <a:prstGeom prst="bentArrow">
            <a:avLst>
              <a:gd fmla="val 25000" name="adj1"/>
              <a:gd fmla="val 25000" name="adj2"/>
              <a:gd fmla="val 25000" name="adj3"/>
              <a:gd fmla="val 43750" name="adj4"/>
            </a:avLst>
          </a:prstGeom>
          <a:solidFill>
            <a:srgbClr val="00DE9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6"/>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40" name="Google Shape;140;p26"/>
          <p:cNvSpPr txBox="1"/>
          <p:nvPr>
            <p:ph idx="1" type="subTitle"/>
          </p:nvPr>
        </p:nvSpPr>
        <p:spPr>
          <a:xfrm>
            <a:off x="740125" y="1336375"/>
            <a:ext cx="4053300" cy="3001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Stress</a:t>
            </a:r>
            <a:r>
              <a:rPr lang="en-GB">
                <a:solidFill>
                  <a:srgbClr val="666666"/>
                </a:solidFill>
                <a:latin typeface="Avenir"/>
                <a:ea typeface="Avenir"/>
                <a:cs typeface="Avenir"/>
                <a:sym typeface="Avenir"/>
              </a:rPr>
              <a:t> Response</a:t>
            </a:r>
            <a:endParaRPr>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Reaction to threat / danger </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Fight, flight, or freeze</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Higher reasoning shuts down</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Heart / breathing rate ↑</a:t>
            </a:r>
            <a:endParaRPr sz="19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666666"/>
                </a:solidFill>
                <a:latin typeface="Avenir"/>
                <a:ea typeface="Avenir"/>
                <a:cs typeface="Avenir"/>
                <a:sym typeface="Avenir"/>
              </a:rPr>
              <a:t>(Selye, 1956)</a:t>
            </a:r>
            <a:endParaRPr sz="1900">
              <a:solidFill>
                <a:srgbClr val="666666"/>
              </a:solidFill>
              <a:latin typeface="Avenir"/>
              <a:ea typeface="Avenir"/>
              <a:cs typeface="Avenir"/>
              <a:sym typeface="Avenir"/>
            </a:endParaRPr>
          </a:p>
        </p:txBody>
      </p:sp>
      <p:sp>
        <p:nvSpPr>
          <p:cNvPr id="141" name="Google Shape;141;p26"/>
          <p:cNvSpPr/>
          <p:nvPr/>
        </p:nvSpPr>
        <p:spPr>
          <a:xfrm rot="5400000">
            <a:off x="6120350" y="2797675"/>
            <a:ext cx="1009800" cy="868800"/>
          </a:xfrm>
          <a:prstGeom prst="bentArrow">
            <a:avLst>
              <a:gd fmla="val 25000" name="adj1"/>
              <a:gd fmla="val 25000" name="adj2"/>
              <a:gd fmla="val 25000" name="adj3"/>
              <a:gd fmla="val 43750" name="adj4"/>
            </a:avLst>
          </a:prstGeom>
          <a:solidFill>
            <a:srgbClr val="EE00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2" name="Google Shape;142;p26"/>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43" name="Google Shape;143;p26"/>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144" name="Google Shape;144;p26"/>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145" name="Google Shape;145;p26"/>
          <p:cNvSpPr/>
          <p:nvPr/>
        </p:nvSpPr>
        <p:spPr>
          <a:xfrm flipH="1" rot="5400000">
            <a:off x="6129200" y="1626775"/>
            <a:ext cx="1009800" cy="8862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6"/>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147" name="Google Shape;147;p26"/>
          <p:cNvPicPr preferRelativeResize="0"/>
          <p:nvPr/>
        </p:nvPicPr>
        <p:blipFill rotWithShape="1">
          <a:blip r:embed="rId4">
            <a:alphaModFix/>
          </a:blip>
          <a:srcRect b="0" l="0" r="0" t="14661"/>
          <a:stretch/>
        </p:blipFill>
        <p:spPr>
          <a:xfrm>
            <a:off x="5049038" y="2325302"/>
            <a:ext cx="886199" cy="646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27"/>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53" name="Google Shape;153;p27"/>
          <p:cNvSpPr txBox="1"/>
          <p:nvPr>
            <p:ph idx="1" type="subTitle"/>
          </p:nvPr>
        </p:nvSpPr>
        <p:spPr>
          <a:xfrm>
            <a:off x="740125" y="1336375"/>
            <a:ext cx="4053300" cy="3001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Your Argument</a:t>
            </a:r>
            <a:endParaRPr>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What was the </a:t>
            </a:r>
            <a:r>
              <a:rPr i="1" lang="en-GB" sz="1900">
                <a:solidFill>
                  <a:srgbClr val="666666"/>
                </a:solidFill>
                <a:latin typeface="Avenir"/>
                <a:ea typeface="Avenir"/>
                <a:cs typeface="Avenir"/>
                <a:sym typeface="Avenir"/>
              </a:rPr>
              <a:t>threat?</a:t>
            </a:r>
            <a:endParaRPr i="1"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Fight, flight, or freeze </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Higher reasoning shuts down</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(Things you wished you’d said?)</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Heart / breathing rate ↑</a:t>
            </a:r>
            <a:endParaRPr sz="1900">
              <a:solidFill>
                <a:srgbClr val="666666"/>
              </a:solidFill>
              <a:latin typeface="Avenir"/>
              <a:ea typeface="Avenir"/>
              <a:cs typeface="Avenir"/>
              <a:sym typeface="Avenir"/>
            </a:endParaRPr>
          </a:p>
        </p:txBody>
      </p:sp>
      <p:sp>
        <p:nvSpPr>
          <p:cNvPr id="154" name="Google Shape;154;p27"/>
          <p:cNvSpPr/>
          <p:nvPr/>
        </p:nvSpPr>
        <p:spPr>
          <a:xfrm rot="5400000">
            <a:off x="6120350" y="2797675"/>
            <a:ext cx="1009800" cy="868800"/>
          </a:xfrm>
          <a:prstGeom prst="bentArrow">
            <a:avLst>
              <a:gd fmla="val 25000" name="adj1"/>
              <a:gd fmla="val 25000" name="adj2"/>
              <a:gd fmla="val 25000" name="adj3"/>
              <a:gd fmla="val 43750" name="adj4"/>
            </a:avLst>
          </a:prstGeom>
          <a:solidFill>
            <a:srgbClr val="EE00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5" name="Google Shape;155;p27"/>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56" name="Google Shape;156;p27"/>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157" name="Google Shape;157;p27"/>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158" name="Google Shape;158;p27"/>
          <p:cNvSpPr/>
          <p:nvPr/>
        </p:nvSpPr>
        <p:spPr>
          <a:xfrm flipH="1" rot="5400000">
            <a:off x="6129200" y="1626775"/>
            <a:ext cx="1009800" cy="8862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7"/>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160" name="Google Shape;160;p27"/>
          <p:cNvPicPr preferRelativeResize="0"/>
          <p:nvPr/>
        </p:nvPicPr>
        <p:blipFill rotWithShape="1">
          <a:blip r:embed="rId4">
            <a:alphaModFix/>
          </a:blip>
          <a:srcRect b="0" l="0" r="0" t="14661"/>
          <a:stretch/>
        </p:blipFill>
        <p:spPr>
          <a:xfrm>
            <a:off x="5049038" y="2325302"/>
            <a:ext cx="886199" cy="64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28"/>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66" name="Google Shape;166;p28"/>
          <p:cNvSpPr txBox="1"/>
          <p:nvPr>
            <p:ph idx="1" type="subTitle"/>
          </p:nvPr>
        </p:nvSpPr>
        <p:spPr>
          <a:xfrm>
            <a:off x="740125" y="1336375"/>
            <a:ext cx="4053300" cy="3001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rgbClr val="666666"/>
                </a:solidFill>
                <a:latin typeface="Avenir"/>
                <a:ea typeface="Avenir"/>
                <a:cs typeface="Avenir"/>
                <a:sym typeface="Avenir"/>
              </a:rPr>
              <a:t>Early Trauma</a:t>
            </a:r>
            <a:endParaRPr>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Major / chronic activation</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‘Primes’ the lookout system</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Becomes over-sensitised</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Hypervigilance</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Behavioural dysregulation</a:t>
            </a:r>
            <a:endParaRPr>
              <a:solidFill>
                <a:srgbClr val="666666"/>
              </a:solidFill>
              <a:latin typeface="Avenir"/>
              <a:ea typeface="Avenir"/>
              <a:cs typeface="Avenir"/>
              <a:sym typeface="Avenir"/>
            </a:endParaRPr>
          </a:p>
        </p:txBody>
      </p:sp>
      <p:sp>
        <p:nvSpPr>
          <p:cNvPr id="167" name="Google Shape;167;p28"/>
          <p:cNvSpPr/>
          <p:nvPr/>
        </p:nvSpPr>
        <p:spPr>
          <a:xfrm rot="5400000">
            <a:off x="6120350" y="2797675"/>
            <a:ext cx="1009800" cy="868800"/>
          </a:xfrm>
          <a:prstGeom prst="bentArrow">
            <a:avLst>
              <a:gd fmla="val 25000" name="adj1"/>
              <a:gd fmla="val 25000" name="adj2"/>
              <a:gd fmla="val 25000" name="adj3"/>
              <a:gd fmla="val 43750" name="adj4"/>
            </a:avLst>
          </a:prstGeom>
          <a:solidFill>
            <a:srgbClr val="EE00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 name="Google Shape;168;p28"/>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69" name="Google Shape;169;p28"/>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170" name="Google Shape;170;p28"/>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171" name="Google Shape;171;p28"/>
          <p:cNvSpPr/>
          <p:nvPr/>
        </p:nvSpPr>
        <p:spPr>
          <a:xfrm flipH="1" rot="5400000">
            <a:off x="6129200" y="1626775"/>
            <a:ext cx="1009800" cy="8862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8"/>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173" name="Google Shape;173;p28"/>
          <p:cNvPicPr preferRelativeResize="0"/>
          <p:nvPr/>
        </p:nvPicPr>
        <p:blipFill rotWithShape="1">
          <a:blip r:embed="rId4">
            <a:alphaModFix/>
          </a:blip>
          <a:srcRect b="0" l="0" r="0" t="14661"/>
          <a:stretch/>
        </p:blipFill>
        <p:spPr>
          <a:xfrm>
            <a:off x="5049038" y="2325302"/>
            <a:ext cx="886199" cy="646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29"/>
          <p:cNvSpPr txBox="1"/>
          <p:nvPr>
            <p:ph idx="1" type="subTitle"/>
          </p:nvPr>
        </p:nvSpPr>
        <p:spPr>
          <a:xfrm>
            <a:off x="728375" y="672350"/>
            <a:ext cx="7765800" cy="3877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6000">
                <a:solidFill>
                  <a:srgbClr val="00A1CC"/>
                </a:solidFill>
                <a:latin typeface="Avenir"/>
                <a:ea typeface="Avenir"/>
                <a:cs typeface="Avenir"/>
                <a:sym typeface="Avenir"/>
              </a:rPr>
              <a:t>Video</a:t>
            </a:r>
            <a:endParaRPr sz="6000">
              <a:solidFill>
                <a:srgbClr val="00A1CC"/>
              </a:solidFill>
              <a:latin typeface="Avenir"/>
              <a:ea typeface="Avenir"/>
              <a:cs typeface="Avenir"/>
              <a:sym typeface="Avenir"/>
            </a:endParaRPr>
          </a:p>
        </p:txBody>
      </p:sp>
      <p:sp>
        <p:nvSpPr>
          <p:cNvPr id="179" name="Google Shape;179;p29"/>
          <p:cNvSpPr txBox="1"/>
          <p:nvPr/>
        </p:nvSpPr>
        <p:spPr>
          <a:xfrm>
            <a:off x="704675" y="3053200"/>
            <a:ext cx="471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hlinkClick r:id="rId3"/>
              </a:rPr>
              <a:t>The Neurosequential Model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p30"/>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85" name="Google Shape;185;p30"/>
          <p:cNvSpPr txBox="1"/>
          <p:nvPr>
            <p:ph idx="1" type="subTitle"/>
          </p:nvPr>
        </p:nvSpPr>
        <p:spPr>
          <a:xfrm>
            <a:off x="740125" y="1336375"/>
            <a:ext cx="5345100" cy="2716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Teaching aims here</a:t>
            </a:r>
            <a:endParaRPr sz="1900">
              <a:solidFill>
                <a:srgbClr val="666666"/>
              </a:solidFill>
              <a:latin typeface="Avenir"/>
              <a:ea typeface="Avenir"/>
              <a:cs typeface="Avenir"/>
              <a:sym typeface="Avenir"/>
            </a:endParaRPr>
          </a:p>
        </p:txBody>
      </p:sp>
      <p:sp>
        <p:nvSpPr>
          <p:cNvPr id="186" name="Google Shape;186;p30"/>
          <p:cNvSpPr/>
          <p:nvPr/>
        </p:nvSpPr>
        <p:spPr>
          <a:xfrm rot="5400000">
            <a:off x="6120350" y="2797675"/>
            <a:ext cx="1009800" cy="8688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30"/>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88" name="Google Shape;188;p30"/>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189" name="Google Shape;189;p30"/>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190" name="Google Shape;190;p30"/>
          <p:cNvSpPr/>
          <p:nvPr/>
        </p:nvSpPr>
        <p:spPr>
          <a:xfrm flipH="1" rot="5400000">
            <a:off x="6129200" y="1626775"/>
            <a:ext cx="1009800" cy="886200"/>
          </a:xfrm>
          <a:prstGeom prst="bentArrow">
            <a:avLst>
              <a:gd fmla="val 25000" name="adj1"/>
              <a:gd fmla="val 25000" name="adj2"/>
              <a:gd fmla="val 25000" name="adj3"/>
              <a:gd fmla="val 43750" name="adj4"/>
            </a:avLst>
          </a:prstGeom>
          <a:solidFill>
            <a:srgbClr val="00DE9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31"/>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196" name="Google Shape;196;p31"/>
          <p:cNvSpPr txBox="1"/>
          <p:nvPr>
            <p:ph idx="1" type="subTitle"/>
          </p:nvPr>
        </p:nvSpPr>
        <p:spPr>
          <a:xfrm>
            <a:off x="740125" y="1336375"/>
            <a:ext cx="5345100" cy="2716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Emotion Coaching aims here</a:t>
            </a:r>
            <a:endParaRPr i="1" sz="1900">
              <a:solidFill>
                <a:srgbClr val="666666"/>
              </a:solidFill>
              <a:latin typeface="Avenir"/>
              <a:ea typeface="Avenir"/>
              <a:cs typeface="Avenir"/>
              <a:sym typeface="Avenir"/>
            </a:endParaRPr>
          </a:p>
        </p:txBody>
      </p:sp>
      <p:sp>
        <p:nvSpPr>
          <p:cNvPr id="197" name="Google Shape;197;p31"/>
          <p:cNvSpPr/>
          <p:nvPr/>
        </p:nvSpPr>
        <p:spPr>
          <a:xfrm rot="5400000">
            <a:off x="6120350" y="2797675"/>
            <a:ext cx="1009800" cy="868800"/>
          </a:xfrm>
          <a:prstGeom prst="bentArrow">
            <a:avLst>
              <a:gd fmla="val 25000" name="adj1"/>
              <a:gd fmla="val 25000" name="adj2"/>
              <a:gd fmla="val 25000" name="adj3"/>
              <a:gd fmla="val 43750" name="adj4"/>
            </a:avLst>
          </a:prstGeom>
          <a:solidFill>
            <a:srgbClr val="EE00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8" name="Google Shape;198;p31"/>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199" name="Google Shape;199;p31"/>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200" name="Google Shape;200;p31"/>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201" name="Google Shape;201;p31"/>
          <p:cNvSpPr/>
          <p:nvPr/>
        </p:nvSpPr>
        <p:spPr>
          <a:xfrm flipH="1" rot="5400000">
            <a:off x="6129200" y="1626775"/>
            <a:ext cx="1009800" cy="8862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32"/>
          <p:cNvSpPr/>
          <p:nvPr/>
        </p:nvSpPr>
        <p:spPr>
          <a:xfrm>
            <a:off x="3795400" y="1002875"/>
            <a:ext cx="3182400" cy="37035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2"/>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pic>
        <p:nvPicPr>
          <p:cNvPr id="208" name="Google Shape;208;p32"/>
          <p:cNvPicPr preferRelativeResize="0"/>
          <p:nvPr/>
        </p:nvPicPr>
        <p:blipFill rotWithShape="1">
          <a:blip r:embed="rId3">
            <a:alphaModFix/>
          </a:blip>
          <a:srcRect b="46587" l="0" r="69103" t="0"/>
          <a:stretch/>
        </p:blipFill>
        <p:spPr>
          <a:xfrm>
            <a:off x="6695950" y="3426125"/>
            <a:ext cx="1638300" cy="1714500"/>
          </a:xfrm>
          <a:prstGeom prst="rect">
            <a:avLst/>
          </a:prstGeom>
          <a:noFill/>
          <a:ln>
            <a:noFill/>
          </a:ln>
        </p:spPr>
      </p:pic>
      <p:pic>
        <p:nvPicPr>
          <p:cNvPr id="209" name="Google Shape;209;p32"/>
          <p:cNvPicPr preferRelativeResize="0"/>
          <p:nvPr/>
        </p:nvPicPr>
        <p:blipFill rotWithShape="1">
          <a:blip r:embed="rId3">
            <a:alphaModFix/>
          </a:blip>
          <a:srcRect b="46587" l="34136" r="34136" t="0"/>
          <a:stretch/>
        </p:blipFill>
        <p:spPr>
          <a:xfrm>
            <a:off x="6672125" y="1717375"/>
            <a:ext cx="1685925" cy="1714500"/>
          </a:xfrm>
          <a:prstGeom prst="rect">
            <a:avLst/>
          </a:prstGeom>
          <a:noFill/>
          <a:ln>
            <a:noFill/>
          </a:ln>
        </p:spPr>
      </p:pic>
      <p:pic>
        <p:nvPicPr>
          <p:cNvPr id="210" name="Google Shape;210;p32"/>
          <p:cNvPicPr preferRelativeResize="0"/>
          <p:nvPr/>
        </p:nvPicPr>
        <p:blipFill rotWithShape="1">
          <a:blip r:embed="rId3">
            <a:alphaModFix/>
          </a:blip>
          <a:srcRect b="46587" l="68272" r="0" t="0"/>
          <a:stretch/>
        </p:blipFill>
        <p:spPr>
          <a:xfrm>
            <a:off x="6672138" y="2875"/>
            <a:ext cx="1685925" cy="1714500"/>
          </a:xfrm>
          <a:prstGeom prst="rect">
            <a:avLst/>
          </a:prstGeom>
          <a:noFill/>
          <a:ln>
            <a:noFill/>
          </a:ln>
        </p:spPr>
      </p:pic>
      <p:sp>
        <p:nvSpPr>
          <p:cNvPr id="211" name="Google Shape;211;p32"/>
          <p:cNvSpPr txBox="1"/>
          <p:nvPr/>
        </p:nvSpPr>
        <p:spPr>
          <a:xfrm>
            <a:off x="4567450" y="33202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38761D"/>
                </a:solidFill>
                <a:latin typeface="Avenir"/>
                <a:ea typeface="Avenir"/>
                <a:cs typeface="Avenir"/>
                <a:sym typeface="Avenir"/>
              </a:rPr>
              <a:t>Reason</a:t>
            </a:r>
            <a:endParaRPr b="1" sz="2800">
              <a:solidFill>
                <a:srgbClr val="38761D"/>
              </a:solidFill>
              <a:latin typeface="Avenir"/>
              <a:ea typeface="Avenir"/>
              <a:cs typeface="Avenir"/>
              <a:sym typeface="Avenir"/>
            </a:endParaRPr>
          </a:p>
        </p:txBody>
      </p:sp>
      <p:sp>
        <p:nvSpPr>
          <p:cNvPr id="212" name="Google Shape;212;p32"/>
          <p:cNvSpPr txBox="1"/>
          <p:nvPr/>
        </p:nvSpPr>
        <p:spPr>
          <a:xfrm>
            <a:off x="4567450" y="214935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073763"/>
                </a:solidFill>
                <a:latin typeface="Avenir"/>
                <a:ea typeface="Avenir"/>
                <a:cs typeface="Avenir"/>
                <a:sym typeface="Avenir"/>
              </a:rPr>
              <a:t>Relate</a:t>
            </a:r>
            <a:endParaRPr b="1" sz="2800">
              <a:solidFill>
                <a:srgbClr val="073763"/>
              </a:solidFill>
              <a:latin typeface="Avenir"/>
              <a:ea typeface="Avenir"/>
              <a:cs typeface="Avenir"/>
              <a:sym typeface="Avenir"/>
            </a:endParaRPr>
          </a:p>
        </p:txBody>
      </p:sp>
      <p:sp>
        <p:nvSpPr>
          <p:cNvPr id="213" name="Google Shape;213;p32"/>
          <p:cNvSpPr txBox="1"/>
          <p:nvPr/>
        </p:nvSpPr>
        <p:spPr>
          <a:xfrm>
            <a:off x="4567450" y="386097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C0000"/>
                </a:solidFill>
                <a:latin typeface="Avenir"/>
                <a:ea typeface="Avenir"/>
                <a:cs typeface="Avenir"/>
                <a:sym typeface="Avenir"/>
              </a:rPr>
              <a:t>Regulate</a:t>
            </a:r>
            <a:endParaRPr b="1" sz="2800">
              <a:solidFill>
                <a:srgbClr val="CC0000"/>
              </a:solidFill>
              <a:latin typeface="Avenir"/>
              <a:ea typeface="Avenir"/>
              <a:cs typeface="Avenir"/>
              <a:sym typeface="Avenir"/>
            </a:endParaRPr>
          </a:p>
        </p:txBody>
      </p:sp>
      <p:sp>
        <p:nvSpPr>
          <p:cNvPr id="214" name="Google Shape;214;p32"/>
          <p:cNvSpPr txBox="1"/>
          <p:nvPr/>
        </p:nvSpPr>
        <p:spPr>
          <a:xfrm>
            <a:off x="728375" y="401792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hlinkClick r:id="rId4"/>
              </a:rPr>
              <a:t>An Incident in School: BBC3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33"/>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220" name="Google Shape;220;p33"/>
          <p:cNvSpPr txBox="1"/>
          <p:nvPr>
            <p:ph idx="1" type="subTitle"/>
          </p:nvPr>
        </p:nvSpPr>
        <p:spPr>
          <a:xfrm>
            <a:off x="740125" y="1336375"/>
            <a:ext cx="3831900" cy="3001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666666"/>
                </a:solidFill>
                <a:latin typeface="Avenir"/>
                <a:ea typeface="Avenir"/>
                <a:cs typeface="Avenir"/>
                <a:sym typeface="Avenir"/>
              </a:rPr>
              <a:t>Stress Response</a:t>
            </a:r>
            <a:endParaRPr>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Assertive body language</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Blocking exits / cornering</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Disinterest / dismissive</a:t>
            </a:r>
            <a:endParaRPr sz="1900">
              <a:solidFill>
                <a:srgbClr val="666666"/>
              </a:solidFill>
              <a:latin typeface="Avenir"/>
              <a:ea typeface="Avenir"/>
              <a:cs typeface="Avenir"/>
              <a:sym typeface="Avenir"/>
            </a:endParaRPr>
          </a:p>
          <a:p>
            <a:pPr indent="-349250" lvl="0" marL="457200" rtl="0" algn="l">
              <a:lnSpc>
                <a:spcPct val="115000"/>
              </a:lnSpc>
              <a:spcBef>
                <a:spcPts val="0"/>
              </a:spcBef>
              <a:spcAft>
                <a:spcPts val="0"/>
              </a:spcAft>
              <a:buClr>
                <a:srgbClr val="666666"/>
              </a:buClr>
              <a:buSzPts val="1900"/>
              <a:buFont typeface="Avenir"/>
              <a:buChar char="●"/>
            </a:pPr>
            <a:r>
              <a:rPr lang="en-GB" sz="1900">
                <a:solidFill>
                  <a:srgbClr val="666666"/>
                </a:solidFill>
                <a:latin typeface="Avenir"/>
                <a:ea typeface="Avenir"/>
                <a:cs typeface="Avenir"/>
                <a:sym typeface="Avenir"/>
              </a:rPr>
              <a:t>Verbal threats / challenges</a:t>
            </a:r>
            <a:endParaRPr sz="1900">
              <a:solidFill>
                <a:srgbClr val="666666"/>
              </a:solidFill>
              <a:latin typeface="Avenir"/>
              <a:ea typeface="Avenir"/>
              <a:cs typeface="Avenir"/>
              <a:sym typeface="Avenir"/>
            </a:endParaRPr>
          </a:p>
        </p:txBody>
      </p:sp>
      <p:sp>
        <p:nvSpPr>
          <p:cNvPr id="221" name="Google Shape;221;p33"/>
          <p:cNvSpPr/>
          <p:nvPr/>
        </p:nvSpPr>
        <p:spPr>
          <a:xfrm rot="5400000">
            <a:off x="6120350" y="2797675"/>
            <a:ext cx="1009800" cy="868800"/>
          </a:xfrm>
          <a:prstGeom prst="bentArrow">
            <a:avLst>
              <a:gd fmla="val 25000" name="adj1"/>
              <a:gd fmla="val 25000" name="adj2"/>
              <a:gd fmla="val 25000" name="adj3"/>
              <a:gd fmla="val 43750" name="adj4"/>
            </a:avLst>
          </a:prstGeom>
          <a:solidFill>
            <a:srgbClr val="EE00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2" name="Google Shape;222;p33"/>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223" name="Google Shape;223;p33"/>
          <p:cNvPicPr preferRelativeResize="0"/>
          <p:nvPr/>
        </p:nvPicPr>
        <p:blipFill rotWithShape="1">
          <a:blip r:embed="rId3">
            <a:alphaModFix/>
          </a:blip>
          <a:srcRect b="46587" l="34136" r="34136" t="0"/>
          <a:stretch/>
        </p:blipFill>
        <p:spPr>
          <a:xfrm>
            <a:off x="7259275" y="1717375"/>
            <a:ext cx="1685925" cy="1714500"/>
          </a:xfrm>
          <a:prstGeom prst="rect">
            <a:avLst/>
          </a:prstGeom>
          <a:noFill/>
          <a:ln>
            <a:noFill/>
          </a:ln>
        </p:spPr>
      </p:pic>
      <p:pic>
        <p:nvPicPr>
          <p:cNvPr id="224" name="Google Shape;224;p33"/>
          <p:cNvPicPr preferRelativeResize="0"/>
          <p:nvPr/>
        </p:nvPicPr>
        <p:blipFill rotWithShape="1">
          <a:blip r:embed="rId3">
            <a:alphaModFix/>
          </a:blip>
          <a:srcRect b="46587" l="68272" r="0" t="0"/>
          <a:stretch/>
        </p:blipFill>
        <p:spPr>
          <a:xfrm>
            <a:off x="7259288" y="2875"/>
            <a:ext cx="1685925" cy="1714500"/>
          </a:xfrm>
          <a:prstGeom prst="rect">
            <a:avLst/>
          </a:prstGeom>
          <a:noFill/>
          <a:ln>
            <a:noFill/>
          </a:ln>
        </p:spPr>
      </p:pic>
      <p:sp>
        <p:nvSpPr>
          <p:cNvPr id="225" name="Google Shape;225;p33"/>
          <p:cNvSpPr/>
          <p:nvPr/>
        </p:nvSpPr>
        <p:spPr>
          <a:xfrm flipH="1" rot="5400000">
            <a:off x="6129200" y="1626775"/>
            <a:ext cx="1009800" cy="886200"/>
          </a:xfrm>
          <a:prstGeom prst="bentArrow">
            <a:avLst>
              <a:gd fmla="val 25000" name="adj1"/>
              <a:gd fmla="val 25000" name="adj2"/>
              <a:gd fmla="val 25000" name="adj3"/>
              <a:gd fmla="val 43750" name="adj4"/>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33"/>
          <p:cNvSpPr txBox="1"/>
          <p:nvPr/>
        </p:nvSpPr>
        <p:spPr>
          <a:xfrm>
            <a:off x="4957838" y="2084850"/>
            <a:ext cx="1068600" cy="1127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Lookout</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t/>
            </a:r>
            <a:endParaRPr sz="1800">
              <a:solidFill>
                <a:schemeClr val="dk2"/>
              </a:solidFill>
            </a:endParaRPr>
          </a:p>
          <a:p>
            <a:pPr indent="0" lvl="0" marL="0" rtl="0" algn="ctr">
              <a:spcBef>
                <a:spcPts val="0"/>
              </a:spcBef>
              <a:spcAft>
                <a:spcPts val="0"/>
              </a:spcAft>
              <a:buNone/>
            </a:pPr>
            <a:r>
              <a:rPr lang="en-GB" sz="1800">
                <a:solidFill>
                  <a:schemeClr val="dk2"/>
                </a:solidFill>
              </a:rPr>
              <a:t>System</a:t>
            </a:r>
            <a:endParaRPr sz="1800">
              <a:solidFill>
                <a:schemeClr val="dk2"/>
              </a:solidFill>
            </a:endParaRPr>
          </a:p>
        </p:txBody>
      </p:sp>
      <p:pic>
        <p:nvPicPr>
          <p:cNvPr descr="a white eye with a brown pupil and a black center (provided by Tenor)" id="227" name="Google Shape;227;p33"/>
          <p:cNvPicPr preferRelativeResize="0"/>
          <p:nvPr/>
        </p:nvPicPr>
        <p:blipFill rotWithShape="1">
          <a:blip r:embed="rId4">
            <a:alphaModFix/>
          </a:blip>
          <a:srcRect b="0" l="0" r="0" t="14661"/>
          <a:stretch/>
        </p:blipFill>
        <p:spPr>
          <a:xfrm>
            <a:off x="5049038" y="2325302"/>
            <a:ext cx="886199" cy="64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1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10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10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10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1000"/>
                                        <p:tgtEl>
                                          <p:spTgt spid="22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34"/>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Emotion Coaching</a:t>
            </a:r>
            <a:endParaRPr sz="3000">
              <a:solidFill>
                <a:srgbClr val="00A1CC"/>
              </a:solidFill>
              <a:latin typeface="Avenir"/>
              <a:ea typeface="Avenir"/>
              <a:cs typeface="Avenir"/>
              <a:sym typeface="Avenir"/>
            </a:endParaRPr>
          </a:p>
        </p:txBody>
      </p:sp>
      <p:sp>
        <p:nvSpPr>
          <p:cNvPr id="233" name="Google Shape;233;p34"/>
          <p:cNvSpPr txBox="1"/>
          <p:nvPr>
            <p:ph idx="1" type="subTitle"/>
          </p:nvPr>
        </p:nvSpPr>
        <p:spPr>
          <a:xfrm>
            <a:off x="751875" y="1860125"/>
            <a:ext cx="4041600" cy="2595300"/>
          </a:xfrm>
          <a:prstGeom prst="rect">
            <a:avLst/>
          </a:prstGeom>
        </p:spPr>
        <p:txBody>
          <a:bodyPr anchorCtr="0" anchor="ctr" bIns="91425" lIns="91425" spcFirstLastPara="1" rIns="91425" wrap="square" tIns="91425">
            <a:noAutofit/>
          </a:bodyPr>
          <a:lstStyle/>
          <a:p>
            <a:pPr indent="-349250" lvl="0" marL="457200" rtl="0" algn="l">
              <a:lnSpc>
                <a:spcPct val="115000"/>
              </a:lnSpc>
              <a:spcBef>
                <a:spcPts val="0"/>
              </a:spcBef>
              <a:spcAft>
                <a:spcPts val="0"/>
              </a:spcAft>
              <a:buClr>
                <a:srgbClr val="0B5394"/>
              </a:buClr>
              <a:buSzPts val="1900"/>
              <a:buFont typeface="Avenir"/>
              <a:buChar char="●"/>
            </a:pPr>
            <a:r>
              <a:rPr lang="en-GB" sz="1900">
                <a:solidFill>
                  <a:srgbClr val="0B5394"/>
                </a:solidFill>
                <a:latin typeface="Avenir"/>
                <a:ea typeface="Avenir"/>
                <a:cs typeface="Avenir"/>
                <a:sym typeface="Avenir"/>
              </a:rPr>
              <a:t>Natural curiosity</a:t>
            </a:r>
            <a:endParaRPr sz="1900">
              <a:solidFill>
                <a:srgbClr val="0B5394"/>
              </a:solidFill>
              <a:latin typeface="Avenir"/>
              <a:ea typeface="Avenir"/>
              <a:cs typeface="Avenir"/>
              <a:sym typeface="Avenir"/>
            </a:endParaRPr>
          </a:p>
          <a:p>
            <a:pPr indent="-349250" lvl="0" marL="457200" rtl="0" algn="l">
              <a:lnSpc>
                <a:spcPct val="115000"/>
              </a:lnSpc>
              <a:spcBef>
                <a:spcPts val="0"/>
              </a:spcBef>
              <a:spcAft>
                <a:spcPts val="0"/>
              </a:spcAft>
              <a:buClr>
                <a:srgbClr val="0B5394"/>
              </a:buClr>
              <a:buSzPts val="1900"/>
              <a:buFont typeface="Avenir"/>
              <a:buChar char="●"/>
            </a:pPr>
            <a:r>
              <a:rPr lang="en-GB" sz="1900">
                <a:solidFill>
                  <a:srgbClr val="0B5394"/>
                </a:solidFill>
                <a:latin typeface="Avenir"/>
                <a:ea typeface="Avenir"/>
                <a:cs typeface="Avenir"/>
                <a:sym typeface="Avenir"/>
              </a:rPr>
              <a:t>Problem-solve together</a:t>
            </a:r>
            <a:endParaRPr sz="1900">
              <a:solidFill>
                <a:srgbClr val="0B5394"/>
              </a:solidFill>
              <a:latin typeface="Avenir"/>
              <a:ea typeface="Avenir"/>
              <a:cs typeface="Avenir"/>
              <a:sym typeface="Avenir"/>
            </a:endParaRPr>
          </a:p>
          <a:p>
            <a:pPr indent="-349250" lvl="0" marL="457200" rtl="0" algn="l">
              <a:lnSpc>
                <a:spcPct val="115000"/>
              </a:lnSpc>
              <a:spcBef>
                <a:spcPts val="0"/>
              </a:spcBef>
              <a:spcAft>
                <a:spcPts val="0"/>
              </a:spcAft>
              <a:buClr>
                <a:srgbClr val="0B5394"/>
              </a:buClr>
              <a:buSzPts val="1900"/>
              <a:buFont typeface="Avenir"/>
              <a:buChar char="●"/>
            </a:pPr>
            <a:r>
              <a:rPr lang="en-GB" sz="1900">
                <a:solidFill>
                  <a:srgbClr val="0B5394"/>
                </a:solidFill>
                <a:latin typeface="Avenir"/>
                <a:ea typeface="Avenir"/>
                <a:cs typeface="Avenir"/>
                <a:sym typeface="Avenir"/>
              </a:rPr>
              <a:t>Validate / label feelings</a:t>
            </a:r>
            <a:endParaRPr sz="1900">
              <a:solidFill>
                <a:srgbClr val="0B5394"/>
              </a:solidFill>
              <a:latin typeface="Avenir"/>
              <a:ea typeface="Avenir"/>
              <a:cs typeface="Avenir"/>
              <a:sym typeface="Avenir"/>
            </a:endParaRPr>
          </a:p>
          <a:p>
            <a:pPr indent="0" lvl="0" marL="0" rtl="0" algn="l">
              <a:lnSpc>
                <a:spcPct val="115000"/>
              </a:lnSpc>
              <a:spcBef>
                <a:spcPts val="0"/>
              </a:spcBef>
              <a:spcAft>
                <a:spcPts val="0"/>
              </a:spcAft>
              <a:buNone/>
            </a:pPr>
            <a:r>
              <a:t/>
            </a:r>
            <a:endParaRPr sz="19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t/>
            </a:r>
            <a:endParaRPr sz="19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i="1" lang="en-GB" sz="1900">
                <a:solidFill>
                  <a:srgbClr val="A61C00"/>
                </a:solidFill>
                <a:latin typeface="Avenir"/>
                <a:ea typeface="Avenir"/>
                <a:cs typeface="Avenir"/>
                <a:sym typeface="Avenir"/>
              </a:rPr>
              <a:t>But how </a:t>
            </a:r>
            <a:r>
              <a:rPr lang="en-GB" sz="1900">
                <a:solidFill>
                  <a:srgbClr val="A61C00"/>
                </a:solidFill>
                <a:latin typeface="Avenir"/>
                <a:ea typeface="Avenir"/>
                <a:cs typeface="Avenir"/>
                <a:sym typeface="Avenir"/>
              </a:rPr>
              <a:t>do you regulate a student:</a:t>
            </a:r>
            <a:endParaRPr sz="1900">
              <a:solidFill>
                <a:srgbClr val="A61C00"/>
              </a:solidFill>
              <a:latin typeface="Avenir"/>
              <a:ea typeface="Avenir"/>
              <a:cs typeface="Avenir"/>
              <a:sym typeface="Avenir"/>
            </a:endParaRPr>
          </a:p>
          <a:p>
            <a:pPr indent="-349250" lvl="0" marL="457200" rtl="0" algn="l">
              <a:lnSpc>
                <a:spcPct val="115000"/>
              </a:lnSpc>
              <a:spcBef>
                <a:spcPts val="0"/>
              </a:spcBef>
              <a:spcAft>
                <a:spcPts val="0"/>
              </a:spcAft>
              <a:buClr>
                <a:srgbClr val="A61C00"/>
              </a:buClr>
              <a:buSzPts val="1900"/>
              <a:buFont typeface="Avenir"/>
              <a:buChar char="●"/>
            </a:pPr>
            <a:r>
              <a:rPr lang="en-GB" sz="1900">
                <a:solidFill>
                  <a:srgbClr val="A61C00"/>
                </a:solidFill>
                <a:latin typeface="Avenir"/>
                <a:ea typeface="Avenir"/>
                <a:cs typeface="Avenir"/>
                <a:sym typeface="Avenir"/>
              </a:rPr>
              <a:t>In a busy class of 30?</a:t>
            </a:r>
            <a:endParaRPr sz="1900">
              <a:solidFill>
                <a:srgbClr val="A61C00"/>
              </a:solidFill>
              <a:latin typeface="Avenir"/>
              <a:ea typeface="Avenir"/>
              <a:cs typeface="Avenir"/>
              <a:sym typeface="Avenir"/>
            </a:endParaRPr>
          </a:p>
          <a:p>
            <a:pPr indent="-349250" lvl="0" marL="457200" rtl="0" algn="l">
              <a:lnSpc>
                <a:spcPct val="115000"/>
              </a:lnSpc>
              <a:spcBef>
                <a:spcPts val="0"/>
              </a:spcBef>
              <a:spcAft>
                <a:spcPts val="0"/>
              </a:spcAft>
              <a:buClr>
                <a:srgbClr val="A61C00"/>
              </a:buClr>
              <a:buSzPts val="1900"/>
              <a:buFont typeface="Avenir"/>
              <a:buChar char="●"/>
            </a:pPr>
            <a:r>
              <a:rPr lang="en-GB" sz="1900">
                <a:solidFill>
                  <a:srgbClr val="A61C00"/>
                </a:solidFill>
                <a:latin typeface="Avenir"/>
                <a:ea typeface="Avenir"/>
                <a:cs typeface="Avenir"/>
                <a:sym typeface="Avenir"/>
              </a:rPr>
              <a:t>Around the school?</a:t>
            </a:r>
            <a:endParaRPr sz="1900">
              <a:solidFill>
                <a:srgbClr val="A61C00"/>
              </a:solidFill>
              <a:latin typeface="Avenir"/>
              <a:ea typeface="Avenir"/>
              <a:cs typeface="Avenir"/>
              <a:sym typeface="Avenir"/>
            </a:endParaRPr>
          </a:p>
        </p:txBody>
      </p:sp>
      <p:sp>
        <p:nvSpPr>
          <p:cNvPr id="234" name="Google Shape;234;p34"/>
          <p:cNvSpPr/>
          <p:nvPr/>
        </p:nvSpPr>
        <p:spPr>
          <a:xfrm>
            <a:off x="4405000" y="1002875"/>
            <a:ext cx="3182400" cy="37035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5" name="Google Shape;235;p34"/>
          <p:cNvPicPr preferRelativeResize="0"/>
          <p:nvPr/>
        </p:nvPicPr>
        <p:blipFill rotWithShape="1">
          <a:blip r:embed="rId3">
            <a:alphaModFix/>
          </a:blip>
          <a:srcRect b="46587" l="0" r="69103" t="0"/>
          <a:stretch/>
        </p:blipFill>
        <p:spPr>
          <a:xfrm>
            <a:off x="7305550" y="3426125"/>
            <a:ext cx="1638300" cy="1714500"/>
          </a:xfrm>
          <a:prstGeom prst="rect">
            <a:avLst/>
          </a:prstGeom>
          <a:noFill/>
          <a:ln>
            <a:noFill/>
          </a:ln>
        </p:spPr>
      </p:pic>
      <p:pic>
        <p:nvPicPr>
          <p:cNvPr id="236" name="Google Shape;236;p34"/>
          <p:cNvPicPr preferRelativeResize="0"/>
          <p:nvPr/>
        </p:nvPicPr>
        <p:blipFill rotWithShape="1">
          <a:blip r:embed="rId3">
            <a:alphaModFix/>
          </a:blip>
          <a:srcRect b="46587" l="34136" r="34136" t="0"/>
          <a:stretch/>
        </p:blipFill>
        <p:spPr>
          <a:xfrm>
            <a:off x="7281725" y="1717375"/>
            <a:ext cx="1685925" cy="1714500"/>
          </a:xfrm>
          <a:prstGeom prst="rect">
            <a:avLst/>
          </a:prstGeom>
          <a:noFill/>
          <a:ln>
            <a:noFill/>
          </a:ln>
        </p:spPr>
      </p:pic>
      <p:pic>
        <p:nvPicPr>
          <p:cNvPr id="237" name="Google Shape;237;p34"/>
          <p:cNvPicPr preferRelativeResize="0"/>
          <p:nvPr/>
        </p:nvPicPr>
        <p:blipFill rotWithShape="1">
          <a:blip r:embed="rId3">
            <a:alphaModFix/>
          </a:blip>
          <a:srcRect b="46587" l="68272" r="0" t="0"/>
          <a:stretch/>
        </p:blipFill>
        <p:spPr>
          <a:xfrm>
            <a:off x="7281738" y="2875"/>
            <a:ext cx="1685925" cy="1714500"/>
          </a:xfrm>
          <a:prstGeom prst="rect">
            <a:avLst/>
          </a:prstGeom>
          <a:noFill/>
          <a:ln>
            <a:noFill/>
          </a:ln>
        </p:spPr>
      </p:pic>
      <p:sp>
        <p:nvSpPr>
          <p:cNvPr id="238" name="Google Shape;238;p34"/>
          <p:cNvSpPr txBox="1"/>
          <p:nvPr/>
        </p:nvSpPr>
        <p:spPr>
          <a:xfrm>
            <a:off x="5177050" y="33202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38761D"/>
                </a:solidFill>
                <a:latin typeface="Avenir"/>
                <a:ea typeface="Avenir"/>
                <a:cs typeface="Avenir"/>
                <a:sym typeface="Avenir"/>
              </a:rPr>
              <a:t>Reason</a:t>
            </a:r>
            <a:endParaRPr b="1" sz="2800">
              <a:solidFill>
                <a:srgbClr val="38761D"/>
              </a:solidFill>
              <a:latin typeface="Avenir"/>
              <a:ea typeface="Avenir"/>
              <a:cs typeface="Avenir"/>
              <a:sym typeface="Avenir"/>
            </a:endParaRPr>
          </a:p>
        </p:txBody>
      </p:sp>
      <p:sp>
        <p:nvSpPr>
          <p:cNvPr id="239" name="Google Shape;239;p34"/>
          <p:cNvSpPr txBox="1"/>
          <p:nvPr/>
        </p:nvSpPr>
        <p:spPr>
          <a:xfrm>
            <a:off x="5177050" y="214935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073763"/>
                </a:solidFill>
                <a:latin typeface="Avenir"/>
                <a:ea typeface="Avenir"/>
                <a:cs typeface="Avenir"/>
                <a:sym typeface="Avenir"/>
              </a:rPr>
              <a:t>Relate</a:t>
            </a:r>
            <a:endParaRPr b="1" sz="2800">
              <a:solidFill>
                <a:srgbClr val="073763"/>
              </a:solidFill>
              <a:latin typeface="Avenir"/>
              <a:ea typeface="Avenir"/>
              <a:cs typeface="Avenir"/>
              <a:sym typeface="Avenir"/>
            </a:endParaRPr>
          </a:p>
        </p:txBody>
      </p:sp>
      <p:sp>
        <p:nvSpPr>
          <p:cNvPr id="240" name="Google Shape;240;p34"/>
          <p:cNvSpPr txBox="1"/>
          <p:nvPr/>
        </p:nvSpPr>
        <p:spPr>
          <a:xfrm>
            <a:off x="5177050" y="386097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C0000"/>
                </a:solidFill>
                <a:latin typeface="Avenir"/>
                <a:ea typeface="Avenir"/>
                <a:cs typeface="Avenir"/>
                <a:sym typeface="Avenir"/>
              </a:rPr>
              <a:t>Regulate</a:t>
            </a:r>
            <a:endParaRPr b="1" sz="2800">
              <a:solidFill>
                <a:srgbClr val="CC0000"/>
              </a:solidFill>
              <a:latin typeface="Avenir"/>
              <a:ea typeface="Avenir"/>
              <a:cs typeface="Avenir"/>
              <a:sym typeface="Aveni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35"/>
          <p:cNvSpPr/>
          <p:nvPr/>
        </p:nvSpPr>
        <p:spPr>
          <a:xfrm>
            <a:off x="4572000" y="1005750"/>
            <a:ext cx="3182400" cy="3703500"/>
          </a:xfrm>
          <a:prstGeom prst="upArrow">
            <a:avLst>
              <a:gd fmla="val 50000" name="adj1"/>
              <a:gd fmla="val 50000" name="adj2"/>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35"/>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Classroom Strategies</a:t>
            </a:r>
            <a:endParaRPr sz="3000">
              <a:solidFill>
                <a:srgbClr val="00A1CC"/>
              </a:solidFill>
              <a:latin typeface="Avenir"/>
              <a:ea typeface="Avenir"/>
              <a:cs typeface="Avenir"/>
              <a:sym typeface="Avenir"/>
            </a:endParaRPr>
          </a:p>
        </p:txBody>
      </p:sp>
      <p:sp>
        <p:nvSpPr>
          <p:cNvPr id="247" name="Google Shape;247;p35"/>
          <p:cNvSpPr txBox="1"/>
          <p:nvPr/>
        </p:nvSpPr>
        <p:spPr>
          <a:xfrm>
            <a:off x="5344050" y="33490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D9EAD3"/>
                </a:solidFill>
                <a:latin typeface="Avenir"/>
                <a:ea typeface="Avenir"/>
                <a:cs typeface="Avenir"/>
                <a:sym typeface="Avenir"/>
              </a:rPr>
              <a:t>Reason</a:t>
            </a:r>
            <a:endParaRPr b="1" sz="2800">
              <a:solidFill>
                <a:srgbClr val="D9EAD3"/>
              </a:solidFill>
              <a:latin typeface="Avenir"/>
              <a:ea typeface="Avenir"/>
              <a:cs typeface="Avenir"/>
              <a:sym typeface="Avenir"/>
            </a:endParaRPr>
          </a:p>
        </p:txBody>
      </p:sp>
      <p:sp>
        <p:nvSpPr>
          <p:cNvPr id="248" name="Google Shape;248;p35"/>
          <p:cNvSpPr txBox="1"/>
          <p:nvPr/>
        </p:nvSpPr>
        <p:spPr>
          <a:xfrm>
            <a:off x="5344050" y="215222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FE2F3"/>
                </a:solidFill>
                <a:latin typeface="Avenir"/>
                <a:ea typeface="Avenir"/>
                <a:cs typeface="Avenir"/>
                <a:sym typeface="Avenir"/>
              </a:rPr>
              <a:t>Relate</a:t>
            </a:r>
            <a:endParaRPr b="1" sz="2800">
              <a:solidFill>
                <a:srgbClr val="CFE2F3"/>
              </a:solidFill>
              <a:latin typeface="Avenir"/>
              <a:ea typeface="Avenir"/>
              <a:cs typeface="Avenir"/>
              <a:sym typeface="Avenir"/>
            </a:endParaRPr>
          </a:p>
        </p:txBody>
      </p:sp>
      <p:sp>
        <p:nvSpPr>
          <p:cNvPr id="249" name="Google Shape;249;p35"/>
          <p:cNvSpPr txBox="1"/>
          <p:nvPr/>
        </p:nvSpPr>
        <p:spPr>
          <a:xfrm>
            <a:off x="5344050" y="386385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C0000"/>
                </a:solidFill>
                <a:latin typeface="Avenir"/>
                <a:ea typeface="Avenir"/>
                <a:cs typeface="Avenir"/>
                <a:sym typeface="Avenir"/>
              </a:rPr>
              <a:t>Regulate</a:t>
            </a:r>
            <a:endParaRPr b="1" sz="2800">
              <a:solidFill>
                <a:srgbClr val="CC0000"/>
              </a:solidFill>
              <a:latin typeface="Avenir"/>
              <a:ea typeface="Avenir"/>
              <a:cs typeface="Avenir"/>
              <a:sym typeface="Avenir"/>
            </a:endParaRPr>
          </a:p>
        </p:txBody>
      </p:sp>
      <p:pic>
        <p:nvPicPr>
          <p:cNvPr id="250" name="Google Shape;250;p35"/>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251" name="Google Shape;251;p35"/>
          <p:cNvPicPr preferRelativeResize="0"/>
          <p:nvPr/>
        </p:nvPicPr>
        <p:blipFill rotWithShape="1">
          <a:blip r:embed="rId3">
            <a:alphaModFix amt="25000"/>
          </a:blip>
          <a:srcRect b="46587" l="34136" r="34136" t="0"/>
          <a:stretch/>
        </p:blipFill>
        <p:spPr>
          <a:xfrm>
            <a:off x="7259275" y="1717375"/>
            <a:ext cx="1685925" cy="1714500"/>
          </a:xfrm>
          <a:prstGeom prst="rect">
            <a:avLst/>
          </a:prstGeom>
          <a:noFill/>
          <a:ln>
            <a:noFill/>
          </a:ln>
        </p:spPr>
      </p:pic>
      <p:pic>
        <p:nvPicPr>
          <p:cNvPr id="252" name="Google Shape;252;p35"/>
          <p:cNvPicPr preferRelativeResize="0"/>
          <p:nvPr/>
        </p:nvPicPr>
        <p:blipFill rotWithShape="1">
          <a:blip r:embed="rId3">
            <a:alphaModFix amt="25000"/>
          </a:blip>
          <a:srcRect b="46587" l="68272" r="0" t="0"/>
          <a:stretch/>
        </p:blipFill>
        <p:spPr>
          <a:xfrm>
            <a:off x="7259288" y="2875"/>
            <a:ext cx="1685925" cy="1714500"/>
          </a:xfrm>
          <a:prstGeom prst="rect">
            <a:avLst/>
          </a:prstGeom>
          <a:noFill/>
          <a:ln>
            <a:noFill/>
          </a:ln>
        </p:spPr>
      </p:pic>
      <p:sp>
        <p:nvSpPr>
          <p:cNvPr id="253" name="Google Shape;253;p35"/>
          <p:cNvSpPr txBox="1"/>
          <p:nvPr>
            <p:ph idx="1" type="subTitle"/>
          </p:nvPr>
        </p:nvSpPr>
        <p:spPr>
          <a:xfrm>
            <a:off x="1928225" y="1390400"/>
            <a:ext cx="2865300" cy="3318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900">
                <a:solidFill>
                  <a:srgbClr val="A61C00"/>
                </a:solidFill>
                <a:latin typeface="Avenir"/>
                <a:ea typeface="Avenir"/>
                <a:cs typeface="Avenir"/>
                <a:sym typeface="Avenir"/>
              </a:rPr>
              <a:t>Predictable routines</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GB" sz="1900">
                <a:solidFill>
                  <a:srgbClr val="A61C00"/>
                </a:solidFill>
                <a:latin typeface="Avenir"/>
                <a:ea typeface="Avenir"/>
                <a:cs typeface="Avenir"/>
                <a:sym typeface="Avenir"/>
              </a:rPr>
              <a:t>Countdown timers</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Minimise noise</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Crouch beside</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Natural curiosity</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Validate feelings</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GB" sz="1900">
                <a:solidFill>
                  <a:srgbClr val="A61C00"/>
                </a:solidFill>
                <a:latin typeface="Avenir"/>
                <a:ea typeface="Avenir"/>
                <a:cs typeface="Avenir"/>
                <a:sym typeface="Avenir"/>
              </a:rPr>
              <a:t>Problem-solve together</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GB" sz="1900">
                <a:solidFill>
                  <a:srgbClr val="A61C00"/>
                </a:solidFill>
                <a:latin typeface="Avenir"/>
                <a:ea typeface="Avenir"/>
                <a:cs typeface="Avenir"/>
                <a:sym typeface="Avenir"/>
              </a:rPr>
              <a:t>Paper clips &amp; blu-tack!</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Time out &amp; c</a:t>
            </a:r>
            <a:r>
              <a:rPr lang="en-GB" sz="1900">
                <a:solidFill>
                  <a:srgbClr val="A61C00"/>
                </a:solidFill>
                <a:latin typeface="Avenir"/>
                <a:ea typeface="Avenir"/>
                <a:cs typeface="Avenir"/>
                <a:sym typeface="Avenir"/>
              </a:rPr>
              <a:t>heck-in</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Box breathing (4,4,4,4)</a:t>
            </a:r>
            <a:endParaRPr sz="1900">
              <a:solidFill>
                <a:srgbClr val="A61C00"/>
              </a:solidFill>
              <a:latin typeface="Avenir"/>
              <a:ea typeface="Avenir"/>
              <a:cs typeface="Avenir"/>
              <a:sym typeface="Avenir"/>
            </a:endParaRPr>
          </a:p>
        </p:txBody>
      </p:sp>
      <p:sp>
        <p:nvSpPr>
          <p:cNvPr id="254" name="Google Shape;254;p35"/>
          <p:cNvSpPr/>
          <p:nvPr/>
        </p:nvSpPr>
        <p:spPr>
          <a:xfrm flipH="1">
            <a:off x="624825" y="1390400"/>
            <a:ext cx="1162500" cy="3318900"/>
          </a:xfrm>
          <a:prstGeom prst="rtTriangle">
            <a:avLst/>
          </a:prstGeom>
          <a:gradFill>
            <a:gsLst>
              <a:gs pos="0">
                <a:srgbClr val="F5D0D0"/>
              </a:gs>
              <a:gs pos="100000">
                <a:srgbClr val="D96868"/>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8" name="Shape 258"/>
        <p:cNvGrpSpPr/>
        <p:nvPr/>
      </p:nvGrpSpPr>
      <p:grpSpPr>
        <a:xfrm>
          <a:off x="0" y="0"/>
          <a:ext cx="0" cy="0"/>
          <a:chOff x="0" y="0"/>
          <a:chExt cx="0" cy="0"/>
        </a:xfrm>
      </p:grpSpPr>
      <p:sp>
        <p:nvSpPr>
          <p:cNvPr id="259" name="Google Shape;259;p36"/>
          <p:cNvSpPr/>
          <p:nvPr/>
        </p:nvSpPr>
        <p:spPr>
          <a:xfrm>
            <a:off x="4572000" y="1005750"/>
            <a:ext cx="3182400" cy="3703500"/>
          </a:xfrm>
          <a:prstGeom prst="upArrow">
            <a:avLst>
              <a:gd fmla="val 50000" name="adj1"/>
              <a:gd fmla="val 50000" name="adj2"/>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36"/>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Strategies</a:t>
            </a:r>
            <a:r>
              <a:rPr lang="en-GB" sz="3000">
                <a:solidFill>
                  <a:srgbClr val="00A1CC"/>
                </a:solidFill>
                <a:latin typeface="Avenir"/>
                <a:ea typeface="Avenir"/>
                <a:cs typeface="Avenir"/>
                <a:sym typeface="Avenir"/>
              </a:rPr>
              <a:t> Around School</a:t>
            </a:r>
            <a:endParaRPr sz="3000">
              <a:solidFill>
                <a:srgbClr val="00A1CC"/>
              </a:solidFill>
              <a:latin typeface="Avenir"/>
              <a:ea typeface="Avenir"/>
              <a:cs typeface="Avenir"/>
              <a:sym typeface="Avenir"/>
            </a:endParaRPr>
          </a:p>
        </p:txBody>
      </p:sp>
      <p:sp>
        <p:nvSpPr>
          <p:cNvPr id="261" name="Google Shape;261;p36"/>
          <p:cNvSpPr txBox="1"/>
          <p:nvPr/>
        </p:nvSpPr>
        <p:spPr>
          <a:xfrm>
            <a:off x="5344050" y="33490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D9EAD3"/>
                </a:solidFill>
                <a:latin typeface="Avenir"/>
                <a:ea typeface="Avenir"/>
                <a:cs typeface="Avenir"/>
                <a:sym typeface="Avenir"/>
              </a:rPr>
              <a:t>Reason</a:t>
            </a:r>
            <a:endParaRPr b="1" sz="2800">
              <a:solidFill>
                <a:srgbClr val="D9EAD3"/>
              </a:solidFill>
              <a:latin typeface="Avenir"/>
              <a:ea typeface="Avenir"/>
              <a:cs typeface="Avenir"/>
              <a:sym typeface="Avenir"/>
            </a:endParaRPr>
          </a:p>
        </p:txBody>
      </p:sp>
      <p:sp>
        <p:nvSpPr>
          <p:cNvPr id="262" name="Google Shape;262;p36"/>
          <p:cNvSpPr txBox="1"/>
          <p:nvPr/>
        </p:nvSpPr>
        <p:spPr>
          <a:xfrm>
            <a:off x="5344050" y="2152225"/>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FE2F3"/>
                </a:solidFill>
                <a:latin typeface="Avenir"/>
                <a:ea typeface="Avenir"/>
                <a:cs typeface="Avenir"/>
                <a:sym typeface="Avenir"/>
              </a:rPr>
              <a:t>Relate</a:t>
            </a:r>
            <a:endParaRPr b="1" sz="2800">
              <a:solidFill>
                <a:srgbClr val="CFE2F3"/>
              </a:solidFill>
              <a:latin typeface="Avenir"/>
              <a:ea typeface="Avenir"/>
              <a:cs typeface="Avenir"/>
              <a:sym typeface="Avenir"/>
            </a:endParaRPr>
          </a:p>
        </p:txBody>
      </p:sp>
      <p:sp>
        <p:nvSpPr>
          <p:cNvPr id="263" name="Google Shape;263;p36"/>
          <p:cNvSpPr txBox="1"/>
          <p:nvPr/>
        </p:nvSpPr>
        <p:spPr>
          <a:xfrm>
            <a:off x="5344050" y="3863850"/>
            <a:ext cx="1638300" cy="8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2800">
                <a:solidFill>
                  <a:srgbClr val="CC0000"/>
                </a:solidFill>
                <a:latin typeface="Avenir"/>
                <a:ea typeface="Avenir"/>
                <a:cs typeface="Avenir"/>
                <a:sym typeface="Avenir"/>
              </a:rPr>
              <a:t>Regulate</a:t>
            </a:r>
            <a:endParaRPr b="1" sz="2800">
              <a:solidFill>
                <a:srgbClr val="CC0000"/>
              </a:solidFill>
              <a:latin typeface="Avenir"/>
              <a:ea typeface="Avenir"/>
              <a:cs typeface="Avenir"/>
              <a:sym typeface="Avenir"/>
            </a:endParaRPr>
          </a:p>
        </p:txBody>
      </p:sp>
      <p:pic>
        <p:nvPicPr>
          <p:cNvPr id="264" name="Google Shape;264;p36"/>
          <p:cNvPicPr preferRelativeResize="0"/>
          <p:nvPr/>
        </p:nvPicPr>
        <p:blipFill rotWithShape="1">
          <a:blip r:embed="rId3">
            <a:alphaModFix/>
          </a:blip>
          <a:srcRect b="46587" l="0" r="69103" t="0"/>
          <a:stretch/>
        </p:blipFill>
        <p:spPr>
          <a:xfrm>
            <a:off x="7283100" y="3426125"/>
            <a:ext cx="1638300" cy="1714500"/>
          </a:xfrm>
          <a:prstGeom prst="rect">
            <a:avLst/>
          </a:prstGeom>
          <a:noFill/>
          <a:ln>
            <a:noFill/>
          </a:ln>
        </p:spPr>
      </p:pic>
      <p:pic>
        <p:nvPicPr>
          <p:cNvPr id="265" name="Google Shape;265;p36"/>
          <p:cNvPicPr preferRelativeResize="0"/>
          <p:nvPr/>
        </p:nvPicPr>
        <p:blipFill rotWithShape="1">
          <a:blip r:embed="rId3">
            <a:alphaModFix amt="25000"/>
          </a:blip>
          <a:srcRect b="46587" l="34136" r="34136" t="0"/>
          <a:stretch/>
        </p:blipFill>
        <p:spPr>
          <a:xfrm>
            <a:off x="7259275" y="1717375"/>
            <a:ext cx="1685925" cy="1714500"/>
          </a:xfrm>
          <a:prstGeom prst="rect">
            <a:avLst/>
          </a:prstGeom>
          <a:noFill/>
          <a:ln>
            <a:noFill/>
          </a:ln>
        </p:spPr>
      </p:pic>
      <p:pic>
        <p:nvPicPr>
          <p:cNvPr id="266" name="Google Shape;266;p36"/>
          <p:cNvPicPr preferRelativeResize="0"/>
          <p:nvPr/>
        </p:nvPicPr>
        <p:blipFill rotWithShape="1">
          <a:blip r:embed="rId3">
            <a:alphaModFix amt="25000"/>
          </a:blip>
          <a:srcRect b="46587" l="68272" r="0" t="0"/>
          <a:stretch/>
        </p:blipFill>
        <p:spPr>
          <a:xfrm>
            <a:off x="7259288" y="2875"/>
            <a:ext cx="1685925" cy="1714500"/>
          </a:xfrm>
          <a:prstGeom prst="rect">
            <a:avLst/>
          </a:prstGeom>
          <a:noFill/>
          <a:ln>
            <a:noFill/>
          </a:ln>
        </p:spPr>
      </p:pic>
      <p:sp>
        <p:nvSpPr>
          <p:cNvPr id="267" name="Google Shape;267;p36"/>
          <p:cNvSpPr txBox="1"/>
          <p:nvPr>
            <p:ph idx="1" type="subTitle"/>
          </p:nvPr>
        </p:nvSpPr>
        <p:spPr>
          <a:xfrm>
            <a:off x="1928225" y="1390400"/>
            <a:ext cx="2865300" cy="3318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Relatable approach</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Calm voice</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Stand beside</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Let’s walk</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Natural curiosity</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Validate feelings</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Trusted adult check-in</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Problem-solve together</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GB" sz="1900">
                <a:solidFill>
                  <a:srgbClr val="A61C00"/>
                </a:solidFill>
                <a:latin typeface="Avenir"/>
                <a:ea typeface="Avenir"/>
                <a:cs typeface="Avenir"/>
                <a:sym typeface="Avenir"/>
              </a:rPr>
              <a:t>Allow an exit route</a:t>
            </a:r>
            <a:endParaRPr sz="19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GB" sz="1900">
                <a:solidFill>
                  <a:srgbClr val="A61C00"/>
                </a:solidFill>
                <a:latin typeface="Avenir"/>
                <a:ea typeface="Avenir"/>
                <a:cs typeface="Avenir"/>
                <a:sym typeface="Avenir"/>
              </a:rPr>
              <a:t>Box breathing (4,4,4,4)</a:t>
            </a:r>
            <a:endParaRPr sz="1900">
              <a:solidFill>
                <a:srgbClr val="A61C00"/>
              </a:solidFill>
              <a:latin typeface="Avenir"/>
              <a:ea typeface="Avenir"/>
              <a:cs typeface="Avenir"/>
              <a:sym typeface="Avenir"/>
            </a:endParaRPr>
          </a:p>
        </p:txBody>
      </p:sp>
      <p:sp>
        <p:nvSpPr>
          <p:cNvPr id="268" name="Google Shape;268;p36"/>
          <p:cNvSpPr/>
          <p:nvPr/>
        </p:nvSpPr>
        <p:spPr>
          <a:xfrm flipH="1">
            <a:off x="624825" y="1390400"/>
            <a:ext cx="1162500" cy="3318900"/>
          </a:xfrm>
          <a:prstGeom prst="rtTriangle">
            <a:avLst/>
          </a:prstGeom>
          <a:gradFill>
            <a:gsLst>
              <a:gs pos="0">
                <a:srgbClr val="F5D0D0"/>
              </a:gs>
              <a:gs pos="100000">
                <a:srgbClr val="D96868"/>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37"/>
          <p:cNvSpPr txBox="1"/>
          <p:nvPr>
            <p:ph idx="1" type="subTitle"/>
          </p:nvPr>
        </p:nvSpPr>
        <p:spPr>
          <a:xfrm>
            <a:off x="497700" y="1301900"/>
            <a:ext cx="8148600" cy="3301500"/>
          </a:xfrm>
          <a:prstGeom prst="rect">
            <a:avLst/>
          </a:prstGeom>
        </p:spPr>
        <p:txBody>
          <a:bodyPr anchorCtr="0" anchor="ctr" bIns="91425" lIns="91425" spcFirstLastPara="1" rIns="91425" wrap="square" tIns="91425">
            <a:spAutoFit/>
          </a:bodyPr>
          <a:lstStyle/>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Outline neuroscience of brain development</a:t>
            </a:r>
            <a:endParaRPr sz="3000">
              <a:solidFill>
                <a:srgbClr val="666666"/>
              </a:solidFill>
              <a:latin typeface="Avenir"/>
              <a:ea typeface="Avenir"/>
              <a:cs typeface="Avenir"/>
              <a:sym typeface="Avenir"/>
            </a:endParaRPr>
          </a:p>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Explore reactions to threat and hostility</a:t>
            </a:r>
            <a:endParaRPr sz="3000">
              <a:solidFill>
                <a:srgbClr val="666666"/>
              </a:solidFill>
              <a:latin typeface="Avenir"/>
              <a:ea typeface="Avenir"/>
              <a:cs typeface="Avenir"/>
              <a:sym typeface="Avenir"/>
            </a:endParaRPr>
          </a:p>
          <a:p>
            <a:pPr indent="-419100" lvl="0" marL="457200" rtl="0" algn="l">
              <a:lnSpc>
                <a:spcPct val="115000"/>
              </a:lnSpc>
              <a:spcBef>
                <a:spcPts val="0"/>
              </a:spcBef>
              <a:spcAft>
                <a:spcPts val="0"/>
              </a:spcAft>
              <a:buClr>
                <a:srgbClr val="666666"/>
              </a:buClr>
              <a:buSzPts val="3000"/>
              <a:buFont typeface="Avenir"/>
              <a:buAutoNum type="arabicPeriod"/>
            </a:pPr>
            <a:r>
              <a:rPr lang="en-GB" sz="3000">
                <a:solidFill>
                  <a:srgbClr val="666666"/>
                </a:solidFill>
                <a:latin typeface="Avenir"/>
                <a:ea typeface="Avenir"/>
                <a:cs typeface="Avenir"/>
                <a:sym typeface="Avenir"/>
              </a:rPr>
              <a:t>Link to emotion coaching session next week</a:t>
            </a:r>
            <a:endParaRPr sz="3000">
              <a:solidFill>
                <a:srgbClr val="666666"/>
              </a:solidFill>
              <a:latin typeface="Avenir"/>
              <a:ea typeface="Avenir"/>
              <a:cs typeface="Avenir"/>
              <a:sym typeface="Avenir"/>
            </a:endParaRPr>
          </a:p>
          <a:p>
            <a:pPr indent="0" lvl="0" marL="457200" rtl="0" algn="l">
              <a:lnSpc>
                <a:spcPct val="115000"/>
              </a:lnSpc>
              <a:spcBef>
                <a:spcPts val="0"/>
              </a:spcBef>
              <a:spcAft>
                <a:spcPts val="0"/>
              </a:spcAft>
              <a:buNone/>
            </a:pPr>
            <a:r>
              <a:t/>
            </a:r>
            <a:endParaRPr sz="30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3000">
                <a:solidFill>
                  <a:srgbClr val="666666"/>
                </a:solidFill>
                <a:latin typeface="Avenir"/>
                <a:ea typeface="Avenir"/>
                <a:cs typeface="Avenir"/>
                <a:sym typeface="Avenir"/>
              </a:rPr>
              <a:t>Reflection…</a:t>
            </a:r>
            <a:endParaRPr sz="3000">
              <a:solidFill>
                <a:srgbClr val="666666"/>
              </a:solidFill>
              <a:latin typeface="Avenir"/>
              <a:ea typeface="Avenir"/>
              <a:cs typeface="Avenir"/>
              <a:sym typeface="Avenir"/>
            </a:endParaRPr>
          </a:p>
          <a:p>
            <a:pPr indent="0" lvl="0" marL="0" rtl="0" algn="l">
              <a:lnSpc>
                <a:spcPct val="115000"/>
              </a:lnSpc>
              <a:spcBef>
                <a:spcPts val="0"/>
              </a:spcBef>
              <a:spcAft>
                <a:spcPts val="0"/>
              </a:spcAft>
              <a:buNone/>
            </a:pPr>
            <a:r>
              <a:rPr lang="en-GB" sz="3000">
                <a:solidFill>
                  <a:srgbClr val="666666"/>
                </a:solidFill>
                <a:latin typeface="Avenir"/>
                <a:ea typeface="Avenir"/>
                <a:cs typeface="Avenir"/>
                <a:sym typeface="Avenir"/>
              </a:rPr>
              <a:t>What pushes </a:t>
            </a:r>
            <a:r>
              <a:rPr i="1" lang="en-GB" sz="3000">
                <a:solidFill>
                  <a:srgbClr val="666666"/>
                </a:solidFill>
                <a:latin typeface="Avenir"/>
                <a:ea typeface="Avenir"/>
                <a:cs typeface="Avenir"/>
                <a:sym typeface="Avenir"/>
              </a:rPr>
              <a:t>your</a:t>
            </a:r>
            <a:r>
              <a:rPr lang="en-GB" sz="3000">
                <a:solidFill>
                  <a:srgbClr val="666666"/>
                </a:solidFill>
                <a:latin typeface="Avenir"/>
                <a:ea typeface="Avenir"/>
                <a:cs typeface="Avenir"/>
                <a:sym typeface="Avenir"/>
              </a:rPr>
              <a:t> buttons and </a:t>
            </a:r>
            <a:r>
              <a:rPr i="1" lang="en-GB" sz="3000">
                <a:solidFill>
                  <a:srgbClr val="666666"/>
                </a:solidFill>
                <a:latin typeface="Avenir"/>
                <a:ea typeface="Avenir"/>
                <a:cs typeface="Avenir"/>
                <a:sym typeface="Avenir"/>
              </a:rPr>
              <a:t>why?</a:t>
            </a:r>
            <a:endParaRPr i="1" sz="3000">
              <a:solidFill>
                <a:srgbClr val="666666"/>
              </a:solidFill>
              <a:latin typeface="Avenir"/>
              <a:ea typeface="Avenir"/>
              <a:cs typeface="Avenir"/>
              <a:sym typeface="Avenir"/>
            </a:endParaRPr>
          </a:p>
        </p:txBody>
      </p:sp>
      <p:sp>
        <p:nvSpPr>
          <p:cNvPr id="274" name="Google Shape;274;p37"/>
          <p:cNvSpPr txBox="1"/>
          <p:nvPr>
            <p:ph idx="1" type="subTitle"/>
          </p:nvPr>
        </p:nvSpPr>
        <p:spPr>
          <a:xfrm>
            <a:off x="238475" y="135150"/>
            <a:ext cx="7765800" cy="6465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GB" sz="3000">
                <a:solidFill>
                  <a:srgbClr val="00A1CC"/>
                </a:solidFill>
                <a:latin typeface="Avenir"/>
                <a:ea typeface="Avenir"/>
                <a:cs typeface="Avenir"/>
                <a:sym typeface="Avenir"/>
              </a:rPr>
              <a:t>Objectives</a:t>
            </a:r>
            <a:endParaRPr sz="3000">
              <a:solidFill>
                <a:srgbClr val="00A1CC"/>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38"/>
          <p:cNvSpPr txBox="1"/>
          <p:nvPr>
            <p:ph type="ctrTitle"/>
          </p:nvPr>
        </p:nvSpPr>
        <p:spPr>
          <a:xfrm>
            <a:off x="728375" y="1349675"/>
            <a:ext cx="7765800" cy="1413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00A1CC"/>
                </a:solidFill>
                <a:latin typeface="Avenir"/>
                <a:ea typeface="Avenir"/>
                <a:cs typeface="Avenir"/>
                <a:sym typeface="Avenir"/>
              </a:rPr>
              <a:t>Neuroscience in the Classroom</a:t>
            </a:r>
            <a:endParaRPr>
              <a:solidFill>
                <a:srgbClr val="00A1CC"/>
              </a:solidFill>
              <a:latin typeface="Avenir"/>
              <a:ea typeface="Avenir"/>
              <a:cs typeface="Avenir"/>
              <a:sym typeface="Avenir"/>
            </a:endParaRPr>
          </a:p>
        </p:txBody>
      </p:sp>
      <p:sp>
        <p:nvSpPr>
          <p:cNvPr id="280" name="Google Shape;280;p38"/>
          <p:cNvSpPr txBox="1"/>
          <p:nvPr>
            <p:ph idx="1" type="subTitle"/>
          </p:nvPr>
        </p:nvSpPr>
        <p:spPr>
          <a:xfrm>
            <a:off x="689100" y="3173700"/>
            <a:ext cx="7765800" cy="105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rgbClr val="666666"/>
                </a:solidFill>
                <a:latin typeface="Avenir"/>
                <a:ea typeface="Avenir"/>
                <a:cs typeface="Avenir"/>
                <a:sym typeface="Avenir"/>
              </a:rPr>
              <a:t>Dan Conley</a:t>
            </a:r>
            <a:endParaRPr>
              <a:solidFill>
                <a:srgbClr val="666666"/>
              </a:solidFill>
              <a:latin typeface="Avenir"/>
              <a:ea typeface="Avenir"/>
              <a:cs typeface="Avenir"/>
              <a:sym typeface="Avenir"/>
            </a:endParaRPr>
          </a:p>
          <a:p>
            <a:pPr indent="0" lvl="0" marL="0" rtl="0" algn="l">
              <a:spcBef>
                <a:spcPts val="0"/>
              </a:spcBef>
              <a:spcAft>
                <a:spcPts val="0"/>
              </a:spcAft>
              <a:buNone/>
            </a:pPr>
            <a:r>
              <a:rPr lang="en-GB">
                <a:solidFill>
                  <a:srgbClr val="666666"/>
                </a:solidFill>
                <a:latin typeface="Avenir"/>
                <a:ea typeface="Avenir"/>
                <a:cs typeface="Avenir"/>
                <a:sym typeface="Avenir"/>
              </a:rPr>
              <a:t>Director of In-School AP</a:t>
            </a:r>
            <a:endParaRPr>
              <a:solidFill>
                <a:srgbClr val="666666"/>
              </a:solidFill>
              <a:latin typeface="Avenir"/>
              <a:ea typeface="Avenir"/>
              <a:cs typeface="Avenir"/>
              <a:sym typeface="Avenir"/>
            </a:endParaRPr>
          </a:p>
          <a:p>
            <a:pPr indent="0" lvl="0" marL="0" rtl="0" algn="l">
              <a:spcBef>
                <a:spcPts val="0"/>
              </a:spcBef>
              <a:spcAft>
                <a:spcPts val="0"/>
              </a:spcAft>
              <a:buNone/>
            </a:pPr>
            <a:r>
              <a:rPr lang="en-GB" sz="1000" u="sng">
                <a:solidFill>
                  <a:schemeClr val="hlink"/>
                </a:solidFill>
                <a:latin typeface="Avenir"/>
                <a:ea typeface="Avenir"/>
                <a:cs typeface="Avenir"/>
                <a:sym typeface="Avenir"/>
                <a:hlinkClick r:id="rId3"/>
              </a:rPr>
              <a:t>daniel.conley@coopacademies.co.uk</a:t>
            </a:r>
            <a:r>
              <a:rPr lang="en-GB" sz="1000">
                <a:solidFill>
                  <a:srgbClr val="666666"/>
                </a:solidFill>
                <a:latin typeface="Avenir"/>
                <a:ea typeface="Avenir"/>
                <a:cs typeface="Avenir"/>
                <a:sym typeface="Avenir"/>
              </a:rPr>
              <a:t> </a:t>
            </a:r>
            <a:endParaRPr sz="1000">
              <a:solidFill>
                <a:srgbClr val="666666"/>
              </a:solidFill>
              <a:latin typeface="Avenir"/>
              <a:ea typeface="Avenir"/>
              <a:cs typeface="Avenir"/>
              <a:sym typeface="Avenir"/>
            </a:endParaRPr>
          </a:p>
        </p:txBody>
      </p:sp>
      <p:pic>
        <p:nvPicPr>
          <p:cNvPr id="281" name="Google Shape;281;p38"/>
          <p:cNvPicPr preferRelativeResize="0"/>
          <p:nvPr/>
        </p:nvPicPr>
        <p:blipFill>
          <a:blip r:embed="rId4">
            <a:alphaModFix/>
          </a:blip>
          <a:stretch>
            <a:fillRect/>
          </a:stretch>
        </p:blipFill>
        <p:spPr>
          <a:xfrm>
            <a:off x="6070650" y="3966227"/>
            <a:ext cx="2887951" cy="1238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