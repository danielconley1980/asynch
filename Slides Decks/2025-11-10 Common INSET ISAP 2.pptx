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77DC46-CB4A-46F4-B43A-A28A0F7C5701}">
  <a:tblStyle styleId="{EA77DC46-CB4A-46F4-B43A-A28A0F7C57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C37A9C0-C329-487C-BD63-1266B424E81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CenturyGothic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1ca51493e_0_0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1ca51493e_0_0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a1ca51493e_0_0:notes"/>
          <p:cNvSpPr txBox="1"/>
          <p:nvPr>
            <p:ph idx="12" type="sldNum"/>
          </p:nvPr>
        </p:nvSpPr>
        <p:spPr>
          <a:xfrm>
            <a:off x="3883850" y="8684836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27f7ea364_0_0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g3827f7ea364_0_0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c586fac6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c586fac6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2ead8fe1d95978c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2ead8fe1d95978c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27f7ea36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27f7ea36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c586fac6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c586fac6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985d6a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1985d6a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1ca51493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1ca51493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1ca51493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1ca51493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ead8fe1d95978c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2ead8fe1d95978c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6a33b6d2208a598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6a33b6d2208a598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1ca51493e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1ca51493e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1eadc4d2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1eadc4d2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1eadc4d2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1eadc4d2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8fb246a1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8fb246a1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27f7ea364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27f7ea36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3d7c2d4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3d7c2d4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3d7c2d47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3d7c2d47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1eadc4d2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1eadc4d2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604d4b19ffda9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1604d4b19ffda9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27f7ea364_0_107:notes"/>
          <p:cNvSpPr txBox="1"/>
          <p:nvPr>
            <p:ph idx="1" type="body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827f7ea364_0_107:notes"/>
          <p:cNvSpPr/>
          <p:nvPr>
            <p:ph idx="2" type="sldImg"/>
          </p:nvPr>
        </p:nvSpPr>
        <p:spPr>
          <a:xfrm>
            <a:off x="91290" y="685837"/>
            <a:ext cx="66756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">
  <p:cSld name="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3637" y="129863"/>
            <a:ext cx="657109" cy="6789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13"/>
          <p:cNvCxnSpPr/>
          <p:nvPr/>
        </p:nvCxnSpPr>
        <p:spPr>
          <a:xfrm>
            <a:off x="381662" y="195473"/>
            <a:ext cx="7758600" cy="13200"/>
          </a:xfrm>
          <a:prstGeom prst="straightConnector1">
            <a:avLst/>
          </a:prstGeom>
          <a:noFill/>
          <a:ln cap="flat" cmpd="sng" w="12700">
            <a:solidFill>
              <a:srgbClr val="FF5C1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81661" y="295256"/>
            <a:ext cx="77586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82727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282727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381661" y="1138238"/>
            <a:ext cx="8383800" cy="3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28272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8272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28272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8272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8272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85467" y="4821247"/>
            <a:ext cx="5925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Banner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0" y="0"/>
            <a:ext cx="9144000" cy="690300"/>
          </a:xfrm>
          <a:prstGeom prst="rect">
            <a:avLst/>
          </a:prstGeom>
          <a:solidFill>
            <a:srgbClr val="1F497D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venir"/>
              <a:buNone/>
              <a:defRPr sz="27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212175" y="1200150"/>
            <a:ext cx="87198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–"/>
              <a:defRPr>
                <a:latin typeface="Avenir"/>
                <a:ea typeface="Avenir"/>
                <a:cs typeface="Avenir"/>
                <a:sym typeface="Avenir"/>
              </a:defRPr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–"/>
              <a:defRPr>
                <a:latin typeface="Avenir"/>
                <a:ea typeface="Avenir"/>
                <a:cs typeface="Avenir"/>
                <a:sym typeface="Avenir"/>
              </a:defRPr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»"/>
              <a:defRPr>
                <a:latin typeface="Avenir"/>
                <a:ea typeface="Avenir"/>
                <a:cs typeface="Avenir"/>
                <a:sym typeface="Avenir"/>
              </a:defRPr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Char char="•"/>
              <a:defRPr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lding Slide 1">
  <p:cSld name="CUSTOM_3_4_1">
    <p:bg>
      <p:bgPr>
        <a:solidFill>
          <a:srgbClr val="40B9D9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5" title="CID Header (PDI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>
            <p:ph type="title"/>
          </p:nvPr>
        </p:nvSpPr>
        <p:spPr>
          <a:xfrm>
            <a:off x="0" y="2991300"/>
            <a:ext cx="9144000" cy="2152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venir"/>
              <a:buNone/>
              <a:defRPr b="1" sz="65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Avenir"/>
              <a:buNone/>
              <a:defRPr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hyperlink" Target="mailto:daniel.conley@coopacademies.co.uk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forms/d/14l0AXwVemDjmRxE6BeRPp4KdnGySeoPgAwEJkYbElyc/edit?usp=drivesdk" TargetMode="External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hyperlink" Target="https://www.aqa.org.uk/programmes/unit-award-scheme/unit-search" TargetMode="External"/><Relationship Id="rId5" Type="http://schemas.openxmlformats.org/officeDocument/2006/relationships/hyperlink" Target="http://www.youtube.com/watch?v=ofkVWnt6MtE" TargetMode="External"/><Relationship Id="rId6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document/d/1LPn1RwRUr1GCqTFXXMWvF_9yiNQB5aq0/edit?usp=sharing&amp;ouid=107827649408447735272&amp;rtpof=true&amp;sd=true" TargetMode="External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hyperlink" Target="mailto:daniel.conley@coopacademies.co.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0" y="2991300"/>
            <a:ext cx="9144000" cy="215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/>
              <a:t>ISAP Workshop</a:t>
            </a:r>
            <a:endParaRPr sz="5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7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73" name="Google Shape;73;p17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BC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7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BC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5" name="Google Shape;75;p17" title="Professional Development Institu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3387" y="154556"/>
            <a:ext cx="1082573" cy="5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43" y="154556"/>
            <a:ext cx="2169966" cy="5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>
            <p:ph idx="4294967295" type="ctrTitle"/>
          </p:nvPr>
        </p:nvSpPr>
        <p:spPr>
          <a:xfrm>
            <a:off x="748250" y="1053413"/>
            <a:ext cx="7791300" cy="141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ISAP Workshop</a:t>
            </a:r>
            <a:endParaRPr sz="45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8" name="Google Shape;78;p17"/>
          <p:cNvPicPr preferRelativeResize="0"/>
          <p:nvPr/>
        </p:nvPicPr>
        <p:blipFill rotWithShape="1">
          <a:blip r:embed="rId5">
            <a:alphaModFix/>
          </a:blip>
          <a:srcRect b="16852" l="17279" r="17272" t="17501"/>
          <a:stretch/>
        </p:blipFill>
        <p:spPr>
          <a:xfrm>
            <a:off x="560350" y="2775325"/>
            <a:ext cx="1990250" cy="19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4200300" y="3358350"/>
            <a:ext cx="45978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Dan Conley</a:t>
            </a:r>
            <a:endParaRPr sz="24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Director of In-School AP</a:t>
            </a:r>
            <a:endParaRPr sz="24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6"/>
              </a:rPr>
              <a:t>daniel.conley@coopacademies.co.uk</a:t>
            </a:r>
            <a:r>
              <a:rPr lang="en-GB" sz="2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  </a:t>
            </a:r>
            <a:endParaRPr sz="20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subTitle"/>
          </p:nvPr>
        </p:nvSpPr>
        <p:spPr>
          <a:xfrm>
            <a:off x="424995" y="1228690"/>
            <a:ext cx="8015700" cy="9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Adam Alagiah-Glomseth (Investment Director)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Georgia Brown (Investment Manager)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024" y="3919461"/>
            <a:ext cx="754399" cy="77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 rotWithShape="1">
          <a:blip r:embed="rId4">
            <a:alphaModFix/>
          </a:blip>
          <a:srcRect b="0" l="0" r="0" t="12526"/>
          <a:stretch/>
        </p:blipFill>
        <p:spPr>
          <a:xfrm>
            <a:off x="3137150" y="3657600"/>
            <a:ext cx="5480101" cy="1038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238475" y="22910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Impetus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38475" y="135150"/>
            <a:ext cx="7765800" cy="7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Current Challenges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430075" y="781650"/>
            <a:ext cx="8015700" cy="325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Write down your current top 3 challenges as an ISAP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Attendance Strategies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Academic Progress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SEMH Progress / Interventions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Suspensions / PEX outcomes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Reintegration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Aspirations / Careers / Post-16 Destinations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802950" y="3780600"/>
            <a:ext cx="1030225" cy="10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idx="1" type="subTitle"/>
          </p:nvPr>
        </p:nvSpPr>
        <p:spPr>
          <a:xfrm>
            <a:off x="238475" y="13515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Survey of Top 3 Challenges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100" name="Google Shape;100;p20"/>
          <p:cNvGraphicFramePr/>
          <p:nvPr/>
        </p:nvGraphicFramePr>
        <p:xfrm>
          <a:off x="339813" y="1019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{EA77DC46-CB4A-46F4-B43A-A28A0F7C5701}</a:tableStyleId>
              </a:tblPr>
              <a:tblGrid>
                <a:gridCol w="1405300"/>
                <a:gridCol w="1387325"/>
                <a:gridCol w="1242425"/>
                <a:gridCol w="1442200"/>
                <a:gridCol w="1279275"/>
                <a:gridCol w="1675300"/>
              </a:tblGrid>
              <a:tr h="79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Attendance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Academic Progress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SEMH Progress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Suspensions / PEX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Reintegration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Aspirations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D9D9D9"/>
                    </a:solidFill>
                  </a:tcPr>
                </a:tc>
              </a:tr>
              <a:tr h="835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1084450" y="1193500"/>
            <a:ext cx="5784300" cy="3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No more than one school per group!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Attendance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Academic Progress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SEMH Progress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Suspensions / Exclusions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Reintegration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Aspirations / Careers / </a:t>
            </a: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Post-16 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6" name="Google Shape;106;p21"/>
          <p:cNvSpPr txBox="1"/>
          <p:nvPr>
            <p:ph idx="1" type="subTitle"/>
          </p:nvPr>
        </p:nvSpPr>
        <p:spPr>
          <a:xfrm>
            <a:off x="238475" y="22910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Choose A Working Group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802950" y="3780600"/>
            <a:ext cx="1030225" cy="10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238475" y="1413225"/>
            <a:ext cx="4866300" cy="26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Attendance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Academic Progress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SEMH Progress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Suspensions / Exclusions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Reintegration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Aspirations / Careers / Post-16 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238475" y="22910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Table Groups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4" name="Google Shape;114;p22"/>
          <p:cNvSpPr/>
          <p:nvPr/>
        </p:nvSpPr>
        <p:spPr>
          <a:xfrm>
            <a:off x="5104775" y="2602413"/>
            <a:ext cx="479400" cy="29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5" name="Google Shape;115;p22"/>
          <p:cNvGraphicFramePr/>
          <p:nvPr/>
        </p:nvGraphicFramePr>
        <p:xfrm>
          <a:off x="6036075" y="1563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{EA77DC46-CB4A-46F4-B43A-A28A0F7C5701}</a:tableStyleId>
              </a:tblPr>
              <a:tblGrid>
                <a:gridCol w="2644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venir"/>
                          <a:ea typeface="Avenir"/>
                          <a:cs typeface="Avenir"/>
                          <a:sym typeface="Avenir"/>
                        </a:rPr>
                        <a:t>Current Strategies</a:t>
                      </a:r>
                      <a:endParaRPr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venir"/>
                          <a:ea typeface="Avenir"/>
                          <a:cs typeface="Avenir"/>
                          <a:sym typeface="Avenir"/>
                        </a:rPr>
                        <a:t>Development Ideas</a:t>
                      </a:r>
                      <a:endParaRPr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venir"/>
                          <a:ea typeface="Avenir"/>
                          <a:cs typeface="Avenir"/>
                          <a:sym typeface="Avenir"/>
                        </a:rPr>
                        <a:t>Potential Barriers</a:t>
                      </a:r>
                      <a:endParaRPr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venir"/>
                          <a:ea typeface="Avenir"/>
                          <a:cs typeface="Avenir"/>
                          <a:sym typeface="Avenir"/>
                        </a:rPr>
                        <a:t>Solutions / Support Needed</a:t>
                      </a:r>
                      <a:endParaRPr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venir"/>
                          <a:ea typeface="Avenir"/>
                          <a:cs typeface="Avenir"/>
                          <a:sym typeface="Avenir"/>
                        </a:rPr>
                        <a:t>Actions / To Do List</a:t>
                      </a:r>
                      <a:endParaRPr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Avenir"/>
                          <a:ea typeface="Avenir"/>
                          <a:cs typeface="Avenir"/>
                          <a:sym typeface="Avenir"/>
                        </a:rPr>
                        <a:t>Share Contact Details</a:t>
                      </a:r>
                      <a:endParaRPr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idx="1" type="subTitle"/>
          </p:nvPr>
        </p:nvSpPr>
        <p:spPr>
          <a:xfrm>
            <a:off x="424995" y="1228690"/>
            <a:ext cx="8015700" cy="14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Collaboration of top areas of challenge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ISAP Review Process &amp; Impact Assessment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Portal / Wider Curriculum / Portfolios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802950" y="3780600"/>
            <a:ext cx="1030225" cy="10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3"/>
          <p:cNvSpPr txBox="1"/>
          <p:nvPr>
            <p:ph idx="1" type="subTitle"/>
          </p:nvPr>
        </p:nvSpPr>
        <p:spPr>
          <a:xfrm>
            <a:off x="238475" y="22910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Objectives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424995" y="1228690"/>
            <a:ext cx="8015700" cy="14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FEFEF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EFEFEF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Collaboration of top areas of challenge</a:t>
            </a:r>
            <a:endParaRPr sz="2400">
              <a:solidFill>
                <a:srgbClr val="EFEFEF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ISAP Review Process &amp; Impact Assessment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EFEFEF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Portal / Wider Curriculum / Portfolios</a:t>
            </a:r>
            <a:endParaRPr sz="2400">
              <a:solidFill>
                <a:srgbClr val="EFEFEF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28" name="Google Shape;128;p24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802950" y="3780600"/>
            <a:ext cx="1030225" cy="10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4"/>
          <p:cNvSpPr txBox="1"/>
          <p:nvPr>
            <p:ph idx="1" type="subTitle"/>
          </p:nvPr>
        </p:nvSpPr>
        <p:spPr>
          <a:xfrm>
            <a:off x="238475" y="22910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Objectives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1104425" y="1423225"/>
            <a:ext cx="6546000" cy="169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Prior to breaking up for Christmas: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 u="sng">
                <a:solidFill>
                  <a:schemeClr val="hlink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  <a:hlinkClick r:id="rId3"/>
              </a:rPr>
              <a:t>ISAP Review Form</a:t>
            </a: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 for each student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Dashboard will calculate impact for you! 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5" name="Google Shape;135;p25"/>
          <p:cNvSpPr txBox="1"/>
          <p:nvPr>
            <p:ph idx="1" type="subTitle"/>
          </p:nvPr>
        </p:nvSpPr>
        <p:spPr>
          <a:xfrm>
            <a:off x="238475" y="229100"/>
            <a:ext cx="7765800" cy="7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ISAP Review Process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36" name="Google Shape;136;p25"/>
          <p:cNvPicPr preferRelativeResize="0"/>
          <p:nvPr/>
        </p:nvPicPr>
        <p:blipFill rotWithShape="1">
          <a:blip r:embed="rId4">
            <a:alphaModFix/>
          </a:blip>
          <a:srcRect b="16852" l="17279" r="17272" t="17501"/>
          <a:stretch/>
        </p:blipFill>
        <p:spPr>
          <a:xfrm>
            <a:off x="7802950" y="3780600"/>
            <a:ext cx="1030225" cy="10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853771" cy="48386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42" name="Google Shape;142;p26"/>
          <p:cNvSpPr txBox="1"/>
          <p:nvPr>
            <p:ph idx="1" type="subTitle"/>
          </p:nvPr>
        </p:nvSpPr>
        <p:spPr>
          <a:xfrm>
            <a:off x="7106975" y="135150"/>
            <a:ext cx="18084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Review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43" name="Google Shape;143;p26"/>
          <p:cNvPicPr preferRelativeResize="0"/>
          <p:nvPr/>
        </p:nvPicPr>
        <p:blipFill rotWithShape="1">
          <a:blip r:embed="rId4">
            <a:alphaModFix/>
          </a:blip>
          <a:srcRect b="16852" l="17279" r="17272" t="17501"/>
          <a:stretch/>
        </p:blipFill>
        <p:spPr>
          <a:xfrm>
            <a:off x="7802950" y="3780600"/>
            <a:ext cx="1030225" cy="10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idx="1" type="subTitle"/>
          </p:nvPr>
        </p:nvSpPr>
        <p:spPr>
          <a:xfrm>
            <a:off x="1104425" y="1423225"/>
            <a:ext cx="6546000" cy="30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Deadline: End of Term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SEMH Tracker for all ISAP Students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Gather Projected Eng / Maths / Sci Grades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ISAP Review Google Form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8761D"/>
              </a:buClr>
              <a:buSzPts val="2400"/>
              <a:buFont typeface="Avenir"/>
              <a:buChar char="✔"/>
            </a:pPr>
            <a:r>
              <a:rPr lang="en-GB" sz="2400">
                <a:solidFill>
                  <a:srgbClr val="38761D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Feeds into School Trust Reviews</a:t>
            </a:r>
            <a:endParaRPr sz="2400">
              <a:solidFill>
                <a:srgbClr val="38761D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400"/>
              <a:buFont typeface="Avenir"/>
              <a:buChar char="✔"/>
            </a:pPr>
            <a:r>
              <a:rPr lang="en-GB" sz="2400">
                <a:solidFill>
                  <a:srgbClr val="38761D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Parental Reports</a:t>
            </a:r>
            <a:endParaRPr sz="2400">
              <a:solidFill>
                <a:srgbClr val="38761D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9" name="Google Shape;149;p27"/>
          <p:cNvSpPr txBox="1"/>
          <p:nvPr>
            <p:ph idx="1" type="subTitle"/>
          </p:nvPr>
        </p:nvSpPr>
        <p:spPr>
          <a:xfrm>
            <a:off x="238475" y="22910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Impetus Review: 2/2/2026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50" name="Google Shape;150;p27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802950" y="3780600"/>
            <a:ext cx="1030225" cy="10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idx="1" type="subTitle"/>
          </p:nvPr>
        </p:nvSpPr>
        <p:spPr>
          <a:xfrm>
            <a:off x="424995" y="1228690"/>
            <a:ext cx="8015700" cy="14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Collaboration of top areas of challenge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ISAP Review Process &amp; Impact Assessment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Portal / Wider Curriculum / Portfolios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56" name="Google Shape;156;p28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802950" y="3780600"/>
            <a:ext cx="1030225" cy="10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8"/>
          <p:cNvSpPr txBox="1"/>
          <p:nvPr>
            <p:ph idx="1" type="subTitle"/>
          </p:nvPr>
        </p:nvSpPr>
        <p:spPr>
          <a:xfrm>
            <a:off x="238475" y="22910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Objectives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idx="1" type="subTitle"/>
          </p:nvPr>
        </p:nvSpPr>
        <p:spPr>
          <a:xfrm>
            <a:off x="424995" y="1228690"/>
            <a:ext cx="8015700" cy="14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EFEFEF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EFEFEF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Collaboration of top areas of challenge</a:t>
            </a:r>
            <a:endParaRPr sz="2400">
              <a:solidFill>
                <a:srgbClr val="EFEFEF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EFEFEF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ISAP Review Process &amp; Impact Assessment</a:t>
            </a:r>
            <a:endParaRPr sz="2400">
              <a:solidFill>
                <a:srgbClr val="EFEFEF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Portal / Wider Curriculum / Portfolios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63" name="Google Shape;163;p29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802950" y="3780600"/>
            <a:ext cx="1030225" cy="10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 txBox="1"/>
          <p:nvPr>
            <p:ph idx="1" type="subTitle"/>
          </p:nvPr>
        </p:nvSpPr>
        <p:spPr>
          <a:xfrm>
            <a:off x="238475" y="22910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Objectives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idx="1" type="subTitle"/>
          </p:nvPr>
        </p:nvSpPr>
        <p:spPr>
          <a:xfrm>
            <a:off x="7106975" y="135150"/>
            <a:ext cx="18084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Portal</a:t>
            </a:r>
            <a:endParaRPr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70" name="Google Shape;17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225" y="152400"/>
            <a:ext cx="6115319" cy="4838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idx="1" type="subTitle"/>
          </p:nvPr>
        </p:nvSpPr>
        <p:spPr>
          <a:xfrm>
            <a:off x="238475" y="22910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Wider Curriculum / Life Skills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76" name="Google Shape;176;p31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802950" y="3780600"/>
            <a:ext cx="1030225" cy="1033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7" name="Google Shape;177;p31"/>
          <p:cNvGraphicFramePr/>
          <p:nvPr/>
        </p:nvGraphicFramePr>
        <p:xfrm>
          <a:off x="1335450" y="1241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{AC37A9C0-C329-487C-BD63-1266B424E812}</a:tableStyleId>
              </a:tblPr>
              <a:tblGrid>
                <a:gridCol w="400050"/>
                <a:gridCol w="695325"/>
                <a:gridCol w="4638675"/>
              </a:tblGrid>
              <a:tr h="2667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Half Term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Topic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1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❤️‍🩹</a:t>
                      </a:r>
                      <a:endParaRPr sz="24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Personal Health &amp; Wellbeing: Self-care, understanding one's own body and mind, and making healthy choices.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2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💸</a:t>
                      </a:r>
                      <a:endParaRPr sz="24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Money Skills: Crucial for preparing students for financial independence and responsibility.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3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🍕</a:t>
                      </a:r>
                      <a:endParaRPr sz="24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Independent Living: Essential skills needed for independent living including cooking and basic DIY.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4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🧠</a:t>
                      </a:r>
                      <a:endParaRPr sz="24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Study Skills: Focusing on developing effective learning strategies to succeed in and out of the classroom.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5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🌳</a:t>
                      </a:r>
                      <a:endParaRPr sz="24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Careers, Hobbies and Growth: Helping students explore their interests and prepare for future pathways, including exploring volunteering.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6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💭</a:t>
                      </a:r>
                      <a:endParaRPr sz="24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434343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The Big Questions: Introducing students to key philosophical concepts and coaching students on how to engage in debate.</a:t>
                      </a:r>
                      <a:endParaRPr sz="1100">
                        <a:solidFill>
                          <a:srgbClr val="434343"/>
                        </a:solidFill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2" title="Screenshot 2025-09-26 123041.png"/>
          <p:cNvPicPr preferRelativeResize="0"/>
          <p:nvPr/>
        </p:nvPicPr>
        <p:blipFill rotWithShape="1">
          <a:blip r:embed="rId3">
            <a:alphaModFix/>
          </a:blip>
          <a:srcRect b="4032" l="0" r="0" t="37110"/>
          <a:stretch/>
        </p:blipFill>
        <p:spPr>
          <a:xfrm>
            <a:off x="152400" y="1014600"/>
            <a:ext cx="8839200" cy="2102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3" name="Google Shape;183;p32"/>
          <p:cNvSpPr txBox="1"/>
          <p:nvPr/>
        </p:nvSpPr>
        <p:spPr>
          <a:xfrm>
            <a:off x="152400" y="3276100"/>
            <a:ext cx="5157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4"/>
              </a:rPr>
              <a:t>Search for Units Here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venir"/>
              <a:buChar char="●"/>
            </a:pPr>
            <a:r>
              <a:rPr lang="en-GB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Ask about accredited staff</a:t>
            </a:r>
            <a:endParaRPr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venir"/>
              <a:buChar char="●"/>
            </a:pPr>
            <a:r>
              <a:rPr lang="en-GB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Units ‘unlock’ access to lesson readmission</a:t>
            </a:r>
            <a:endParaRPr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venir"/>
              <a:buChar char="●"/>
            </a:pPr>
            <a:r>
              <a:rPr lang="en-GB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Ask Headteachers to award these so students are ‘seen’</a:t>
            </a:r>
            <a:endParaRPr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venir"/>
              <a:buChar char="●"/>
            </a:pPr>
            <a:r>
              <a:rPr lang="en-GB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Portfolio of Achievements!</a:t>
            </a:r>
            <a:endParaRPr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Copyright AQA 2025" id="184" name="Google Shape;184;p32" title="AQA Unit Award Scheme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3600" y="3255625"/>
            <a:ext cx="30480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2"/>
          <p:cNvSpPr txBox="1"/>
          <p:nvPr>
            <p:ph idx="1" type="subTitle"/>
          </p:nvPr>
        </p:nvSpPr>
        <p:spPr>
          <a:xfrm>
            <a:off x="238475" y="22910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AQA Unit Award Scheme 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idx="1" type="subTitle"/>
          </p:nvPr>
        </p:nvSpPr>
        <p:spPr>
          <a:xfrm>
            <a:off x="238475" y="22910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3"/>
              </a:rPr>
              <a:t>Portfolio of Achievement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91" name="Google Shape;19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9850" y="992775"/>
            <a:ext cx="2770156" cy="3963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2" name="Google Shape;19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7356" y="992775"/>
            <a:ext cx="2776474" cy="3963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idx="1" type="subTitle"/>
          </p:nvPr>
        </p:nvSpPr>
        <p:spPr>
          <a:xfrm>
            <a:off x="424995" y="1228690"/>
            <a:ext cx="8015700" cy="140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Collaboration of top areas of challenge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rgbClr val="FFFFFF"/>
                </a:highlight>
                <a:latin typeface="Avenir"/>
                <a:ea typeface="Avenir"/>
                <a:cs typeface="Avenir"/>
                <a:sym typeface="Avenir"/>
              </a:rPr>
              <a:t>ISAP Review Process &amp; Impact Assessment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AutoNum type="arabicPeriod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Portal / Wider Curriculum / Portfolios</a:t>
            </a:r>
            <a:endParaRPr sz="2400">
              <a:solidFill>
                <a:srgbClr val="565A5C"/>
              </a:solidFill>
              <a:highlight>
                <a:srgbClr val="FFFFFF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98" name="Google Shape;198;p34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802950" y="3780600"/>
            <a:ext cx="1030225" cy="10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4"/>
          <p:cNvSpPr txBox="1"/>
          <p:nvPr>
            <p:ph idx="1" type="subTitle"/>
          </p:nvPr>
        </p:nvSpPr>
        <p:spPr>
          <a:xfrm>
            <a:off x="238475" y="229100"/>
            <a:ext cx="7765800" cy="6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Recap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idx="1" type="subTitle"/>
          </p:nvPr>
        </p:nvSpPr>
        <p:spPr>
          <a:xfrm>
            <a:off x="1229225" y="950300"/>
            <a:ext cx="5784300" cy="33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Make contact with another ISAP!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Attendance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Academic Progress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SEMH Progress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Suspensions / PEX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Reintegrations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65A5C"/>
              </a:buClr>
              <a:buSzPts val="2400"/>
              <a:buFont typeface="Avenir"/>
              <a:buChar char="●"/>
            </a:pPr>
            <a:r>
              <a:rPr lang="en-GB" sz="2400">
                <a:solidFill>
                  <a:srgbClr val="565A5C"/>
                </a:solidFill>
                <a:highlight>
                  <a:schemeClr val="lt1"/>
                </a:highlight>
                <a:latin typeface="Avenir"/>
                <a:ea typeface="Avenir"/>
                <a:cs typeface="Avenir"/>
                <a:sym typeface="Avenir"/>
              </a:rPr>
              <a:t>Aspirations / Careers / Post-16</a:t>
            </a:r>
            <a:endParaRPr sz="2400">
              <a:solidFill>
                <a:srgbClr val="565A5C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5" name="Google Shape;205;p35"/>
          <p:cNvSpPr txBox="1"/>
          <p:nvPr>
            <p:ph idx="1" type="subTitle"/>
          </p:nvPr>
        </p:nvSpPr>
        <p:spPr>
          <a:xfrm>
            <a:off x="238475" y="229100"/>
            <a:ext cx="7765800" cy="7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ISAP Network Meeting: 27/11</a:t>
            </a:r>
            <a:endParaRPr i="1" sz="30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06" name="Google Shape;206;p35"/>
          <p:cNvPicPr preferRelativeResize="0"/>
          <p:nvPr/>
        </p:nvPicPr>
        <p:blipFill rotWithShape="1">
          <a:blip r:embed="rId3">
            <a:alphaModFix/>
          </a:blip>
          <a:srcRect b="16852" l="17279" r="17272" t="17501"/>
          <a:stretch/>
        </p:blipFill>
        <p:spPr>
          <a:xfrm>
            <a:off x="7802950" y="3780600"/>
            <a:ext cx="1030225" cy="10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36"/>
          <p:cNvGrpSpPr/>
          <p:nvPr/>
        </p:nvGrpSpPr>
        <p:grpSpPr>
          <a:xfrm>
            <a:off x="0" y="4838400"/>
            <a:ext cx="9144000" cy="305100"/>
            <a:chOff x="0" y="6451200"/>
            <a:chExt cx="12192000" cy="406800"/>
          </a:xfrm>
        </p:grpSpPr>
        <p:sp>
          <p:nvSpPr>
            <p:cNvPr id="212" name="Google Shape;212;p36"/>
            <p:cNvSpPr/>
            <p:nvPr/>
          </p:nvSpPr>
          <p:spPr>
            <a:xfrm>
              <a:off x="0" y="6451200"/>
              <a:ext cx="12192000" cy="406800"/>
            </a:xfrm>
            <a:prstGeom prst="rtTriangle">
              <a:avLst/>
            </a:prstGeom>
            <a:solidFill>
              <a:srgbClr val="00BC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36"/>
            <p:cNvSpPr/>
            <p:nvPr/>
          </p:nvSpPr>
          <p:spPr>
            <a:xfrm flipH="1">
              <a:off x="6096000" y="6451200"/>
              <a:ext cx="6096000" cy="406800"/>
            </a:xfrm>
            <a:prstGeom prst="rtTriangle">
              <a:avLst/>
            </a:prstGeom>
            <a:solidFill>
              <a:srgbClr val="00BCE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4" name="Google Shape;214;p36" title="Professional Development Institu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3387" y="154556"/>
            <a:ext cx="1082573" cy="59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543" y="154556"/>
            <a:ext cx="2169966" cy="5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6"/>
          <p:cNvSpPr txBox="1"/>
          <p:nvPr>
            <p:ph idx="4294967295" type="ctrTitle"/>
          </p:nvPr>
        </p:nvSpPr>
        <p:spPr>
          <a:xfrm>
            <a:off x="748250" y="1053413"/>
            <a:ext cx="7791300" cy="141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solidFill>
                  <a:srgbClr val="00A1CC"/>
                </a:solidFill>
                <a:latin typeface="Avenir"/>
                <a:ea typeface="Avenir"/>
                <a:cs typeface="Avenir"/>
                <a:sym typeface="Avenir"/>
              </a:rPr>
              <a:t>Thank You!</a:t>
            </a:r>
            <a:endParaRPr sz="4500">
              <a:solidFill>
                <a:srgbClr val="00A1C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217" name="Google Shape;217;p36"/>
          <p:cNvPicPr preferRelativeResize="0"/>
          <p:nvPr/>
        </p:nvPicPr>
        <p:blipFill rotWithShape="1">
          <a:blip r:embed="rId5">
            <a:alphaModFix/>
          </a:blip>
          <a:srcRect b="16852" l="17279" r="17272" t="17501"/>
          <a:stretch/>
        </p:blipFill>
        <p:spPr>
          <a:xfrm>
            <a:off x="560350" y="2775325"/>
            <a:ext cx="1990250" cy="199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6"/>
          <p:cNvSpPr txBox="1"/>
          <p:nvPr/>
        </p:nvSpPr>
        <p:spPr>
          <a:xfrm>
            <a:off x="4200300" y="3358350"/>
            <a:ext cx="45978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Dan Conley</a:t>
            </a:r>
            <a:endParaRPr sz="24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Director of In-School AP</a:t>
            </a:r>
            <a:endParaRPr sz="24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6"/>
              </a:rPr>
              <a:t>daniel.conley@coopacademies.co.uk</a:t>
            </a:r>
            <a:r>
              <a:rPr lang="en-GB" sz="2000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rPr>
              <a:t>  </a:t>
            </a:r>
            <a:endParaRPr sz="2000">
              <a:solidFill>
                <a:srgbClr val="595959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