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A70CA2-F068-4FC6-B549-51E37104CFBD}">
  <a:tblStyle styleId="{0FA70CA2-F068-4FC6-B549-51E37104CF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00692fd85_0_0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g3a00692fd85_0_0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b881815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b881815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220b4e274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220b4e27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20b4e274_0_62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a220b4e274_0_62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220b4e274_0_73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a220b4e274_0_73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4f11ff74_0_0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3a24f11ff74_0_0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220b4e274_0_82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a220b4e274_0_82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220b4e274_0_90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a220b4e274_0_90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20b4e274_0_98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a220b4e274_0_98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220b4e274_0_106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a220b4e274_0_106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220b4e274_0_114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a220b4e274_0_114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20b4e274_0_268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a220b4e274_0_268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220b4e274_0_133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a220b4e274_0_133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220b4e274_0_143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a220b4e274_0_143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220b4e274_0_151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a220b4e274_0_151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220b4e274_0_159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a220b4e274_0_159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220b4e274_0_167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a220b4e274_0_167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220b4e274_0_175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a220b4e274_0_175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220b4e274_0_183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a220b4e274_0_183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220b4e274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220b4e274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220b4e274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220b4e274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220b4e274_0_306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a220b4e274_0_306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00692fd85_0_101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a00692fd85_0_101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220b4e274_0_319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a220b4e274_0_319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220b4e274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220b4e274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837c5d777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837c5d777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837c5d777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4837c5d777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c54b046e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4c54b046e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00692fd8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00692fd8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e1ddc8d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4e1ddc8d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4e1ddc8d5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4e1ddc8d5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220b4e274_0_352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a220b4e274_0_352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00692fd8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00692fd8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Banner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0" y="0"/>
            <a:ext cx="9144000" cy="690300"/>
          </a:xfrm>
          <a:prstGeom prst="rect">
            <a:avLst/>
          </a:prstGeom>
          <a:solidFill>
            <a:srgbClr val="1F497D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venir"/>
              <a:buNone/>
              <a:defRPr sz="2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2175" y="1200150"/>
            <a:ext cx="8719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–"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–"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»"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hyperlink" Target="mailto:daniel.conley@coopacademies.co.u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hyperlink" Target="mailto:daniel.conley@coopacademies.co.uk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4.gif"/><Relationship Id="rId5" Type="http://schemas.openxmlformats.org/officeDocument/2006/relationships/hyperlink" Target="https://www.youtube.com/watch?v=kX3xO2J4Ic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58" name="Google Shape;58;p14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" name="Google Shape;60;p14" title="Professional Development Institu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3387" y="154556"/>
            <a:ext cx="1082573" cy="5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43" y="154556"/>
            <a:ext cx="2169966" cy="5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title"/>
          </p:nvPr>
        </p:nvSpPr>
        <p:spPr>
          <a:xfrm>
            <a:off x="738250" y="1370588"/>
            <a:ext cx="77913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rgbClr val="00A1CC"/>
                </a:solidFill>
              </a:rPr>
              <a:t>Avoiding the ‘Escalation Trap’</a:t>
            </a:r>
            <a:endParaRPr sz="45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5">
            <a:alphaModFix/>
          </a:blip>
          <a:srcRect b="16852" l="17279" r="17272" t="17501"/>
          <a:stretch/>
        </p:blipFill>
        <p:spPr>
          <a:xfrm>
            <a:off x="683225" y="3409775"/>
            <a:ext cx="1158600" cy="11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200300" y="3358350"/>
            <a:ext cx="45978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Director of In-School AP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6"/>
              </a:rPr>
              <a:t>daniel.conley@coopacademies.co.uk</a:t>
            </a:r>
            <a:r>
              <a:rPr lang="en-GB" sz="2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  </a:t>
            </a:r>
            <a:endParaRPr sz="20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7700" y="1301900"/>
            <a:ext cx="8148600" cy="17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Avoiding the ‘escalation trap’</a:t>
            </a:r>
            <a:endParaRPr sz="3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Your default setting</a:t>
            </a:r>
            <a:endParaRPr sz="3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De-escalation strategies</a:t>
            </a:r>
            <a:endParaRPr i="1" sz="3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604475" y="3639475"/>
            <a:ext cx="1158600" cy="11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497700" y="1301900"/>
            <a:ext cx="8148600" cy="17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Avoiding the ‘escalation trap’</a:t>
            </a:r>
            <a:endParaRPr sz="3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Your default setting</a:t>
            </a:r>
            <a:endParaRPr sz="30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De-escalation strategies</a:t>
            </a:r>
            <a:endParaRPr i="1" sz="30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604475" y="3639475"/>
            <a:ext cx="1158600" cy="11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2723588" y="1467325"/>
            <a:ext cx="3688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GB" sz="2400">
                <a:solidFill>
                  <a:srgbClr val="595959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Step 1: Positive Framing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84" name="Google Shape;84;p17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85" name="Google Shape;85;p17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070" y="0"/>
            <a:ext cx="149993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</a:rPr>
              <a:t>Avoiding the ‘Escalation Trap’</a:t>
            </a:r>
            <a:endParaRPr sz="3000">
              <a:solidFill>
                <a:srgbClr val="00A1CC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" y="0"/>
            <a:ext cx="149131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 rot="10800000">
            <a:off x="1808800" y="1998325"/>
            <a:ext cx="2946300" cy="819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19388" y="1080150"/>
            <a:ext cx="85053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just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venir"/>
              <a:buAutoNum type="arabicParenR"/>
            </a:pPr>
            <a:r>
              <a:rPr lang="en-GB" sz="23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Meet &amp; Greet</a:t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venir"/>
              <a:buAutoNum type="arabicParenR"/>
            </a:pPr>
            <a:r>
              <a:rPr lang="en-GB" sz="23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Do Now Activity</a:t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799088" y="2053919"/>
            <a:ext cx="7851300" cy="215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Relational Practice starts here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Routines / Purposeful Start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" name="Google Shape;97;p18"/>
          <p:cNvSpPr txBox="1"/>
          <p:nvPr>
            <p:ph idx="4294967295" type="subTitle"/>
          </p:nvPr>
        </p:nvSpPr>
        <p:spPr>
          <a:xfrm>
            <a:off x="238482" y="229106"/>
            <a:ext cx="86514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Routines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98" name="Google Shape;98;p18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99" name="Google Shape;99;p18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319388" y="1080150"/>
            <a:ext cx="8505300" cy="30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To gain the best from pupils, we should strive to:</a:t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just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venir"/>
              <a:buAutoNum type="arabicParenR"/>
            </a:pPr>
            <a:r>
              <a:rPr lang="en-GB" sz="23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Live in the Now</a:t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venir"/>
              <a:buAutoNum type="arabicParenR"/>
            </a:pPr>
            <a:r>
              <a:rPr lang="en-GB" sz="23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Assume the Best</a:t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venir"/>
              <a:buAutoNum type="arabicParenR"/>
            </a:pPr>
            <a:r>
              <a:rPr lang="en-GB" sz="23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Allow Plausible Anonymity</a:t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venir"/>
              <a:buAutoNum type="arabicParenR"/>
            </a:pPr>
            <a:r>
              <a:rPr lang="en-GB" sz="23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Narrate the Positives</a:t>
            </a:r>
            <a:endParaRPr sz="23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799088" y="2053919"/>
            <a:ext cx="7851300" cy="215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Today’s a fresh start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Cultivate positive regard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Not naming &amp; shaming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What’s good / improving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7" name="Google Shape;107;p19"/>
          <p:cNvSpPr txBox="1"/>
          <p:nvPr>
            <p:ph idx="4294967295" type="subTitle"/>
          </p:nvPr>
        </p:nvSpPr>
        <p:spPr>
          <a:xfrm>
            <a:off x="238482" y="229106"/>
            <a:ext cx="86514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Positive Framing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08" name="Google Shape;108;p19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09" name="Google Shape;109;p19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16" name="Google Shape;116;p20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0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0"/>
          <p:cNvSpPr txBox="1"/>
          <p:nvPr/>
        </p:nvSpPr>
        <p:spPr>
          <a:xfrm>
            <a:off x="238475" y="1092475"/>
            <a:ext cx="8733600" cy="3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Avoid reminders of past issues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980000"/>
                </a:solidFill>
                <a:latin typeface="Avenir"/>
                <a:ea typeface="Avenir"/>
                <a:cs typeface="Avenir"/>
                <a:sym typeface="Avenir"/>
              </a:rPr>
              <a:t>“Aliyah, I’m not going to tolerate a repeat of last lesson”</a:t>
            </a:r>
            <a:endParaRPr sz="2300">
              <a:solidFill>
                <a:srgbClr val="98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980000"/>
                </a:solidFill>
                <a:latin typeface="Avenir"/>
                <a:ea typeface="Avenir"/>
                <a:cs typeface="Avenir"/>
                <a:sym typeface="Avenir"/>
              </a:rPr>
              <a:t>“Year 9, your recent attitude has been appalling”</a:t>
            </a:r>
            <a:endParaRPr sz="2300">
              <a:solidFill>
                <a:srgbClr val="98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↓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909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“Aliyah, great start. Really settled. Thank you.”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909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“Year 9, I have high expectations of you in this practical”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Live in the </a:t>
            </a:r>
            <a:r>
              <a:rPr lang="en-GB" sz="3000">
                <a:solidFill>
                  <a:srgbClr val="00A1CC"/>
                </a:solidFill>
              </a:rPr>
              <a:t>N</a:t>
            </a: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ow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1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25" name="Google Shape;125;p21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1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21"/>
          <p:cNvSpPr txBox="1"/>
          <p:nvPr/>
        </p:nvSpPr>
        <p:spPr>
          <a:xfrm>
            <a:off x="373481" y="1200606"/>
            <a:ext cx="83814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Don’t assume laziness, selfishness and deliberate disrespect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i="1"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980000"/>
                </a:solidFill>
                <a:latin typeface="Avenir"/>
                <a:ea typeface="Avenir"/>
                <a:cs typeface="Avenir"/>
                <a:sym typeface="Avenir"/>
              </a:rPr>
              <a:t>“Just a minute, some people don’t seem to think they have to push in their chairs when they leave.”</a:t>
            </a:r>
            <a:endParaRPr sz="2300">
              <a:solidFill>
                <a:srgbClr val="98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↓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“Just a minute, some people seem have forgotten to push their chairs under.”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Assume the best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2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34" name="Google Shape;134;p22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2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22"/>
          <p:cNvSpPr txBox="1"/>
          <p:nvPr/>
        </p:nvSpPr>
        <p:spPr>
          <a:xfrm>
            <a:off x="239281" y="1592769"/>
            <a:ext cx="8665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Allow pupils the benefit of the doubt </a:t>
            </a:r>
            <a:r>
              <a:rPr i="1" lang="en-GB" sz="21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providing they are making a good-faith effort</a:t>
            </a:r>
            <a:r>
              <a:rPr lang="en-GB" sz="21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. Correct them without using names, where possible.</a:t>
            </a:r>
            <a:endParaRPr sz="21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i="1" sz="21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“Let’s just do one last check all everyone’s hands are empty”</a:t>
            </a:r>
            <a:endParaRPr sz="21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“I’m waiting for the last few people to put their equipment down”</a:t>
            </a:r>
            <a:endParaRPr sz="21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Plausible Deniability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3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43" name="Google Shape;143;p23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23"/>
          <p:cNvSpPr txBox="1"/>
          <p:nvPr/>
        </p:nvSpPr>
        <p:spPr>
          <a:xfrm>
            <a:off x="213300" y="1248075"/>
            <a:ext cx="87174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Make the public conversation about success / improvement</a:t>
            </a:r>
            <a:endParaRPr b="1" i="1"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1"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“That’s outstanding effort, Hamza”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“Brilliant lab work, Year 8. You’ve been really focused”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“Asma, this was your best performance so far, keep going”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3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“Liam, you really persevered today, I’m proud of you”</a:t>
            </a:r>
            <a:endParaRPr sz="23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Narrate the Positives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4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52" name="Google Shape;152;p24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4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24"/>
          <p:cNvSpPr txBox="1"/>
          <p:nvPr/>
        </p:nvSpPr>
        <p:spPr>
          <a:xfrm>
            <a:off x="334444" y="1267313"/>
            <a:ext cx="84594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AutoNum type="arabicPeriod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Stop tapping that pen now or I’ll send you out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AutoNum type="arabicPeriod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Your effort last week was pathetic. I need to see change.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AutoNum type="arabicPeriod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What makes you think you can do </a:t>
            </a:r>
            <a:r>
              <a:rPr i="1"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nothing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 all lesson?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AutoNum type="arabicPeriod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You are not holding that test tube right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AutoNum type="arabicPeriod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Stop shouting out the answers 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Reframe these statements…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/>
        </p:nvSpPr>
        <p:spPr>
          <a:xfrm>
            <a:off x="2723588" y="1590225"/>
            <a:ext cx="36882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GB" sz="2400">
                <a:solidFill>
                  <a:srgbClr val="595959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Step 2: The Least Invasive Corrective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61" name="Google Shape;161;p25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62" name="Google Shape;162;p25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5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070" y="0"/>
            <a:ext cx="149993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</a:rPr>
              <a:t>Avoiding the ‘Escalation Trap’</a:t>
            </a:r>
            <a:endParaRPr sz="3000">
              <a:solidFill>
                <a:srgbClr val="00A1CC"/>
              </a:solidFill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" y="0"/>
            <a:ext cx="149131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 flipH="1" rot="10800000">
            <a:off x="4405525" y="2571750"/>
            <a:ext cx="2956200" cy="819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6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73" name="Google Shape;173;p26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646425" y="1243125"/>
            <a:ext cx="7851300" cy="306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Avenir"/>
              <a:buChar char="↓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Non-verbal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Avenir"/>
              <a:buChar char="↓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Positive Group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Avenir"/>
              <a:buChar char="↓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Anonymous Individual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Avenir"/>
              <a:buChar char="↓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Private Individual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Avenir"/>
              <a:buChar char="↓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Quick Public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Avenir"/>
              <a:buChar char="↓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Private Individual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p26"/>
          <p:cNvSpPr txBox="1"/>
          <p:nvPr>
            <p:ph idx="4294967295" type="subTitle"/>
          </p:nvPr>
        </p:nvSpPr>
        <p:spPr>
          <a:xfrm>
            <a:off x="578600" y="1038000"/>
            <a:ext cx="78513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[silent gestures]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“You should all be…”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“Just two pupils left now…”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“Ali, I’ve noticed…”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“Ali, eyes this way”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“Ali, let’s talk at the end”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Least Invasive Corrective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7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83" name="Google Shape;183;p27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7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674438" y="1205466"/>
            <a:ext cx="7795200" cy="330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Non-Verbal Intervention: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2300"/>
              <a:buFont typeface="Avenir"/>
              <a:buChar char="•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Proximity - move closer to pupils you want to correct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2300"/>
              <a:buFont typeface="Avenir"/>
              <a:buChar char="•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Stand tall and be seen looking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2300"/>
              <a:buFont typeface="Avenir"/>
              <a:buChar char="•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Choose your vantage point (e.g. corner of room)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2300"/>
              <a:buFont typeface="Avenir"/>
              <a:buChar char="•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Eye contact and silent signals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SzPts val="2300"/>
              <a:buFont typeface="Avenir"/>
              <a:buChar char="•"/>
            </a:pPr>
            <a:r>
              <a:rPr lang="en-GB" sz="2300">
                <a:latin typeface="Avenir"/>
                <a:ea typeface="Avenir"/>
                <a:cs typeface="Avenir"/>
                <a:sym typeface="Avenir"/>
              </a:rPr>
              <a:t>Gently tap pupil’s desk / point to their work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Least Invasive Corrective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8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192" name="Google Shape;192;p28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8"/>
          <p:cNvSpPr txBox="1"/>
          <p:nvPr/>
        </p:nvSpPr>
        <p:spPr>
          <a:xfrm>
            <a:off x="178294" y="1103100"/>
            <a:ext cx="8772000" cy="3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Positive Group Corrective: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Explain what pupils </a:t>
            </a:r>
            <a:r>
              <a:rPr i="1"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should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 be doing, not what they </a:t>
            </a:r>
            <a:r>
              <a:rPr i="1"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shouldn’t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“We’re holding our whiteboards up”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Anonymous Individual Corrective: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Make it explicit that not everyone is where they need to be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“Just waiting for the last two people”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Least Invasive Corrective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9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201" name="Google Shape;201;p29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9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9"/>
          <p:cNvSpPr txBox="1"/>
          <p:nvPr/>
        </p:nvSpPr>
        <p:spPr>
          <a:xfrm>
            <a:off x="426500" y="1477675"/>
            <a:ext cx="82911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Individual Private Corrective: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Get down to the level of the pupil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“Ali, is everything ok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? 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Let’s look at this together… I’ll come back in 5 minutes - show me what you can do”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“Ali, 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you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 seem really distracted today and I’m wondering how to help, as I don’t want you to have a sanction.”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Least Invasive Corrective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30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210" name="Google Shape;210;p30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30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30"/>
          <p:cNvSpPr txBox="1"/>
          <p:nvPr/>
        </p:nvSpPr>
        <p:spPr>
          <a:xfrm>
            <a:off x="438244" y="1195425"/>
            <a:ext cx="7232400" cy="27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Quick Public Corrective: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 u="sng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Limit the amount of time the pupil is ‘onstage’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Fast focus on telling the pupil what to do right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“Laveeza - whiteboard, thank you!”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“Riley - eyes forward!”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Least Invasive Corrective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1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219" name="Google Shape;219;p31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31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31"/>
          <p:cNvSpPr txBox="1"/>
          <p:nvPr/>
        </p:nvSpPr>
        <p:spPr>
          <a:xfrm>
            <a:off x="426488" y="1125903"/>
            <a:ext cx="82911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Individual Private Corrective: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“Ali, I’ve 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given you a final 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warning. Your behaviour is still impacting on the learning of other pupils, so we’ll need to speak at the end of the lesson about your sanction.”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Least Invasive Corrective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32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228" name="Google Shape;228;p32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32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A1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32"/>
          <p:cNvSpPr txBox="1"/>
          <p:nvPr/>
        </p:nvSpPr>
        <p:spPr>
          <a:xfrm>
            <a:off x="426488" y="1120294"/>
            <a:ext cx="8291100" cy="3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Removal from Lesson: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Should be a </a:t>
            </a:r>
            <a:r>
              <a:rPr i="1"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logical consequence </a:t>
            </a: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and not a </a:t>
            </a:r>
            <a:r>
              <a:rPr i="1"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punishment</a:t>
            </a:r>
            <a:endParaRPr i="1"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Following previous least invasive steps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Ideally recorded to build a picture of lost learning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11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venir"/>
              <a:buChar char="●"/>
            </a:pPr>
            <a:r>
              <a:rPr lang="en-GB" sz="23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A 1:1 conversation outside a classroom is also a great opportunity for relational practice without an audience</a:t>
            </a:r>
            <a:endParaRPr sz="23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1" name="Google Shape;231;p32"/>
          <p:cNvSpPr txBox="1"/>
          <p:nvPr>
            <p:ph idx="1" type="body"/>
          </p:nvPr>
        </p:nvSpPr>
        <p:spPr>
          <a:xfrm>
            <a:off x="238482" y="229106"/>
            <a:ext cx="8651400" cy="531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Least Invasive Corrective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" type="subTitle"/>
          </p:nvPr>
        </p:nvSpPr>
        <p:spPr>
          <a:xfrm>
            <a:off x="497700" y="1301900"/>
            <a:ext cx="8148600" cy="17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Avoiding the ‘escalation trap’</a:t>
            </a:r>
            <a:endParaRPr sz="30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Your default setting</a:t>
            </a:r>
            <a:endParaRPr sz="30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De-escalation strategies</a:t>
            </a:r>
            <a:endParaRPr i="1" sz="30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7" name="Google Shape;237;p33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38" name="Google Shape;238;p33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604475" y="3639475"/>
            <a:ext cx="1158600" cy="11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4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604475" y="3639475"/>
            <a:ext cx="1158600" cy="11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 txBox="1"/>
          <p:nvPr>
            <p:ph idx="1" type="subTitle"/>
          </p:nvPr>
        </p:nvSpPr>
        <p:spPr>
          <a:xfrm>
            <a:off x="497700" y="962325"/>
            <a:ext cx="8148600" cy="29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You spot a student who has headphones in with their hood up, walking towards you. You smile and mime a hand signal to prompt them to remove them. They make direct eye contact, say "no" and continue walking past, hitting a wall as they go. A group of students standing nearby - who saw the entire exchange - fall silent and turn their gaze to you, waiting to see how you’ll handle the public defiance.</a:t>
            </a:r>
            <a:endParaRPr i="1" sz="23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5" name="Google Shape;245;p34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Your Next Move…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35"/>
          <p:cNvGraphicFramePr/>
          <p:nvPr/>
        </p:nvGraphicFramePr>
        <p:xfrm>
          <a:off x="714375" y="126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{0FA70CA2-F068-4FC6-B549-51E37104CFBD}</a:tableStyleId>
              </a:tblPr>
              <a:tblGrid>
                <a:gridCol w="3857625"/>
                <a:gridCol w="3857625"/>
              </a:tblGrid>
              <a:tr h="46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Power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Purpose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Winning the argument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Improving outcomes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Assuming threat / malice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Natural curiosity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Taking challenge personally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Remain impartial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Obedience at any cost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Understanding the ‘why’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Control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Confidence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35"/>
          <p:cNvSpPr txBox="1"/>
          <p:nvPr/>
        </p:nvSpPr>
        <p:spPr>
          <a:xfrm>
            <a:off x="4306950" y="1268625"/>
            <a:ext cx="530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highlight>
                  <a:srgbClr val="FFFFFF"/>
                </a:highlight>
              </a:rPr>
              <a:t>Vs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pic>
        <p:nvPicPr>
          <p:cNvPr id="252" name="Google Shape;252;p35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840456" y="698706"/>
            <a:ext cx="844481" cy="883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5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459038" y="711189"/>
            <a:ext cx="844481" cy="85879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 txBox="1"/>
          <p:nvPr>
            <p:ph idx="4294967295" type="subTitle"/>
          </p:nvPr>
        </p:nvSpPr>
        <p:spPr>
          <a:xfrm>
            <a:off x="220825" y="135150"/>
            <a:ext cx="86190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Your Default Setting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36"/>
          <p:cNvGraphicFramePr/>
          <p:nvPr/>
        </p:nvGraphicFramePr>
        <p:xfrm>
          <a:off x="714375" y="126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{0FA70CA2-F068-4FC6-B549-51E37104CFBD}</a:tableStyleId>
              </a:tblPr>
              <a:tblGrid>
                <a:gridCol w="3857625"/>
                <a:gridCol w="3857625"/>
              </a:tblGrid>
              <a:tr h="46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Power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Purpose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Winning the argument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Improving outcomes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Assuming threat / malice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Natural curiosity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Taking challenge personally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Remain impartial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Obedience at any cost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Understanding the ‘why’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Control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Confidence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36"/>
          <p:cNvSpPr txBox="1"/>
          <p:nvPr/>
        </p:nvSpPr>
        <p:spPr>
          <a:xfrm>
            <a:off x="4306950" y="1268625"/>
            <a:ext cx="530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FEFEF"/>
                </a:solidFill>
                <a:highlight>
                  <a:srgbClr val="FFFFFF"/>
                </a:highlight>
              </a:rPr>
              <a:t>Vs</a:t>
            </a:r>
            <a:endParaRPr sz="1800">
              <a:solidFill>
                <a:srgbClr val="EFEFEF"/>
              </a:solidFill>
              <a:highlight>
                <a:srgbClr val="FFFFFF"/>
              </a:highlight>
            </a:endParaRPr>
          </a:p>
        </p:txBody>
      </p:sp>
      <p:pic>
        <p:nvPicPr>
          <p:cNvPr id="261" name="Google Shape;261;p36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840456" y="698706"/>
            <a:ext cx="844481" cy="883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6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459038" y="711189"/>
            <a:ext cx="844481" cy="858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 txBox="1"/>
          <p:nvPr>
            <p:ph idx="4294967295" type="subTitle"/>
          </p:nvPr>
        </p:nvSpPr>
        <p:spPr>
          <a:xfrm>
            <a:off x="220825" y="135150"/>
            <a:ext cx="86190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Your Default Setting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 rot="-719428">
            <a:off x="5097016" y="2294968"/>
            <a:ext cx="2843335" cy="5535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A61C00"/>
                </a:solidFill>
                <a:latin typeface="Impact"/>
                <a:ea typeface="Impact"/>
                <a:cs typeface="Impact"/>
                <a:sym typeface="Impact"/>
              </a:rPr>
              <a:t>Anxiety / Stress</a:t>
            </a:r>
            <a:endParaRPr sz="2400">
              <a:solidFill>
                <a:srgbClr val="A61C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 rot="587388">
            <a:off x="4702269" y="3236247"/>
            <a:ext cx="3632800" cy="5266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C4125"/>
                </a:solidFill>
                <a:latin typeface="Impact"/>
                <a:ea typeface="Impact"/>
                <a:cs typeface="Impact"/>
                <a:sym typeface="Impact"/>
              </a:rPr>
              <a:t>Prior Negative Experiences</a:t>
            </a:r>
            <a:endParaRPr sz="2400">
              <a:solidFill>
                <a:srgbClr val="CC412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 rot="-784764">
            <a:off x="5187885" y="4067038"/>
            <a:ext cx="2461765" cy="504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A61C00"/>
                </a:solidFill>
                <a:latin typeface="Impact"/>
                <a:ea typeface="Impact"/>
                <a:cs typeface="Impact"/>
                <a:sym typeface="Impact"/>
              </a:rPr>
              <a:t>Fear of Judgment</a:t>
            </a:r>
            <a:endParaRPr sz="2400">
              <a:solidFill>
                <a:srgbClr val="A61C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7" name="Google Shape;267;p36"/>
          <p:cNvSpPr txBox="1"/>
          <p:nvPr/>
        </p:nvSpPr>
        <p:spPr>
          <a:xfrm rot="587569">
            <a:off x="4707483" y="1453903"/>
            <a:ext cx="2915582" cy="5266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C4125"/>
                </a:solidFill>
                <a:latin typeface="Impact"/>
                <a:ea typeface="Impact"/>
                <a:cs typeface="Impact"/>
                <a:sym typeface="Impact"/>
              </a:rPr>
              <a:t>Fatigue / Burnout</a:t>
            </a:r>
            <a:endParaRPr sz="2400">
              <a:solidFill>
                <a:srgbClr val="CC412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37"/>
          <p:cNvGraphicFramePr/>
          <p:nvPr/>
        </p:nvGraphicFramePr>
        <p:xfrm>
          <a:off x="714375" y="126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{0FA70CA2-F068-4FC6-B549-51E37104CFBD}</a:tableStyleId>
              </a:tblPr>
              <a:tblGrid>
                <a:gridCol w="3857625"/>
                <a:gridCol w="3857625"/>
              </a:tblGrid>
              <a:tr h="46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Power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Purpose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Winning the argument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Improving outcomes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Assuming threat / malice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Natural curiosity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Taking challenge personally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Remain impartial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Obedience at any cost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Understanding the ‘why’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EFEFE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Control</a:t>
                      </a:r>
                      <a:endParaRPr sz="2300">
                        <a:solidFill>
                          <a:srgbClr val="EFEFEF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Confidence</a:t>
                      </a:r>
                      <a:endParaRPr sz="2300">
                        <a:solidFill>
                          <a:srgbClr val="595959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8575" marB="68575" marR="68575" marL="68575" anchor="ctr">
                    <a:lnL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p37"/>
          <p:cNvSpPr txBox="1"/>
          <p:nvPr/>
        </p:nvSpPr>
        <p:spPr>
          <a:xfrm>
            <a:off x="4306950" y="1268625"/>
            <a:ext cx="530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FEFEF"/>
                </a:solidFill>
                <a:highlight>
                  <a:srgbClr val="FFFFFF"/>
                </a:highlight>
              </a:rPr>
              <a:t>Vs</a:t>
            </a:r>
            <a:endParaRPr sz="1800">
              <a:solidFill>
                <a:srgbClr val="EFEFEF"/>
              </a:solidFill>
              <a:highlight>
                <a:srgbClr val="FFFFFF"/>
              </a:highlight>
            </a:endParaRPr>
          </a:p>
        </p:txBody>
      </p:sp>
      <p:pic>
        <p:nvPicPr>
          <p:cNvPr id="274" name="Google Shape;274;p37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840456" y="698706"/>
            <a:ext cx="844481" cy="883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7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459038" y="711189"/>
            <a:ext cx="844481" cy="85879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7"/>
          <p:cNvSpPr txBox="1"/>
          <p:nvPr>
            <p:ph idx="4294967295" type="subTitle"/>
          </p:nvPr>
        </p:nvSpPr>
        <p:spPr>
          <a:xfrm>
            <a:off x="220825" y="135150"/>
            <a:ext cx="86190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Your Default Setting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 rot="-719428">
            <a:off x="1211191" y="2234481"/>
            <a:ext cx="2843335" cy="5535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Relaxation Routines</a:t>
            </a:r>
            <a:endParaRPr sz="2400">
              <a:solidFill>
                <a:srgbClr val="38761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8" name="Google Shape;278;p37"/>
          <p:cNvSpPr txBox="1"/>
          <p:nvPr/>
        </p:nvSpPr>
        <p:spPr>
          <a:xfrm rot="587388">
            <a:off x="816444" y="3185760"/>
            <a:ext cx="3632800" cy="5266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AA84F"/>
                </a:solidFill>
                <a:latin typeface="Impact"/>
                <a:ea typeface="Impact"/>
                <a:cs typeface="Impact"/>
                <a:sym typeface="Impact"/>
              </a:rPr>
              <a:t>Consider Triggers</a:t>
            </a:r>
            <a:endParaRPr sz="2400">
              <a:solidFill>
                <a:srgbClr val="6AA84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 rot="-784842">
            <a:off x="1136318" y="4083053"/>
            <a:ext cx="2993063" cy="504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Advocacy / Support</a:t>
            </a:r>
            <a:endParaRPr sz="2400">
              <a:solidFill>
                <a:srgbClr val="38761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 rot="311698">
            <a:off x="1202616" y="1482781"/>
            <a:ext cx="2915677" cy="5265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6AA84F"/>
                </a:solidFill>
                <a:latin typeface="Impact"/>
                <a:ea typeface="Impact"/>
                <a:cs typeface="Impact"/>
                <a:sym typeface="Impact"/>
              </a:rPr>
              <a:t>Self Care</a:t>
            </a:r>
            <a:endParaRPr sz="2400">
              <a:solidFill>
                <a:srgbClr val="6AA84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497700" y="1301900"/>
            <a:ext cx="8148600" cy="17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Avoiding the ‘escalation trap’</a:t>
            </a:r>
            <a:endParaRPr sz="30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Your default setting</a:t>
            </a:r>
            <a:endParaRPr sz="30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Avenir"/>
              <a:buAutoNum type="arabicPeriod"/>
            </a:pPr>
            <a:r>
              <a:rPr lang="en-GB" sz="3000">
                <a:solidFill>
                  <a:srgbClr val="434343"/>
                </a:solidFill>
                <a:latin typeface="Avenir"/>
                <a:ea typeface="Avenir"/>
                <a:cs typeface="Avenir"/>
                <a:sym typeface="Avenir"/>
              </a:rPr>
              <a:t>De-escalation strategies</a:t>
            </a:r>
            <a:endParaRPr i="1" sz="30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6" name="Google Shape;286;p38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87" name="Google Shape;287;p38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604475" y="3639475"/>
            <a:ext cx="1158600" cy="11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idx="1" type="subTitle"/>
          </p:nvPr>
        </p:nvSpPr>
        <p:spPr>
          <a:xfrm>
            <a:off x="689100" y="1691175"/>
            <a:ext cx="7765800" cy="27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Brain Stem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Our life support centre</a:t>
            </a: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Regulates pulse, breathing, blood pressure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Develops first, mature by birth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93" name="Google Shape;293;p39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6278048" y="222325"/>
            <a:ext cx="2652527" cy="27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0"/>
          <p:cNvPicPr preferRelativeResize="0"/>
          <p:nvPr/>
        </p:nvPicPr>
        <p:blipFill rotWithShape="1">
          <a:blip r:embed="rId3">
            <a:alphaModFix/>
          </a:blip>
          <a:srcRect b="46587" l="34136" r="34136" t="0"/>
          <a:stretch/>
        </p:blipFill>
        <p:spPr>
          <a:xfrm>
            <a:off x="6226475" y="218600"/>
            <a:ext cx="2729625" cy="27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 txBox="1"/>
          <p:nvPr>
            <p:ph idx="1" type="subTitle"/>
          </p:nvPr>
        </p:nvSpPr>
        <p:spPr>
          <a:xfrm>
            <a:off x="689100" y="1708950"/>
            <a:ext cx="7765800" cy="27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Limbic System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seat of our emotion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Relational connection and attachment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Matures by 10-13 years old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1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6226498" y="187900"/>
            <a:ext cx="2729635" cy="27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1"/>
          <p:cNvSpPr txBox="1"/>
          <p:nvPr>
            <p:ph idx="1" type="subTitle"/>
          </p:nvPr>
        </p:nvSpPr>
        <p:spPr>
          <a:xfrm>
            <a:off x="689100" y="1706850"/>
            <a:ext cx="7765800" cy="27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The Cortex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Home of </a:t>
            </a: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uniquely human capabilities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Logical r</a:t>
            </a: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easoning, planning, </a:t>
            </a:r>
            <a:r>
              <a:rPr b="1"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inhibiting</a:t>
            </a:r>
            <a:endParaRPr b="1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Avenir"/>
              <a:buChar char="●"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Fully matures by 25 years old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idx="1" type="subTitle"/>
          </p:nvPr>
        </p:nvSpPr>
        <p:spPr>
          <a:xfrm>
            <a:off x="238475" y="135150"/>
            <a:ext cx="3687600" cy="11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Neurosequential 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Approach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1" name="Google Shape;311;p42"/>
          <p:cNvSpPr txBox="1"/>
          <p:nvPr>
            <p:ph idx="1" type="subTitle"/>
          </p:nvPr>
        </p:nvSpPr>
        <p:spPr>
          <a:xfrm>
            <a:off x="751875" y="1860125"/>
            <a:ext cx="4041600" cy="28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Avenir"/>
              <a:buAutoNum type="arabicPeriod"/>
            </a:pPr>
            <a:r>
              <a:rPr lang="en-GB" sz="1900">
                <a:solidFill>
                  <a:srgbClr val="0B5394"/>
                </a:solidFill>
                <a:latin typeface="Avenir"/>
                <a:ea typeface="Avenir"/>
                <a:cs typeface="Avenir"/>
                <a:sym typeface="Avenir"/>
              </a:rPr>
              <a:t>The brain is arranged, and develops hierarchically</a:t>
            </a:r>
            <a:endParaRPr sz="1900">
              <a:solidFill>
                <a:srgbClr val="0B5394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900"/>
              <a:buFont typeface="Avenir"/>
              <a:buAutoNum type="arabicPeriod"/>
            </a:pPr>
            <a:r>
              <a:rPr lang="en-GB" sz="1900">
                <a:solidFill>
                  <a:srgbClr val="0B5394"/>
                </a:solidFill>
                <a:latin typeface="Avenir"/>
                <a:ea typeface="Avenir"/>
                <a:cs typeface="Avenir"/>
                <a:sym typeface="Avenir"/>
              </a:rPr>
              <a:t>To access the cortex, processing moves ‘up’ through lower centres</a:t>
            </a:r>
            <a:endParaRPr sz="1900">
              <a:solidFill>
                <a:srgbClr val="0B5394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900"/>
              <a:buFont typeface="Avenir"/>
              <a:buAutoNum type="arabicPeriod"/>
            </a:pPr>
            <a:r>
              <a:rPr lang="en-GB" sz="1900">
                <a:solidFill>
                  <a:srgbClr val="0B5394"/>
                </a:solidFill>
                <a:latin typeface="Avenir"/>
                <a:ea typeface="Avenir"/>
                <a:cs typeface="Avenir"/>
                <a:sym typeface="Avenir"/>
              </a:rPr>
              <a:t>Priorities at these stages can ‘block’ higher order reasoning</a:t>
            </a:r>
            <a:endParaRPr sz="1900">
              <a:solidFill>
                <a:srgbClr val="0B539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2" name="Google Shape;312;p42"/>
          <p:cNvSpPr/>
          <p:nvPr/>
        </p:nvSpPr>
        <p:spPr>
          <a:xfrm>
            <a:off x="5199250" y="912975"/>
            <a:ext cx="1593900" cy="3703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42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7305550" y="3426125"/>
            <a:ext cx="16383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2"/>
          <p:cNvPicPr preferRelativeResize="0"/>
          <p:nvPr/>
        </p:nvPicPr>
        <p:blipFill rotWithShape="1">
          <a:blip r:embed="rId3">
            <a:alphaModFix/>
          </a:blip>
          <a:srcRect b="46587" l="34136" r="34136" t="0"/>
          <a:stretch/>
        </p:blipFill>
        <p:spPr>
          <a:xfrm>
            <a:off x="7281725" y="1717375"/>
            <a:ext cx="16859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281738" y="2875"/>
            <a:ext cx="16859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/>
          <p:nvPr/>
        </p:nvSpPr>
        <p:spPr>
          <a:xfrm>
            <a:off x="5091400" y="332175"/>
            <a:ext cx="1809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38761D"/>
                </a:solidFill>
                <a:latin typeface="Avenir"/>
                <a:ea typeface="Avenir"/>
                <a:cs typeface="Avenir"/>
                <a:sym typeface="Avenir"/>
              </a:rPr>
              <a:t>Reason</a:t>
            </a:r>
            <a:endParaRPr b="1" sz="3200">
              <a:solidFill>
                <a:srgbClr val="38761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7" name="Google Shape;317;p42"/>
          <p:cNvSpPr txBox="1"/>
          <p:nvPr/>
        </p:nvSpPr>
        <p:spPr>
          <a:xfrm>
            <a:off x="5091400" y="2149200"/>
            <a:ext cx="1809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073763"/>
                </a:solidFill>
                <a:latin typeface="Avenir"/>
                <a:ea typeface="Avenir"/>
                <a:cs typeface="Avenir"/>
                <a:sym typeface="Avenir"/>
              </a:rPr>
              <a:t>Relate</a:t>
            </a:r>
            <a:endParaRPr b="1" sz="3200">
              <a:solidFill>
                <a:srgbClr val="07376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5091400" y="3861125"/>
            <a:ext cx="1809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C0000"/>
                </a:solidFill>
                <a:latin typeface="Avenir"/>
                <a:ea typeface="Avenir"/>
                <a:cs typeface="Avenir"/>
                <a:sym typeface="Avenir"/>
              </a:rPr>
              <a:t>Regulate</a:t>
            </a:r>
            <a:endParaRPr b="1" sz="3200">
              <a:solidFill>
                <a:srgbClr val="CC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Classroom Strategies?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24" name="Google Shape;324;p43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7293087" y="3426125"/>
            <a:ext cx="16383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3"/>
          <p:cNvPicPr preferRelativeResize="0"/>
          <p:nvPr/>
        </p:nvPicPr>
        <p:blipFill rotWithShape="1">
          <a:blip r:embed="rId3">
            <a:alphaModFix amt="5000"/>
          </a:blip>
          <a:srcRect b="46587" l="34136" r="34136" t="0"/>
          <a:stretch/>
        </p:blipFill>
        <p:spPr>
          <a:xfrm>
            <a:off x="7259275" y="1717375"/>
            <a:ext cx="16859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/>
          <p:cNvPicPr preferRelativeResize="0"/>
          <p:nvPr/>
        </p:nvPicPr>
        <p:blipFill rotWithShape="1">
          <a:blip r:embed="rId3">
            <a:alphaModFix amt="5000"/>
          </a:blip>
          <a:srcRect b="46587" l="68272" r="0" t="0"/>
          <a:stretch/>
        </p:blipFill>
        <p:spPr>
          <a:xfrm>
            <a:off x="7259288" y="2875"/>
            <a:ext cx="16859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3"/>
          <p:cNvSpPr txBox="1"/>
          <p:nvPr>
            <p:ph idx="1" type="subTitle"/>
          </p:nvPr>
        </p:nvSpPr>
        <p:spPr>
          <a:xfrm>
            <a:off x="1928225" y="1390400"/>
            <a:ext cx="2865300" cy="33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Predictable routines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Countdown timers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Minimise noise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Crouch beside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Paper clips &amp; blu-tack!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Time out &amp; c</a:t>
            </a: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heck-in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Box breathing (4,4,4,4)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8" name="Google Shape;328;p43"/>
          <p:cNvSpPr/>
          <p:nvPr/>
        </p:nvSpPr>
        <p:spPr>
          <a:xfrm flipH="1">
            <a:off x="624825" y="1390400"/>
            <a:ext cx="1162500" cy="3318900"/>
          </a:xfrm>
          <a:prstGeom prst="rtTriangle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3"/>
          <p:cNvSpPr/>
          <p:nvPr/>
        </p:nvSpPr>
        <p:spPr>
          <a:xfrm>
            <a:off x="5199250" y="912975"/>
            <a:ext cx="1593900" cy="3703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3"/>
          <p:cNvSpPr txBox="1"/>
          <p:nvPr/>
        </p:nvSpPr>
        <p:spPr>
          <a:xfrm>
            <a:off x="5091400" y="332175"/>
            <a:ext cx="1809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Reason</a:t>
            </a:r>
            <a:endParaRPr b="1" sz="32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1" name="Google Shape;331;p43"/>
          <p:cNvSpPr txBox="1"/>
          <p:nvPr/>
        </p:nvSpPr>
        <p:spPr>
          <a:xfrm>
            <a:off x="5091400" y="2149200"/>
            <a:ext cx="1809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EFEFEF"/>
                </a:solidFill>
                <a:latin typeface="Avenir"/>
                <a:ea typeface="Avenir"/>
                <a:cs typeface="Avenir"/>
                <a:sym typeface="Avenir"/>
              </a:rPr>
              <a:t>Relate</a:t>
            </a:r>
            <a:endParaRPr b="1" sz="3200">
              <a:solidFill>
                <a:srgbClr val="EFEFE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2" name="Google Shape;332;p43"/>
          <p:cNvSpPr txBox="1"/>
          <p:nvPr/>
        </p:nvSpPr>
        <p:spPr>
          <a:xfrm>
            <a:off x="5091400" y="3861125"/>
            <a:ext cx="1809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CC0000"/>
                </a:solidFill>
                <a:latin typeface="Avenir"/>
                <a:ea typeface="Avenir"/>
                <a:cs typeface="Avenir"/>
                <a:sym typeface="Avenir"/>
              </a:rPr>
              <a:t>Regulate</a:t>
            </a:r>
            <a:endParaRPr b="1" sz="3200">
              <a:solidFill>
                <a:srgbClr val="CC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/>
          <p:nvPr/>
        </p:nvSpPr>
        <p:spPr>
          <a:xfrm>
            <a:off x="4572000" y="1005750"/>
            <a:ext cx="3182400" cy="3703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4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Strategies</a:t>
            </a: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 Around School?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9" name="Google Shape;339;p44"/>
          <p:cNvSpPr txBox="1"/>
          <p:nvPr/>
        </p:nvSpPr>
        <p:spPr>
          <a:xfrm>
            <a:off x="5344050" y="334900"/>
            <a:ext cx="16383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D9EAD3"/>
                </a:solidFill>
                <a:latin typeface="Avenir"/>
                <a:ea typeface="Avenir"/>
                <a:cs typeface="Avenir"/>
                <a:sym typeface="Avenir"/>
              </a:rPr>
              <a:t>Reason</a:t>
            </a:r>
            <a:endParaRPr b="1" sz="2800">
              <a:solidFill>
                <a:srgbClr val="D9EAD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0" name="Google Shape;340;p44"/>
          <p:cNvSpPr txBox="1"/>
          <p:nvPr/>
        </p:nvSpPr>
        <p:spPr>
          <a:xfrm>
            <a:off x="5344050" y="2152225"/>
            <a:ext cx="16383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CFE2F3"/>
                </a:solidFill>
                <a:latin typeface="Avenir"/>
                <a:ea typeface="Avenir"/>
                <a:cs typeface="Avenir"/>
                <a:sym typeface="Avenir"/>
              </a:rPr>
              <a:t>Relate</a:t>
            </a:r>
            <a:endParaRPr b="1" sz="2800">
              <a:solidFill>
                <a:srgbClr val="CFE2F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1" name="Google Shape;341;p44"/>
          <p:cNvSpPr txBox="1"/>
          <p:nvPr/>
        </p:nvSpPr>
        <p:spPr>
          <a:xfrm>
            <a:off x="5344050" y="3863850"/>
            <a:ext cx="16383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CC0000"/>
                </a:solidFill>
                <a:latin typeface="Avenir"/>
                <a:ea typeface="Avenir"/>
                <a:cs typeface="Avenir"/>
                <a:sym typeface="Avenir"/>
              </a:rPr>
              <a:t>Regulate</a:t>
            </a:r>
            <a:endParaRPr b="1" sz="2800">
              <a:solidFill>
                <a:srgbClr val="CC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42" name="Google Shape;342;p44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7283100" y="3426125"/>
            <a:ext cx="16383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4"/>
          <p:cNvPicPr preferRelativeResize="0"/>
          <p:nvPr/>
        </p:nvPicPr>
        <p:blipFill rotWithShape="1">
          <a:blip r:embed="rId3">
            <a:alphaModFix amt="25000"/>
          </a:blip>
          <a:srcRect b="46587" l="34136" r="34136" t="0"/>
          <a:stretch/>
        </p:blipFill>
        <p:spPr>
          <a:xfrm>
            <a:off x="7259275" y="1717375"/>
            <a:ext cx="16859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4"/>
          <p:cNvPicPr preferRelativeResize="0"/>
          <p:nvPr/>
        </p:nvPicPr>
        <p:blipFill rotWithShape="1">
          <a:blip r:embed="rId3">
            <a:alphaModFix amt="25000"/>
          </a:blip>
          <a:srcRect b="46587" l="68272" r="0" t="0"/>
          <a:stretch/>
        </p:blipFill>
        <p:spPr>
          <a:xfrm>
            <a:off x="7259288" y="2875"/>
            <a:ext cx="16859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4"/>
          <p:cNvSpPr txBox="1"/>
          <p:nvPr>
            <p:ph idx="1" type="subTitle"/>
          </p:nvPr>
        </p:nvSpPr>
        <p:spPr>
          <a:xfrm>
            <a:off x="1928225" y="1390400"/>
            <a:ext cx="2865300" cy="33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Relatable approach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Calm voice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Stand beside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Let’s walk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Trusted adult check-in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Exit route / safe base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A61C00"/>
                </a:solidFill>
                <a:latin typeface="Avenir"/>
                <a:ea typeface="Avenir"/>
                <a:cs typeface="Avenir"/>
                <a:sym typeface="Avenir"/>
              </a:rPr>
              <a:t>Box breathing (4,4,4,4)</a:t>
            </a:r>
            <a:endParaRPr sz="1900">
              <a:solidFill>
                <a:srgbClr val="A61C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6" name="Google Shape;346;p44"/>
          <p:cNvSpPr/>
          <p:nvPr/>
        </p:nvSpPr>
        <p:spPr>
          <a:xfrm flipH="1">
            <a:off x="624825" y="1390400"/>
            <a:ext cx="1162500" cy="3318900"/>
          </a:xfrm>
          <a:prstGeom prst="rtTriangle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45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352" name="Google Shape;352;p45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45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4" name="Google Shape;354;p45" title="Professional Development Institu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3387" y="154556"/>
            <a:ext cx="1082573" cy="5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43" y="154556"/>
            <a:ext cx="2169966" cy="5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5"/>
          <p:cNvSpPr txBox="1"/>
          <p:nvPr>
            <p:ph type="title"/>
          </p:nvPr>
        </p:nvSpPr>
        <p:spPr>
          <a:xfrm>
            <a:off x="738250" y="1370588"/>
            <a:ext cx="77913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rgbClr val="00A1CC"/>
                </a:solidFill>
              </a:rPr>
              <a:t>Avoiding the ‘Escalation Trap’</a:t>
            </a:r>
            <a:endParaRPr sz="45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57" name="Google Shape;357;p45"/>
          <p:cNvPicPr preferRelativeResize="0"/>
          <p:nvPr/>
        </p:nvPicPr>
        <p:blipFill rotWithShape="1">
          <a:blip r:embed="rId5">
            <a:alphaModFix/>
          </a:blip>
          <a:srcRect b="16852" l="17279" r="17272" t="17501"/>
          <a:stretch/>
        </p:blipFill>
        <p:spPr>
          <a:xfrm>
            <a:off x="683225" y="3409775"/>
            <a:ext cx="1158600" cy="11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5"/>
          <p:cNvSpPr txBox="1"/>
          <p:nvPr/>
        </p:nvSpPr>
        <p:spPr>
          <a:xfrm>
            <a:off x="4200300" y="3358350"/>
            <a:ext cx="45978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Director of In-School AP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6"/>
              </a:rPr>
              <a:t>daniel.conley@coopacademies.co.uk</a:t>
            </a:r>
            <a:r>
              <a:rPr lang="en-GB" sz="2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  </a:t>
            </a:r>
            <a:endParaRPr sz="20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Extension Activity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4" name="Google Shape;364;p46"/>
          <p:cNvSpPr txBox="1"/>
          <p:nvPr>
            <p:ph idx="1" type="subTitle"/>
          </p:nvPr>
        </p:nvSpPr>
        <p:spPr>
          <a:xfrm>
            <a:off x="740125" y="1336375"/>
            <a:ext cx="3831900" cy="300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What went wrong?</a:t>
            </a:r>
            <a:endParaRPr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venir"/>
              <a:buChar char="●"/>
            </a:pPr>
            <a:r>
              <a:rPr lang="en-GB" sz="19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Assertive body language</a:t>
            </a:r>
            <a:endParaRPr sz="19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venir"/>
              <a:buChar char="●"/>
            </a:pPr>
            <a:r>
              <a:rPr lang="en-GB" sz="19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Blocking exits / cornering</a:t>
            </a:r>
            <a:endParaRPr sz="19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venir"/>
              <a:buChar char="●"/>
            </a:pPr>
            <a:r>
              <a:rPr lang="en-GB" sz="19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Disinterest / dismissive</a:t>
            </a:r>
            <a:endParaRPr sz="19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Avenir"/>
              <a:buChar char="●"/>
            </a:pPr>
            <a:r>
              <a:rPr lang="en-GB" sz="1900">
                <a:solidFill>
                  <a:srgbClr val="666666"/>
                </a:solidFill>
                <a:latin typeface="Avenir"/>
                <a:ea typeface="Avenir"/>
                <a:cs typeface="Avenir"/>
                <a:sym typeface="Avenir"/>
              </a:rPr>
              <a:t>Verbal threats / challenges</a:t>
            </a:r>
            <a:endParaRPr sz="1900">
              <a:solidFill>
                <a:srgbClr val="66666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5" name="Google Shape;365;p46"/>
          <p:cNvSpPr/>
          <p:nvPr/>
        </p:nvSpPr>
        <p:spPr>
          <a:xfrm rot="5400000">
            <a:off x="6120350" y="2797675"/>
            <a:ext cx="1009800" cy="868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EE00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46"/>
          <p:cNvPicPr preferRelativeResize="0"/>
          <p:nvPr/>
        </p:nvPicPr>
        <p:blipFill rotWithShape="1">
          <a:blip r:embed="rId3">
            <a:alphaModFix/>
          </a:blip>
          <a:srcRect b="46587" l="0" r="69103" t="0"/>
          <a:stretch/>
        </p:blipFill>
        <p:spPr>
          <a:xfrm>
            <a:off x="7283100" y="3426125"/>
            <a:ext cx="16383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 preferRelativeResize="0"/>
          <p:nvPr/>
        </p:nvPicPr>
        <p:blipFill rotWithShape="1">
          <a:blip r:embed="rId3">
            <a:alphaModFix/>
          </a:blip>
          <a:srcRect b="46587" l="34136" r="34136" t="0"/>
          <a:stretch/>
        </p:blipFill>
        <p:spPr>
          <a:xfrm>
            <a:off x="7259275" y="1717375"/>
            <a:ext cx="16859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/>
          </a:blip>
          <a:srcRect b="46587" l="68272" r="0" t="0"/>
          <a:stretch/>
        </p:blipFill>
        <p:spPr>
          <a:xfrm>
            <a:off x="7259288" y="2875"/>
            <a:ext cx="16859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6"/>
          <p:cNvSpPr/>
          <p:nvPr/>
        </p:nvSpPr>
        <p:spPr>
          <a:xfrm flipH="1" rot="5400000">
            <a:off x="6129200" y="1626775"/>
            <a:ext cx="1009800" cy="886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6"/>
          <p:cNvSpPr txBox="1"/>
          <p:nvPr/>
        </p:nvSpPr>
        <p:spPr>
          <a:xfrm>
            <a:off x="4957838" y="2084850"/>
            <a:ext cx="1068600" cy="112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Lookout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System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a white eye with a brown pupil and a black center (provided by Tenor)" id="371" name="Google Shape;371;p46"/>
          <p:cNvPicPr preferRelativeResize="0"/>
          <p:nvPr/>
        </p:nvPicPr>
        <p:blipFill rotWithShape="1">
          <a:blip r:embed="rId4">
            <a:alphaModFix/>
          </a:blip>
          <a:srcRect b="0" l="0" r="0" t="14661"/>
          <a:stretch/>
        </p:blipFill>
        <p:spPr>
          <a:xfrm>
            <a:off x="5049038" y="2325302"/>
            <a:ext cx="886199" cy="6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6"/>
          <p:cNvSpPr txBox="1"/>
          <p:nvPr/>
        </p:nvSpPr>
        <p:spPr>
          <a:xfrm>
            <a:off x="388800" y="4417425"/>
            <a:ext cx="31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5"/>
              </a:rPr>
              <a:t>An Incident in School: BBC3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