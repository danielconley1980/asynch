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39878413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3987841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bb881815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bb881815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aae76436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aae76436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aae76436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aae76436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ada3ad5c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ada3ad5c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3987841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3987841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a86058cd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a86058cd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86058cd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a86058cd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a86058cd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a86058cd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a86058c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a86058c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a924ced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a924ced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3987841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3987841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3987841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3987841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3987841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3987841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39878413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3987841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39878413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39878413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aae7643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aae7643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aae76436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aae76436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aae76436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aae76436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aae7643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aae7643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aae76436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aae76436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ada3ad5c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ada3ad5c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aae76436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aae76436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ada3ad5c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ada3ad5c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aae76436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aae76436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9878413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39878413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39878413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39878413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39878413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39878413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ada3ad5c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ada3ad5c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29ce77e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29ce77e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a924ced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a924ced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smartlearningschool.com" TargetMode="External"/><Relationship Id="rId4" Type="http://schemas.openxmlformats.org/officeDocument/2006/relationships/hyperlink" Target="mailto:contact@smartlearningschool.com" TargetMode="External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8AiaBC_JMK_7KjWFxFcfte_UnQXcuWqC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hyperlink" Target="https://educationendowmentfoundation.org.uk/education-evidence/using-the-toolkit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hyperlink" Target="https://www.smartlearningschool.com/" TargetMode="External"/><Relationship Id="rId5" Type="http://schemas.openxmlformats.org/officeDocument/2006/relationships/hyperlink" Target="https://www.smartlearningschool.com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hyperlink" Target="https://www.smartlearningschool.com/" TargetMode="External"/><Relationship Id="rId5" Type="http://schemas.openxmlformats.org/officeDocument/2006/relationships/hyperlink" Target="https://www.smartlearningschool.com/the-cours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smartlearningschool.com" TargetMode="External"/><Relationship Id="rId4" Type="http://schemas.openxmlformats.org/officeDocument/2006/relationships/hyperlink" Target="mailto:contact@smartlearningschool.com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www.smartlearningschool.com/" TargetMode="External"/><Relationship Id="rId7" Type="http://schemas.openxmlformats.org/officeDocument/2006/relationships/hyperlink" Target="https://www.smartlearningschool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9100" y="515900"/>
            <a:ext cx="7765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Smart Learning School</a:t>
            </a:r>
            <a:endParaRPr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200300" y="3358350"/>
            <a:ext cx="4597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Founder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smartlearningschool.com</a:t>
            </a: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 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contact@smartlearningschool.com</a:t>
            </a:r>
            <a:r>
              <a:rPr lang="en-GB" sz="2000">
                <a:latin typeface="Avenir"/>
                <a:ea typeface="Avenir"/>
                <a:cs typeface="Avenir"/>
                <a:sym typeface="Avenir"/>
              </a:rPr>
              <a:t> </a:t>
            </a:r>
            <a:endParaRPr sz="20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75" y="3133250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97700" y="1301900"/>
            <a:ext cx="8148600" cy="18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Metacognition: What and why?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Origin Story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Platform &amp; Programme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Evidence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Outline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Metacognition: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What &amp; Why?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What 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is Metacognition?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06925" y="1552975"/>
            <a:ext cx="6364800" cy="20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"Thinking about thinking"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Characteristic of the most effective learners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Based on self-awareness / reflection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Char char="●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Relies on diverse, well practiced strategies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8310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What 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does it mean for 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Students?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706925" y="1552975"/>
            <a:ext cx="6364800" cy="20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Establish the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foundations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of learning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Learn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which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strategies to use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when</a:t>
            </a:r>
            <a:endParaRPr i="1"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right practise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to improve recall / performance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8310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Origin Story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297150"/>
            <a:ext cx="8520600" cy="45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did LOADS of revision and still got a crap grade!”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“Nah, I don’t revise anymore. I’ve realised it doesn’t make any difference.”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“My brain just won’t focus long enough to take anything in.”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“My anxiety goes through the ROOF as soon as I open a textbook at home.”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“Sir - I hate revision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 much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that I actually clean my room instead!”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“I’m wired for scrolling, not studying.”</a:t>
            </a:r>
            <a:endParaRPr sz="25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8" name="Google Shape;98;p19" title="Vision On - The Gallery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9050" y="2293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258150"/>
            <a:ext cx="8520600" cy="46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can’t have done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that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bad. I stared at my notes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all weekend!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literally can’t do silence anymore. I need noise just to think.”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“Every time I sit down to do work, I get a notification and BOOM — I’m gone.”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thought I was revising — turns out I was just staring aggressively at paper.”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sit down to do homework and somehow I’m on YouTube ten minutes later”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“Sir, me and Charlotte LOVE revising together… Well, we like the bants, anyway.”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282450"/>
            <a:ext cx="8520600" cy="4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“Made these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beautiful 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flashcards. Failed the test. But honestly, sooo beautiful. 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revise with music in the background. And 14 tabs open — is that bad?”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“I often end up using independent study time to just contemplate life instead”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“My technique? Cry a bit, highlight everything, Google ‘revising in your sleep’.”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“What, just sit there and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read? From a book? 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Are you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mad?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“My mate helps me learn, innit. He’s called Chap GPT”</a:t>
            </a:r>
            <a:endParaRPr sz="25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270750"/>
            <a:ext cx="8520600" cy="46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“Why is it that I feel like I’ve already failed before I’ve even started?”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“Everyone else seems to get it — maybe I’m just thick.”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“Even when I try really hard, it feels like my brain is full of fog.”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“Not being funny sir, but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memorising stuff?!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We’ve got the internet now.”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“Check [out] my GCSE plan. Cans of monster, night before - smash it!”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“How come no one ever teaches us how to actually </a:t>
            </a:r>
            <a:r>
              <a:rPr i="1"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learn</a:t>
            </a:r>
            <a:r>
              <a:rPr lang="en-GB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this s**t?!” 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599" y="195475"/>
            <a:ext cx="3076706" cy="47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40396">
            <a:off x="5025032" y="294544"/>
            <a:ext cx="2872385" cy="455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550" y="188725"/>
            <a:ext cx="3076700" cy="4752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41784">
            <a:off x="1043249" y="293330"/>
            <a:ext cx="2945126" cy="454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Problem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706925" y="1038100"/>
            <a:ext cx="7297500" cy="3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Often students are told: ‘revise for the test’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Very rarely does anyone tell them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endParaRPr i="1"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 many of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us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were told how?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Was this part of your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teacher training?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Yet, it’s 50% of teaching and </a:t>
            </a:r>
            <a:r>
              <a:rPr lang="en-GB" sz="2400" u="sng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learning</a:t>
            </a:r>
            <a:endParaRPr sz="2400" u="sng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Problem (continued)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706925" y="1038100"/>
            <a:ext cx="7297500" cy="3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Tutors and teachers are time poor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Metacognition is complex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Best strategies depend on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you’re learning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There’s </a:t>
            </a: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lots </a:t>
            </a: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of quackery &amp; BS out there!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It can’t be last minute in Y11!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Solution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706925" y="1038100"/>
            <a:ext cx="6364800" cy="39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Start in Y7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Recursive - revisiting themes each year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Fortnightly sessions - 15 mins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i="1"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No teacher prep / workload</a:t>
            </a:r>
            <a:endParaRPr i="1"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Snappy, relevant, useful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Videos and discussion (not book work)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Pledges for change!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The Platform &amp; Programme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625" y="3168475"/>
            <a:ext cx="1638400" cy="16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www.smartlearningschool.com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4" name="Google Shape;154;p28"/>
          <p:cNvSpPr txBox="1"/>
          <p:nvPr>
            <p:ph idx="1" type="subTitle"/>
          </p:nvPr>
        </p:nvSpPr>
        <p:spPr>
          <a:xfrm>
            <a:off x="688425" y="3275300"/>
            <a:ext cx="1599600" cy="4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Am I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ready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71806" t="0"/>
          <a:stretch/>
        </p:blipFill>
        <p:spPr>
          <a:xfrm>
            <a:off x="148225" y="12986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 rotWithShape="1">
          <a:blip r:embed="rId3">
            <a:alphaModFix/>
          </a:blip>
          <a:srcRect b="0" l="35903" r="35903" t="0"/>
          <a:stretch/>
        </p:blipFill>
        <p:spPr>
          <a:xfrm>
            <a:off x="3072000" y="12986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 rotWithShape="1">
          <a:blip r:embed="rId3">
            <a:alphaModFix/>
          </a:blip>
          <a:srcRect b="0" l="69282" r="2523" t="0"/>
          <a:stretch/>
        </p:blipFill>
        <p:spPr>
          <a:xfrm>
            <a:off x="5995775" y="1298650"/>
            <a:ext cx="2492151" cy="19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8"/>
          <p:cNvSpPr txBox="1"/>
          <p:nvPr/>
        </p:nvSpPr>
        <p:spPr>
          <a:xfrm>
            <a:off x="3273625" y="3275300"/>
            <a:ext cx="20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Which 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strategy?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6197400" y="3275300"/>
            <a:ext cx="20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to practise?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Your Working Memory Digit Span!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5" name="Google Shape;165;p29"/>
          <p:cNvSpPr txBox="1"/>
          <p:nvPr>
            <p:ph idx="1" type="subTitle"/>
          </p:nvPr>
        </p:nvSpPr>
        <p:spPr>
          <a:xfrm>
            <a:off x="1389600" y="1519575"/>
            <a:ext cx="6364800" cy="32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21978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630986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5480329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15068715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925481367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3649150" y="4115625"/>
            <a:ext cx="2289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3649150" y="3504725"/>
            <a:ext cx="2289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9"/>
          <p:cNvSpPr/>
          <p:nvPr/>
        </p:nvSpPr>
        <p:spPr>
          <a:xfrm>
            <a:off x="3649150" y="2893825"/>
            <a:ext cx="2289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3649150" y="2184338"/>
            <a:ext cx="2289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649150" y="1573438"/>
            <a:ext cx="22899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350" y="244425"/>
            <a:ext cx="996625" cy="9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subTitle"/>
          </p:nvPr>
        </p:nvSpPr>
        <p:spPr>
          <a:xfrm>
            <a:off x="1389600" y="1519575"/>
            <a:ext cx="6364800" cy="32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9805 1174 7101 1022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2510075" y="2893425"/>
            <a:ext cx="4573500" cy="5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350" y="244425"/>
            <a:ext cx="996625" cy="9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" type="subTitle"/>
          </p:nvPr>
        </p:nvSpPr>
        <p:spPr>
          <a:xfrm>
            <a:off x="1389600" y="904725"/>
            <a:ext cx="6364800" cy="7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9805 1174 7101 1022</a:t>
            </a:r>
            <a:endParaRPr sz="3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0451"/>
            <a:ext cx="9144001" cy="27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1" type="subTitle"/>
          </p:nvPr>
        </p:nvSpPr>
        <p:spPr>
          <a:xfrm>
            <a:off x="1389600" y="904750"/>
            <a:ext cx="6364800" cy="7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98</a:t>
            </a:r>
            <a:r>
              <a:rPr lang="en-GB" sz="3600">
                <a:solidFill>
                  <a:srgbClr val="6AA84F"/>
                </a:solidFill>
                <a:latin typeface="Avenir"/>
                <a:ea typeface="Avenir"/>
                <a:cs typeface="Avenir"/>
                <a:sym typeface="Avenir"/>
              </a:rPr>
              <a:t>05 11</a:t>
            </a:r>
            <a:r>
              <a:rPr lang="en-GB" sz="3600">
                <a:solidFill>
                  <a:srgbClr val="6D9EEB"/>
                </a:solidFill>
                <a:latin typeface="Avenir"/>
                <a:ea typeface="Avenir"/>
                <a:cs typeface="Avenir"/>
                <a:sym typeface="Avenir"/>
              </a:rPr>
              <a:t>74 7</a:t>
            </a:r>
            <a:r>
              <a:rPr lang="en-GB" sz="3600">
                <a:solidFill>
                  <a:srgbClr val="F1C232"/>
                </a:solidFill>
                <a:latin typeface="Avenir"/>
                <a:ea typeface="Avenir"/>
                <a:cs typeface="Avenir"/>
                <a:sym typeface="Avenir"/>
              </a:rPr>
              <a:t>101</a:t>
            </a: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GB" sz="36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r>
              <a:rPr lang="en-GB" sz="3600">
                <a:solidFill>
                  <a:srgbClr val="6AA84F"/>
                </a:solidFill>
                <a:latin typeface="Avenir"/>
                <a:ea typeface="Avenir"/>
                <a:cs typeface="Avenir"/>
                <a:sym typeface="Avenir"/>
              </a:rPr>
              <a:t>22</a:t>
            </a:r>
            <a:endParaRPr sz="3600">
              <a:solidFill>
                <a:srgbClr val="6AA84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0451"/>
            <a:ext cx="9144001" cy="27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idx="1" type="subTitle"/>
          </p:nvPr>
        </p:nvSpPr>
        <p:spPr>
          <a:xfrm>
            <a:off x="1389600" y="933600"/>
            <a:ext cx="6364800" cy="32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9805 1174 7101 1022</a:t>
            </a:r>
            <a:endParaRPr sz="36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AA8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ctrTitle"/>
          </p:nvPr>
        </p:nvSpPr>
        <p:spPr>
          <a:xfrm>
            <a:off x="728375" y="1349675"/>
            <a:ext cx="7765800" cy="24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The Evidence</a:t>
            </a:r>
            <a:endParaRPr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850" y="256538"/>
            <a:ext cx="4130922" cy="433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350" y="256538"/>
            <a:ext cx="4145576" cy="41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50" y="4819125"/>
            <a:ext cx="2687702" cy="17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605250" y="1202075"/>
            <a:ext cx="4646400" cy="31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we read or copy, we </a:t>
            </a:r>
            <a:r>
              <a:rPr i="1" lang="en-GB"/>
              <a:t>recognise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mistake </a:t>
            </a:r>
            <a:r>
              <a:rPr i="1" lang="en-GB"/>
              <a:t>recognising</a:t>
            </a:r>
            <a:r>
              <a:rPr lang="en-GB"/>
              <a:t> for </a:t>
            </a:r>
            <a:r>
              <a:rPr i="1" lang="en-GB"/>
              <a:t>knowing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→ Over-confidence, under-performance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Why do we all do it?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Knowing lots quickly </a:t>
            </a:r>
            <a:r>
              <a:rPr i="1" lang="en-GB"/>
              <a:t>feels good</a:t>
            </a:r>
            <a:endParaRPr i="1"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502" y="0"/>
            <a:ext cx="32434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6"/>
          <p:cNvSpPr txBox="1"/>
          <p:nvPr>
            <p:ph idx="4294967295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Illusion of Mastery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What does the Evidence say?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787" y="1201725"/>
            <a:ext cx="5219175" cy="27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>
            <p:ph idx="1" type="subTitle"/>
          </p:nvPr>
        </p:nvSpPr>
        <p:spPr>
          <a:xfrm>
            <a:off x="2887325" y="3579325"/>
            <a:ext cx="2468100" cy="9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Toolkit</a:t>
            </a:r>
            <a:endParaRPr sz="24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75" y="560012"/>
            <a:ext cx="8813323" cy="40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>
            <a:hlinkClick r:id="rId4"/>
          </p:cNvPr>
          <p:cNvSpPr txBox="1"/>
          <p:nvPr/>
        </p:nvSpPr>
        <p:spPr>
          <a:xfrm>
            <a:off x="2844175" y="1325925"/>
            <a:ext cx="1197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5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625" y="158150"/>
            <a:ext cx="7036750" cy="482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>
            <a:hlinkClick r:id="rId4"/>
          </p:cNvPr>
          <p:cNvSpPr txBox="1"/>
          <p:nvPr/>
        </p:nvSpPr>
        <p:spPr>
          <a:xfrm>
            <a:off x="1495275" y="1966050"/>
            <a:ext cx="12315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5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71425"/>
            <a:ext cx="8991602" cy="400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Takeaways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4" name="Google Shape;244;p41"/>
          <p:cNvSpPr txBox="1"/>
          <p:nvPr>
            <p:ph idx="1" type="subTitle"/>
          </p:nvPr>
        </p:nvSpPr>
        <p:spPr>
          <a:xfrm>
            <a:off x="706925" y="1038100"/>
            <a:ext cx="6364800" cy="16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Students need help!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Am I </a:t>
            </a: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ready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to learn?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Which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strategy (and why)?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venir"/>
              <a:buAutoNum type="arabicPeriod"/>
            </a:pPr>
            <a:r>
              <a:rPr i="1"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r>
              <a:rPr lang="en-GB" sz="2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should I practise or revise?</a:t>
            </a:r>
            <a:endParaRPr sz="2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45" name="Google Shape;245;p41"/>
          <p:cNvPicPr preferRelativeResize="0"/>
          <p:nvPr/>
        </p:nvPicPr>
        <p:blipFill rotWithShape="1">
          <a:blip r:embed="rId3">
            <a:alphaModFix/>
          </a:blip>
          <a:srcRect b="0" l="0" r="71806" t="0"/>
          <a:stretch/>
        </p:blipFill>
        <p:spPr>
          <a:xfrm>
            <a:off x="340300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1"/>
          <p:cNvPicPr preferRelativeResize="0"/>
          <p:nvPr/>
        </p:nvPicPr>
        <p:blipFill rotWithShape="1">
          <a:blip r:embed="rId3">
            <a:alphaModFix/>
          </a:blip>
          <a:srcRect b="0" l="35903" r="35903" t="0"/>
          <a:stretch/>
        </p:blipFill>
        <p:spPr>
          <a:xfrm>
            <a:off x="3264075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1"/>
          <p:cNvPicPr preferRelativeResize="0"/>
          <p:nvPr/>
        </p:nvPicPr>
        <p:blipFill rotWithShape="1">
          <a:blip r:embed="rId3">
            <a:alphaModFix/>
          </a:blip>
          <a:srcRect b="0" l="69282" r="2523" t="0"/>
          <a:stretch/>
        </p:blipFill>
        <p:spPr>
          <a:xfrm>
            <a:off x="6187850" y="2932850"/>
            <a:ext cx="2492151" cy="19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The ‘Hive Mind’ - Contribute!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53" name="Google Shape;253;p42"/>
          <p:cNvPicPr preferRelativeResize="0"/>
          <p:nvPr/>
        </p:nvPicPr>
        <p:blipFill rotWithShape="1">
          <a:blip r:embed="rId3">
            <a:alphaModFix/>
          </a:blip>
          <a:srcRect b="0" l="0" r="71806" t="0"/>
          <a:stretch/>
        </p:blipFill>
        <p:spPr>
          <a:xfrm>
            <a:off x="375525" y="941025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2"/>
          <p:cNvPicPr preferRelativeResize="0"/>
          <p:nvPr/>
        </p:nvPicPr>
        <p:blipFill rotWithShape="1">
          <a:blip r:embed="rId3">
            <a:alphaModFix/>
          </a:blip>
          <a:srcRect b="0" l="35903" r="35903" t="0"/>
          <a:stretch/>
        </p:blipFill>
        <p:spPr>
          <a:xfrm>
            <a:off x="3246450" y="941025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2"/>
          <p:cNvPicPr preferRelativeResize="0"/>
          <p:nvPr/>
        </p:nvPicPr>
        <p:blipFill rotWithShape="1">
          <a:blip r:embed="rId3">
            <a:alphaModFix/>
          </a:blip>
          <a:srcRect b="0" l="69282" r="2523" t="0"/>
          <a:stretch/>
        </p:blipFill>
        <p:spPr>
          <a:xfrm>
            <a:off x="6117375" y="941025"/>
            <a:ext cx="2492151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725" y="2415875"/>
            <a:ext cx="1730599" cy="19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600" y="2415875"/>
            <a:ext cx="1895675" cy="1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8150" y="2415875"/>
            <a:ext cx="1730600" cy="2052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ctrTitle"/>
          </p:nvPr>
        </p:nvSpPr>
        <p:spPr>
          <a:xfrm>
            <a:off x="689100" y="515900"/>
            <a:ext cx="77658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Smart Learning School</a:t>
            </a:r>
            <a:endParaRPr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4" name="Google Shape;264;p43"/>
          <p:cNvSpPr txBox="1"/>
          <p:nvPr>
            <p:ph idx="1" type="subTitle"/>
          </p:nvPr>
        </p:nvSpPr>
        <p:spPr>
          <a:xfrm>
            <a:off x="3760150" y="3358350"/>
            <a:ext cx="50379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Founder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smartlearningschool.com</a:t>
            </a:r>
            <a:r>
              <a:rPr lang="en-GB" sz="2400">
                <a:latin typeface="Avenir"/>
                <a:ea typeface="Avenir"/>
                <a:cs typeface="Avenir"/>
                <a:sym typeface="Avenir"/>
              </a:rPr>
              <a:t> </a:t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accent5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contact@smartlearningschool.com</a:t>
            </a:r>
            <a:r>
              <a:rPr lang="en-GB" sz="2000">
                <a:latin typeface="Avenir"/>
                <a:ea typeface="Avenir"/>
                <a:cs typeface="Avenir"/>
                <a:sym typeface="Avenir"/>
              </a:rPr>
              <a:t> </a:t>
            </a:r>
            <a:endParaRPr sz="20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65" name="Google Shape;26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75" y="3133250"/>
            <a:ext cx="1638400" cy="16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>
            <a:hlinkClick r:id="rId6"/>
          </p:cNvPr>
          <p:cNvSpPr txBox="1"/>
          <p:nvPr/>
        </p:nvSpPr>
        <p:spPr>
          <a:xfrm>
            <a:off x="689100" y="1542500"/>
            <a:ext cx="1197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7"/>
              </a:rPr>
              <a:t>Link here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